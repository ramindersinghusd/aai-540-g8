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rts/chart1.xml" ContentType="application/vnd.openxmlformats-officedocument.drawingml.chart+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rts/chart2.xml" ContentType="application/vnd.openxmlformats-officedocument.drawingml.chart+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rts/chart3.xml" ContentType="application/vnd.openxmlformats-officedocument.drawingml.chart+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65" r:id="rId2"/>
    <p:sldId id="266" r:id="rId3"/>
    <p:sldId id="267" r:id="rId4"/>
    <p:sldId id="256" r:id="rId5"/>
    <p:sldId id="257" r:id="rId6"/>
    <p:sldId id="258" r:id="rId7"/>
    <p:sldId id="259" r:id="rId8"/>
    <p:sldId id="260" r:id="rId9"/>
    <p:sldId id="261" r:id="rId10"/>
    <p:sldId id="262" r:id="rId11"/>
    <p:sldId id="263" r:id="rId12"/>
    <p:sldId id="264" r:id="rId13"/>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6F2DFA9C-568A-DF83-BC7B-1BBD90BA70CC}">
          <p14:sldIdLst>
            <p14:sldId id="265"/>
            <p14:sldId id="266"/>
          </p14:sldIdLst>
        </p14:section>
        <p14:section name="Implementation phases" id="{9C5E3EE8-D2D7-FE5C-F404-08225991A17B}">
          <p14:sldIdLst>
            <p14:sldId id="267"/>
            <p14:sldId id="256"/>
            <p14:sldId id="257"/>
            <p14:sldId id="258"/>
            <p14:sldId id="259"/>
            <p14:sldId id="260"/>
            <p14:sldId id="261"/>
            <p14:sldId id="262"/>
            <p14:sldId id="263"/>
            <p14:sldId id="26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63" d="100"/>
          <a:sy n="63" d="100"/>
        </p:scale>
        <p:origin x="780" y="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400" b="0" i="0" u="none" strike="noStrike">
                <a:solidFill>
                  <a:srgbClr val="102A43"/>
                </a:solidFill>
                <a:latin typeface="+mn-lt"/>
              </a:defRPr>
            </a:pPr>
            <a:r>
              <a:rPr lang="en-US" sz="1400" b="0" i="0" u="none" strike="noStrike">
                <a:solidFill>
                  <a:srgbClr val="102A43"/>
                </a:solidFill>
                <a:latin typeface="+mn-lt"/>
              </a:rPr>
              <a:t>Relevance labels (accepted rows)</a:t>
            </a:r>
          </a:p>
        </c:rich>
      </c:tx>
      <c:overlay val="0"/>
    </c:title>
    <c:autoTitleDeleted val="0"/>
    <c:plotArea>
      <c:layout/>
      <c:barChart>
        <c:barDir val="col"/>
        <c:grouping val="clustered"/>
        <c:varyColors val="0"/>
        <c:ser>
          <c:idx val="0"/>
          <c:order val="0"/>
          <c:tx>
            <c:strRef>
              <c:f>Sheet1!$B$1</c:f>
              <c:strCache>
                <c:ptCount val="1"/>
                <c:pt idx="0">
                  <c:v>Records</c:v>
                </c:pt>
              </c:strCache>
            </c:strRef>
          </c:tx>
          <c:spPr>
            <a:solidFill>
              <a:srgbClr val="627D98"/>
            </a:solidFill>
            <a:effectLst/>
          </c:spPr>
          <c:invertIfNegative val="0"/>
          <c:dPt>
            <c:idx val="0"/>
            <c:invertIfNegative val="0"/>
            <c:bubble3D val="0"/>
            <c:extLst>
              <c:ext xmlns:c16="http://schemas.microsoft.com/office/drawing/2014/chart" uri="{C3380CC4-5D6E-409C-BE32-E72D297353CC}">
                <c16:uniqueId val="{00000001-791A-4CE4-A5F1-3408C0A71DF5}"/>
              </c:ext>
            </c:extLst>
          </c:dPt>
          <c:dPt>
            <c:idx val="1"/>
            <c:invertIfNegative val="0"/>
            <c:bubble3D val="0"/>
            <c:spPr>
              <a:solidFill>
                <a:srgbClr val="E8A33D"/>
              </a:solidFill>
              <a:effectLst/>
            </c:spPr>
            <c:extLst>
              <c:ext xmlns:c16="http://schemas.microsoft.com/office/drawing/2014/chart" uri="{C3380CC4-5D6E-409C-BE32-E72D297353CC}">
                <c16:uniqueId val="{00000003-791A-4CE4-A5F1-3408C0A71DF5}"/>
              </c:ext>
            </c:extLst>
          </c:dPt>
          <c:dPt>
            <c:idx val="2"/>
            <c:invertIfNegative val="0"/>
            <c:bubble3D val="0"/>
            <c:spPr>
              <a:solidFill>
                <a:srgbClr val="0F7C7A"/>
              </a:solidFill>
              <a:effectLst/>
            </c:spPr>
            <c:extLst>
              <c:ext xmlns:c16="http://schemas.microsoft.com/office/drawing/2014/chart" uri="{C3380CC4-5D6E-409C-BE32-E72D297353CC}">
                <c16:uniqueId val="{00000005-791A-4CE4-A5F1-3408C0A71DF5}"/>
              </c:ext>
            </c:extLst>
          </c:dPt>
          <c:dLbls>
            <c:numFmt formatCode="#,##0" sourceLinked="0"/>
            <c:spPr>
              <a:noFill/>
              <a:ln>
                <a:noFill/>
              </a:ln>
              <a:effectLst/>
            </c:spPr>
            <c:txPr>
              <a:bodyPr/>
              <a:lstStyle/>
              <a:p>
                <a:pPr>
                  <a:defRPr sz="1200" b="0" i="0" u="none" strike="noStrike">
                    <a:solidFill>
                      <a:srgbClr val="102A43"/>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0 Irrelevant</c:v>
                </c:pt>
                <c:pt idx="1">
                  <c:v>1 Helpful,
incomplete</c:v>
                </c:pt>
                <c:pt idx="2">
                  <c:v>2 Fully
answering</c:v>
                </c:pt>
              </c:strCache>
            </c:strRef>
          </c:cat>
          <c:val>
            <c:numRef>
              <c:f>Sheet1!$B$2:$B$4</c:f>
              <c:numCache>
                <c:formatCode>General</c:formatCode>
                <c:ptCount val="3"/>
                <c:pt idx="0">
                  <c:v>16418</c:v>
                </c:pt>
                <c:pt idx="1">
                  <c:v>3633</c:v>
                </c:pt>
                <c:pt idx="2">
                  <c:v>4915</c:v>
                </c:pt>
              </c:numCache>
            </c:numRef>
          </c:val>
          <c:extLst>
            <c:ext xmlns:c16="http://schemas.microsoft.com/office/drawing/2014/chart" uri="{C3380CC4-5D6E-409C-BE32-E72D297353CC}">
              <c16:uniqueId val="{00000006-791A-4CE4-A5F1-3408C0A71DF5}"/>
            </c:ext>
          </c:extLst>
        </c:ser>
        <c:dLbls>
          <c:showLegendKey val="0"/>
          <c:showVal val="1"/>
          <c:showCatName val="0"/>
          <c:showSerName val="0"/>
          <c:showPercent val="0"/>
          <c:showBubbleSize val="0"/>
        </c:dLbls>
        <c:gapWidth val="6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102A43"/>
                </a:solidFill>
                <a:latin typeface="+mn-lt"/>
              </a:defRPr>
            </a:pPr>
            <a:endParaRPr lang="en-US"/>
          </a:p>
        </c:txPr>
        <c:crossAx val="2094734552"/>
        <c:crosses val="autoZero"/>
        <c:auto val="1"/>
        <c:lblAlgn val="ctr"/>
        <c:lblOffset val="100"/>
        <c:noMultiLvlLbl val="1"/>
      </c:catAx>
      <c:valAx>
        <c:axId val="2094734552"/>
        <c:scaling>
          <c:orientation val="minMax"/>
        </c:scaling>
        <c:delete val="1"/>
        <c:axPos val="l"/>
        <c:majorGridlines>
          <c:spPr>
            <a:ln w="6350" cap="flat">
              <a:solidFill>
                <a:srgbClr val="E3E8EE"/>
              </a:solidFill>
              <a:prstDash val="solid"/>
              <a:round/>
            </a:ln>
          </c:spPr>
        </c:majorGridlines>
        <c:numFmt formatCode="General" sourceLinked="0"/>
        <c:majorTickMark val="out"/>
        <c:minorTickMark val="none"/>
        <c:tickLblPos val="nextTo"/>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400" b="0" i="0" u="none" strike="noStrike">
                <a:solidFill>
                  <a:srgbClr val="102A43"/>
                </a:solidFill>
                <a:latin typeface="+mn-lt"/>
              </a:defRPr>
            </a:pPr>
            <a:r>
              <a:rPr lang="en-US" sz="1400" b="0" i="0" u="none" strike="noStrike">
                <a:solidFill>
                  <a:srgbClr val="102A43"/>
                </a:solidFill>
                <a:latin typeface="+mn-lt"/>
              </a:rPr>
              <a:t>Rows per split (grouped by product ASIN, seed 540)</a:t>
            </a:r>
          </a:p>
        </c:rich>
      </c:tx>
      <c:overlay val="0"/>
    </c:title>
    <c:autoTitleDeleted val="0"/>
    <c:plotArea>
      <c:layout/>
      <c:barChart>
        <c:barDir val="bar"/>
        <c:grouping val="clustered"/>
        <c:varyColors val="0"/>
        <c:ser>
          <c:idx val="0"/>
          <c:order val="0"/>
          <c:tx>
            <c:strRef>
              <c:f>Sheet1!$B$1</c:f>
              <c:strCache>
                <c:ptCount val="1"/>
                <c:pt idx="0">
                  <c:v>Rows</c:v>
                </c:pt>
              </c:strCache>
            </c:strRef>
          </c:tx>
          <c:spPr>
            <a:solidFill>
              <a:srgbClr val="0F7C7A"/>
            </a:solidFill>
            <a:effectLst/>
          </c:spPr>
          <c:invertIfNegative val="0"/>
          <c:dPt>
            <c:idx val="0"/>
            <c:invertIfNegative val="0"/>
            <c:bubble3D val="0"/>
            <c:extLst>
              <c:ext xmlns:c16="http://schemas.microsoft.com/office/drawing/2014/chart" uri="{C3380CC4-5D6E-409C-BE32-E72D297353CC}">
                <c16:uniqueId val="{00000001-424B-448D-89CB-3695A3B723CF}"/>
              </c:ext>
            </c:extLst>
          </c:dPt>
          <c:dPt>
            <c:idx val="1"/>
            <c:invertIfNegative val="0"/>
            <c:bubble3D val="0"/>
            <c:spPr>
              <a:solidFill>
                <a:srgbClr val="627D98"/>
              </a:solidFill>
              <a:effectLst/>
            </c:spPr>
            <c:extLst>
              <c:ext xmlns:c16="http://schemas.microsoft.com/office/drawing/2014/chart" uri="{C3380CC4-5D6E-409C-BE32-E72D297353CC}">
                <c16:uniqueId val="{00000003-424B-448D-89CB-3695A3B723CF}"/>
              </c:ext>
            </c:extLst>
          </c:dPt>
          <c:dPt>
            <c:idx val="2"/>
            <c:invertIfNegative val="0"/>
            <c:bubble3D val="0"/>
            <c:spPr>
              <a:solidFill>
                <a:srgbClr val="E8A33D"/>
              </a:solidFill>
              <a:effectLst/>
            </c:spPr>
            <c:extLst>
              <c:ext xmlns:c16="http://schemas.microsoft.com/office/drawing/2014/chart" uri="{C3380CC4-5D6E-409C-BE32-E72D297353CC}">
                <c16:uniqueId val="{00000005-424B-448D-89CB-3695A3B723CF}"/>
              </c:ext>
            </c:extLst>
          </c:dPt>
          <c:dPt>
            <c:idx val="3"/>
            <c:invertIfNegative val="0"/>
            <c:bubble3D val="0"/>
            <c:spPr>
              <a:solidFill>
                <a:srgbClr val="102A43"/>
              </a:solidFill>
              <a:effectLst/>
            </c:spPr>
            <c:extLst>
              <c:ext xmlns:c16="http://schemas.microsoft.com/office/drawing/2014/chart" uri="{C3380CC4-5D6E-409C-BE32-E72D297353CC}">
                <c16:uniqueId val="{00000007-424B-448D-89CB-3695A3B723CF}"/>
              </c:ext>
            </c:extLst>
          </c:dPt>
          <c:dLbls>
            <c:numFmt formatCode="#,##0" sourceLinked="0"/>
            <c:spPr>
              <a:noFill/>
              <a:ln>
                <a:noFill/>
              </a:ln>
              <a:effectLst/>
            </c:spPr>
            <c:txPr>
              <a:bodyPr/>
              <a:lstStyle/>
              <a:p>
                <a:pPr>
                  <a:defRPr sz="1200" b="0" i="0" u="none" strike="noStrike">
                    <a:solidFill>
                      <a:srgbClr val="102A43"/>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Train 40%</c:v>
                </c:pt>
                <c:pt idx="1">
                  <c:v>Validation 10%</c:v>
                </c:pt>
                <c:pt idx="2">
                  <c:v>Test 10%</c:v>
                </c:pt>
                <c:pt idx="3">
                  <c:v>Production 40%</c:v>
                </c:pt>
              </c:strCache>
            </c:strRef>
          </c:cat>
          <c:val>
            <c:numRef>
              <c:f>Sheet1!$B$2:$B$5</c:f>
              <c:numCache>
                <c:formatCode>General</c:formatCode>
                <c:ptCount val="4"/>
                <c:pt idx="0">
                  <c:v>10086</c:v>
                </c:pt>
                <c:pt idx="1">
                  <c:v>2469</c:v>
                </c:pt>
                <c:pt idx="2">
                  <c:v>2465</c:v>
                </c:pt>
                <c:pt idx="3">
                  <c:v>9946</c:v>
                </c:pt>
              </c:numCache>
            </c:numRef>
          </c:val>
          <c:extLst>
            <c:ext xmlns:c16="http://schemas.microsoft.com/office/drawing/2014/chart" uri="{C3380CC4-5D6E-409C-BE32-E72D297353CC}">
              <c16:uniqueId val="{00000008-424B-448D-89CB-3695A3B723CF}"/>
            </c:ext>
          </c:extLst>
        </c:ser>
        <c:dLbls>
          <c:showLegendKey val="0"/>
          <c:showVal val="1"/>
          <c:showCatName val="0"/>
          <c:showSerName val="0"/>
          <c:showPercent val="0"/>
          <c:showBubbleSize val="0"/>
        </c:dLbls>
        <c:gapWidth val="45"/>
        <c:axId val="2094734554"/>
        <c:axId val="2094734552"/>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102A43"/>
                </a:solidFill>
                <a:latin typeface="+mn-lt"/>
              </a:defRPr>
            </a:pPr>
            <a:endParaRPr lang="en-US"/>
          </a:p>
        </c:txPr>
        <c:crossAx val="2094734552"/>
        <c:crosses val="autoZero"/>
        <c:auto val="1"/>
        <c:lblAlgn val="ctr"/>
        <c:lblOffset val="100"/>
        <c:noMultiLvlLbl val="1"/>
      </c:catAx>
      <c:valAx>
        <c:axId val="2094734552"/>
        <c:scaling>
          <c:orientation val="minMax"/>
        </c:scaling>
        <c:delete val="1"/>
        <c:axPos val="t"/>
        <c:numFmt formatCode="General" sourceLinked="0"/>
        <c:majorTickMark val="out"/>
        <c:minorTickMark val="none"/>
        <c:tickLblPos val="low"/>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400" b="0" i="0" u="none" strike="noStrike">
                <a:solidFill>
                  <a:srgbClr val="102A43"/>
                </a:solidFill>
                <a:latin typeface="+mn-lt"/>
              </a:defRPr>
            </a:pPr>
            <a:r>
              <a:rPr lang="en-US" sz="1400" b="0" i="0" u="none" strike="noStrike">
                <a:solidFill>
                  <a:srgbClr val="102A43"/>
                </a:solidFill>
                <a:latin typeface="+mn-lt"/>
              </a:rPr>
              <a:t>Test-split metrics</a:t>
            </a:r>
          </a:p>
        </c:rich>
      </c:tx>
      <c:overlay val="0"/>
    </c:title>
    <c:autoTitleDeleted val="0"/>
    <c:plotArea>
      <c:layout/>
      <c:barChart>
        <c:barDir val="col"/>
        <c:grouping val="clustered"/>
        <c:varyColors val="0"/>
        <c:ser>
          <c:idx val="0"/>
          <c:order val="0"/>
          <c:tx>
            <c:strRef>
              <c:f>Sheet1!$B$1</c:f>
              <c:strCache>
                <c:ptCount val="1"/>
                <c:pt idx="0">
                  <c:v>Benchmark tree</c:v>
                </c:pt>
              </c:strCache>
            </c:strRef>
          </c:tx>
          <c:spPr>
            <a:solidFill>
              <a:srgbClr val="627D98"/>
            </a:solidFill>
            <a:effectLst/>
          </c:spPr>
          <c:invertIfNegative val="0"/>
          <c:dLbls>
            <c:numFmt formatCode="0.000" sourceLinked="0"/>
            <c:spPr>
              <a:noFill/>
              <a:ln>
                <a:noFill/>
              </a:ln>
              <a:effectLst/>
            </c:spPr>
            <c:txPr>
              <a:bodyPr/>
              <a:lstStyle/>
              <a:p>
                <a:pPr>
                  <a:defRPr sz="1100" b="0" i="0" u="none" strike="noStrike">
                    <a:solidFill>
                      <a:srgbClr val="102A43"/>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Accuracy</c:v>
                </c:pt>
                <c:pt idx="1">
                  <c:v>Macro-F1</c:v>
                </c:pt>
                <c:pt idx="2">
                  <c:v>Weighted F1</c:v>
                </c:pt>
                <c:pt idx="3">
                  <c:v>Mean question NDCG</c:v>
                </c:pt>
              </c:strCache>
            </c:strRef>
          </c:cat>
          <c:val>
            <c:numRef>
              <c:f>Sheet1!$B$2:$B$5</c:f>
              <c:numCache>
                <c:formatCode>General</c:formatCode>
                <c:ptCount val="4"/>
                <c:pt idx="0">
                  <c:v>0.52539999999999998</c:v>
                </c:pt>
                <c:pt idx="1">
                  <c:v>0.46929999999999999</c:v>
                </c:pt>
                <c:pt idx="2">
                  <c:v>0.57550000000000001</c:v>
                </c:pt>
                <c:pt idx="3">
                  <c:v>0.78939999999999999</c:v>
                </c:pt>
              </c:numCache>
            </c:numRef>
          </c:val>
          <c:extLst>
            <c:ext xmlns:c16="http://schemas.microsoft.com/office/drawing/2014/chart" uri="{C3380CC4-5D6E-409C-BE32-E72D297353CC}">
              <c16:uniqueId val="{00000000-51EF-41D6-AFC3-3DD003DF1D88}"/>
            </c:ext>
          </c:extLst>
        </c:ser>
        <c:ser>
          <c:idx val="1"/>
          <c:order val="1"/>
          <c:tx>
            <c:strRef>
              <c:f>Sheet1!$C$1</c:f>
              <c:strCache>
                <c:ptCount val="1"/>
                <c:pt idx="0">
                  <c:v>Random Forest</c:v>
                </c:pt>
              </c:strCache>
            </c:strRef>
          </c:tx>
          <c:spPr>
            <a:solidFill>
              <a:srgbClr val="0F7C7A"/>
            </a:solidFill>
            <a:effectLst/>
          </c:spPr>
          <c:invertIfNegative val="0"/>
          <c:dLbls>
            <c:numFmt formatCode="0.000" sourceLinked="0"/>
            <c:spPr>
              <a:noFill/>
              <a:ln>
                <a:noFill/>
              </a:ln>
              <a:effectLst/>
            </c:spPr>
            <c:txPr>
              <a:bodyPr/>
              <a:lstStyle/>
              <a:p>
                <a:pPr>
                  <a:defRPr sz="1100" b="0" i="0" u="none" strike="noStrike">
                    <a:solidFill>
                      <a:srgbClr val="102A43"/>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Accuracy</c:v>
                </c:pt>
                <c:pt idx="1">
                  <c:v>Macro-F1</c:v>
                </c:pt>
                <c:pt idx="2">
                  <c:v>Weighted F1</c:v>
                </c:pt>
                <c:pt idx="3">
                  <c:v>Mean question NDCG</c:v>
                </c:pt>
              </c:strCache>
            </c:strRef>
          </c:cat>
          <c:val>
            <c:numRef>
              <c:f>Sheet1!$C$2:$C$5</c:f>
              <c:numCache>
                <c:formatCode>General</c:formatCode>
                <c:ptCount val="4"/>
                <c:pt idx="0">
                  <c:v>0.66</c:v>
                </c:pt>
                <c:pt idx="1">
                  <c:v>0.53720000000000001</c:v>
                </c:pt>
                <c:pt idx="2">
                  <c:v>0.67269999999999996</c:v>
                </c:pt>
                <c:pt idx="3">
                  <c:v>0.81299999999999994</c:v>
                </c:pt>
              </c:numCache>
            </c:numRef>
          </c:val>
          <c:extLst>
            <c:ext xmlns:c16="http://schemas.microsoft.com/office/drawing/2014/chart" uri="{C3380CC4-5D6E-409C-BE32-E72D297353CC}">
              <c16:uniqueId val="{00000001-51EF-41D6-AFC3-3DD003DF1D88}"/>
            </c:ext>
          </c:extLst>
        </c:ser>
        <c:dLbls>
          <c:showLegendKey val="0"/>
          <c:showVal val="1"/>
          <c:showCatName val="0"/>
          <c:showSerName val="0"/>
          <c:showPercent val="0"/>
          <c:showBubbleSize val="0"/>
        </c:dLbls>
        <c:gapWidth val="7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102A43"/>
                </a:solidFill>
                <a:latin typeface="+mn-lt"/>
              </a:defRPr>
            </a:pPr>
            <a:endParaRPr lang="en-US"/>
          </a:p>
        </c:txPr>
        <c:crossAx val="2094734552"/>
        <c:crosses val="autoZero"/>
        <c:auto val="1"/>
        <c:lblAlgn val="ctr"/>
        <c:lblOffset val="100"/>
        <c:noMultiLvlLbl val="1"/>
      </c:catAx>
      <c:valAx>
        <c:axId val="2094734552"/>
        <c:scaling>
          <c:orientation val="minMax"/>
          <c:max val="1"/>
          <c:min val="0"/>
        </c:scaling>
        <c:delete val="1"/>
        <c:axPos val="l"/>
        <c:majorGridlines>
          <c:spPr>
            <a:ln w="6350" cap="flat">
              <a:solidFill>
                <a:srgbClr val="E3E8EE"/>
              </a:solidFill>
              <a:prstDash val="solid"/>
              <a:round/>
            </a:ln>
          </c:spPr>
        </c:majorGridlines>
        <c:numFmt formatCode="General" sourceLinked="0"/>
        <c:majorTickMark val="out"/>
        <c:minorTickMark val="none"/>
        <c:tickLblPos val="nextTo"/>
        <c:crossAx val="2094734554"/>
        <c:crosses val="autoZero"/>
        <c:crossBetween val="between"/>
      </c:valAx>
      <c:spPr>
        <a:noFill/>
        <a:ln>
          <a:noFill/>
        </a:ln>
        <a:effectLst/>
      </c:spPr>
    </c:plotArea>
    <c:legend>
      <c:legendPos val="b"/>
      <c:overlay val="0"/>
      <c:txPr>
        <a:bodyPr/>
        <a:lstStyle/>
        <a:p>
          <a:pPr>
            <a:defRPr sz="1200">
              <a:solidFill>
                <a:srgbClr val="102A43"/>
              </a:solidFill>
              <a:latin typeface="+mn-lt"/>
              <a:cs typeface="+mn-lt"/>
            </a:defRPr>
          </a:pPr>
          <a:endParaRPr lang="en-US"/>
        </a:p>
      </c:txPr>
    </c:legend>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7545852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team: Manoj Patra and Raminder Singh, AAI-540 Group 8. The project builds an evidence-grounded product question-answering system for e-commerce on AWS SageMaker, inside an AWS Academy Learner Lab with a $100 budget, so every design choice is CPU-first and cost-controlled. The roadmap strip shows the eight implementation phases covered in the deck, from data collection through RAG inference.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Business problem: before buying, shoppers ask product-specific questions. The answer often already exists, but it is scattered across reviews, community Q&amp;A, bullet points, descriptions and attributes. Slow or wrong answers cost conversions and add support load, and a generative chatbot without evidence can hallucinate. Technical problem: given a product ASIN and an English question, rank roughly ten heterogeneous evidence candidates into three relevance levels, with imbalanced labels, and abstain when the evidence is insufficient, all within a $100 Learner Lab budget. The ML approach is retrieval-augmented: retrieve candidates for the product with MiniLM embeddings and FAISS, rank them with a supervised relevance model, return the best evidence with its source and confidence or an explicit no-answer, and operate the model with monitoring and gated retraining. The design document's release targets include p95 latency of 2.5 seconds or less, an unsupported-claim rate of 5 percent or less, and an explicit no-answer below the approved threshold.</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the overall flow from the technical approach document. Read it left to right on the top row, then right to left on the bottom row. Phases 1 to 3 run in the data-lake notebook: ePQA lands in S3 raw and curated zones, catalogued in Glue and checked with Athena; 14 leakage-safe scalar features are engineered; and they are ingested into an offline Feature Store group with 40/10/10/40 splits grouped by product. Phases 4 and 5 train a decision-tree benchmark and a random forest in SageMaker Training and compare them on macro-F1 and per-question NDCG, with a validation-only gate. Phase 6 monitors PSI drift and quality, publishes to CloudWatch, and runs the continual-learning Pipeline DAG with a quality gate; the dashed arrow shows its retrain trigger looping back to model development. Phase 7 deploys with Batch Transform, governs versions in Model Registry and tests a temporary endpoint behind Flask. Phase 8 is the RAG path: MiniLM and FAISS retrieve product evidence, the random forest reranks it, and the system answers or abstains. Underneath everything, every stage writes a versioned receipt to S3 that the next stage validates.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is the official English ePQA release from Amazon Science's contextual-product-qa repository, which matches the RFC's Amazon-PQA intent but adds candidate evidence and 3-level relevance labels. Raw bytes are preserved with SHA-256 checksums so every later stage can prove what data it used. A deterministic subset (seed 540) keeps Learner Lab costs low. Validation rejected 25 rows missing required text or IDs. Seven Glue tables are registered via the Glue API and validated with Athena. EDA shows ~10 candidates per question, imbalanced labels (66% irrelevant) and that community Q&amp;A and reviews are the most useful sources.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Design choice: keep the ranking features tabular and inexpensive so they can be computed identically at training and at serving time. Dense sentence embeddings are kept out of the feature table and used only for the retrieval index in phase 8. The cosine feature uses a stateless HashingVectorizer, so computing it before the split cannot leak vocabulary or IDF statistics from validation, test or production data. Gold-answer-derived columns exist in the table for analysis but never enter the model, because a real customer question has no reference answer. The same scalar_features() function lives in the serving runtime and is unit-tested for parity.</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24,966 feature records are ingested into an offline-only SageMaker Feature Store group, keyed by record_id with an event_time; the online store is disabled to save cost. Feature Store auto-creates a Glue table, and offline delivery is asynchronous, so the notebook includes a re-runnable Athena check. The split is grouped by product ASIN (qid fallback) into 40/10/10/40 train / validation / test / production. The 40% production split acts as simulated live traffic for batch scoring and monitoring, and later as labeled feedback for continual learning. A leakage assertion confirms all four group sets are disjoint, and run_summary.json becomes the contract every later stage validates.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SageMaker Training jobs run the same versioned entry point, src/train.py, on the Scikit-learn 1.4-2 container. The benchmark is intentionally weak but interpretable: a depth-two decision tree on just two lexical similarity features, which sets a credible minimum bar. The first real iteration is a class-balanced random forest on all 14 features, chosen because labels are imbalanced and the features are heterogeneous scalars. Before fitting, train.py validates the schema, label domain, null policy, unique records and group separation, then logs metrics to CloudWatch and packages the ordered feature schema with the estimator so inference can refuse a mismatched input.</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Macro-F1 is the primary metric because the three relevance classes are imbalanced; mean per-question NDCG reflects the real use case of ranking evidence for a question. The deployment gate is decided on validation only (macro-F1 +0.041, NDCG +0.036), so the test split stays untouched for this final comparison. On test, the random forest improves accuracy from 0.525 to 0.660, macro-F1 from 0.469 to 0.537, and NDCG from 0.789 to 0.813, while log loss drops from 0.876 to 0.765. Error analysis shows 838 of 2,465 test rows misclassified, mostly confusion between helpful-incomplete and fully-answering, which motivates the stronger rerankers listed as next steps.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Monitoring uses a custom monitor script in a SageMaker Processing job rather than Model Monitor, because Model Monitor is often unavailable in Learner Lab. It compares the validation baseline with the 9,946-row production batch: data quality, feature and prediction PSI, confidence, and delayed-label macro-F1 and NDCG. Thresholds: PSI above 0.20, missing rate above 0.02 or a quality drop beyond 0.05 recommends retraining. This run stayed well inside every threshold, so retraining was not recommended. Ten metrics, a dashboard and three alarms are published to CloudWatch. The continual-learning stage was still exercised as a demonstration: a four-step SageMaker Pipeline DAG prepared feedback without leakage, retrained, compared against the champion on the untouched test split and passed the gate (macro-F1 floor 0.40, regression tolerance 0.02). The model is registered only as PendingManualApproval; a second team member must approve it.</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Deployment is deliberately cost-conscious. The ranker is first deployed through SageMaker Batch Transform over the 9,946-row production split, emitting the predicted class, expected relevance and three class probabilities; compute is released when the job finishes, so there is no idle endpoint. Versions are governed through Model Registry with manual approval and rollback by re-approving the previous package. For the online path, the phase 8 runtime is packaged behind SageMaker's HTTPS inference contract with MiniLM weights inside the artifact, deployed to a temporary real-time endpoint and exercised through a Flask API with health and answer routes. Tests cover the contract, unknown-product abstention, 100% grounding and a p95 latency ceiling of 2.5 seconds; telemetry is sanitized before it goes to S3 and CloudWatch. The endpoint, endpoint config and model are deleted at the end. If endpoint creation is denied, the identical contract runs in-process and the receipt records that fallback.</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end-to-end user outcome. The stage first checks that the data, champion model, monitoring and continual-learning receipts are consistent, then builds a corpus of 24,711 evidence candidates for 2,128 products. Questions and evidence are embedded with all-MiniLM-L6-v2 (384 dimensions, L2-normalised) and indexed with FAISS inner product. At query time the system searches only the requested product's evidence (top 50), computes the same 14 features, and reranks with the random forest using a blend of 75% expected relevance and 25% semantic similarity. The top-3 evidence is returned; the answer is the top evidence text copied verbatim, unless the probability of 'fully answering' is below 0.35 or the product is unknown, in which case it abstains. On 50 known queries: Recall@3 0.54 (gate 0.40), 98% answered, 100% grounded, p50 84 ms and p95 97.5 ms. Next steps: hybrid BM25 + dense retrieval, a cross-encoder or LightGBM reranker, calibrated abstention, and a web front end. The same retrieve, rerank, answer-or-abstain pattern carries over to support-ticket deflection, internal knowledge bases and regulated documentation Q&amp;A.</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by tying the eight phases together. Learnings: controlling leakage and keeping one feature contract mattered more than model complexity; a 14-feature random forest beat the benchmark by +0.068 macro-F1 and +0.024 NDCG on the untouched test split; receipt-chained S3 lineage made every stage auditable and re-runnable; extractive answers with an abstention path kept grounding at 100%; and Learner Lab restrictions were handled with explicit, recorded fallbacks rather than silent workarounds. Next steps: a LightGBM or cross-encoder reranker, hybrid BM25 plus dense retrieval, a calibrated abstention threshold, embedding and topic-drift monitoring, and SageMaker Ground Truth feedback labelling with an Amplify web front end and endpoint autoscaling. The transferable pattern is retrieve, rerank, then answer or abstain, wrapped in versioned receipts and human-gated promotion. It applies to support-ticket deflection, internal knowledge-base search, regulatory and medical-device documentation Q&amp;A, and maintenance-log troubleshooting.</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PHASE">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6400800"/>
            <a:ext cx="8229600" cy="274320"/>
          </a:xfrm>
          <a:prstGeom prst="rect">
            <a:avLst/>
          </a:prstGeom>
          <a:noFill/>
          <a:ln/>
        </p:spPr>
        <p:txBody>
          <a:bodyPr wrap="square" lIns="0" tIns="0" rIns="0" bIns="0" rtlCol="0" anchor="ctr"/>
          <a:lstStyle/>
          <a:p>
            <a:pPr marL="0" indent="0">
              <a:buNone/>
            </a:pPr>
            <a:r>
              <a:rPr lang="en-US" sz="1000" dirty="0">
                <a:solidFill>
                  <a:schemeClr val="accent4"/>
                </a:solidFill>
              </a:rPr>
              <a:t>AAI-540 Group 8  ·  Retrieval-Augmented Product QA on AWS SageMaker</a:t>
            </a:r>
            <a:endParaRPr lang="en-US" sz="10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r"/>
            <a:fld id="{F7021451-1387-4CA6-816F-3879F97B5CBC}" type="slidenum">
              <a:rPr lang="en-US" b="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PHASE_T">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6400800"/>
            <a:ext cx="8229600" cy="274320"/>
          </a:xfrm>
          <a:prstGeom prst="rect">
            <a:avLst/>
          </a:prstGeom>
          <a:noFill/>
          <a:ln/>
        </p:spPr>
        <p:txBody>
          <a:bodyPr wrap="square" lIns="0" tIns="0" rIns="0" bIns="0" rtlCol="0" anchor="ctr"/>
          <a:lstStyle/>
          <a:p>
            <a:pPr marL="0" indent="0">
              <a:buNone/>
            </a:pPr>
            <a:r>
              <a:rPr lang="en-US" sz="1000" dirty="0">
                <a:solidFill>
                  <a:schemeClr val="accent4"/>
                </a:solidFill>
              </a:rPr>
              <a:t>AAI-540 Group 8  ·  Retrieval-Augmented Product QA on AWS SageMaker</a:t>
            </a:r>
            <a:endParaRPr lang="en-US" sz="1000" dirty="0"/>
          </a:p>
        </p:txBody>
      </p:sp>
      <p:sp>
        <p:nvSpPr>
          <p:cNvPr id="3" name="Text 1"/>
          <p:cNvSpPr>
            <a:spLocks noGrp="1"/>
          </p:cNvSpPr>
          <p:nvPr>
            <p:ph type="body" idx="101" hasCustomPrompt="1"/>
          </p:nvPr>
        </p:nvSpPr>
        <p:spPr>
          <a:xfrm>
            <a:off x="548640" y="868680"/>
            <a:ext cx="10972800" cy="292608"/>
          </a:xfrm>
          <a:prstGeom prst="rect">
            <a:avLst/>
          </a:prstGeom>
          <a:noFill/>
          <a:ln/>
        </p:spPr>
        <p:txBody>
          <a:bodyPr wrap="square" rtlCol="0"/>
          <a:lstStyle>
            <a:lvl1pPr marL="0" indent="0">
              <a:buNone/>
              <a:defRPr lang="en-US" sz="1200" b="1" dirty="0">
                <a:solidFill>
                  <a:schemeClr val="accent1"/>
                </a:solidFill>
              </a:defRPr>
            </a:lvl1pPr>
          </a:lstStyle>
          <a:p>
            <a:pPr marL="0" indent="0">
              <a:buNone/>
            </a:pPr>
            <a:endParaRPr lang="en-US" sz="1200" dirty="0"/>
          </a:p>
        </p:txBody>
      </p:sp>
      <p:sp>
        <p:nvSpPr>
          <p:cNvPr id="4" name="Text 1"/>
          <p:cNvSpPr>
            <a:spLocks noGrp="1"/>
          </p:cNvSpPr>
          <p:nvPr>
            <p:ph type="title" idx="102" hasCustomPrompt="1"/>
          </p:nvPr>
        </p:nvSpPr>
        <p:spPr>
          <a:xfrm>
            <a:off x="548640" y="1161288"/>
            <a:ext cx="11064240" cy="685800"/>
          </a:xfrm>
          <a:prstGeom prst="rect">
            <a:avLst/>
          </a:prstGeom>
          <a:noFill/>
          <a:ln/>
        </p:spPr>
        <p:txBody>
          <a:bodyPr wrap="square" rtlCol="0"/>
          <a:lstStyle>
            <a:lvl1pPr marL="0" indent="0" algn="l">
              <a:buNone/>
              <a:defRPr lang="en-US" sz="3000" b="1" dirty="0">
                <a:solidFill>
                  <a:schemeClr val="tx2"/>
                </a:solidFill>
                <a:latin typeface="Cambria" pitchFamily="34" charset="0"/>
                <a:ea typeface="Cambria" pitchFamily="34" charset="-122"/>
                <a:cs typeface="Cambria" pitchFamily="34" charset="-120"/>
              </a:defRPr>
            </a:lvl1pPr>
          </a:lstStyle>
          <a:p>
            <a:pPr marL="0" indent="0" algn="l">
              <a:buNone/>
            </a:pPr>
            <a:endParaRPr lang="en-US" sz="30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r"/>
            <a:fld id="{F7021451-1387-4CA6-816F-3879F97B5CBC}" type="slidenum">
              <a:rPr lang="en-US" b="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TITLE_D">
    <p:bg>
      <p:bgPr>
        <a:solidFill>
          <a:srgbClr val="102A43"/>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109651138"/>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4.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3.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5.xml"/><Relationship Id="rId1" Type="http://schemas.openxmlformats.org/officeDocument/2006/relationships/slideLayout" Target="../slideLayouts/slideLayout3.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6.xml"/><Relationship Id="rId1" Type="http://schemas.openxmlformats.org/officeDocument/2006/relationships/slideLayout" Target="../slideLayouts/slideLayout3.xml"/><Relationship Id="rId5" Type="http://schemas.openxmlformats.org/officeDocument/2006/relationships/image" Target="../media/image9.png"/><Relationship Id="rId4" Type="http://schemas.openxmlformats.org/officeDocument/2006/relationships/chart" Target="../charts/chart2.xml"/></Relationships>
</file>

<file path=ppt/slides/_rels/slide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7.xml"/><Relationship Id="rId1" Type="http://schemas.openxmlformats.org/officeDocument/2006/relationships/slideLayout" Target="../slideLayouts/slideLayout3.xml"/><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0.xml"/><Relationship Id="rId1" Type="http://schemas.openxmlformats.org/officeDocument/2006/relationships/slideLayout" Target="../slideLayouts/slideLayout3.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s>
</file>

<file path=ppt/slides/_rels/slide11.xml.rels><?xml version="1.0" encoding="UTF-8" standalone="yes"?>
<Relationships xmlns="http://schemas.openxmlformats.org/package/2006/relationships"><Relationship Id="rId8" Type="http://schemas.openxmlformats.org/officeDocument/2006/relationships/image" Target="../media/image22.png"/><Relationship Id="rId3" Type="http://schemas.openxmlformats.org/officeDocument/2006/relationships/image" Target="../media/image21.png"/><Relationship Id="rId7" Type="http://schemas.openxmlformats.org/officeDocument/2006/relationships/image" Target="../media/image9.png"/><Relationship Id="rId2" Type="http://schemas.openxmlformats.org/officeDocument/2006/relationships/notesSlide" Target="../notesSlides/notesSlide11.xml"/><Relationship Id="rId1" Type="http://schemas.openxmlformats.org/officeDocument/2006/relationships/slideLayout" Target="../slideLayouts/slideLayout3.xml"/><Relationship Id="rId6" Type="http://schemas.openxmlformats.org/officeDocument/2006/relationships/image" Target="../media/image15.png"/><Relationship Id="rId5" Type="http://schemas.openxmlformats.org/officeDocument/2006/relationships/image" Target="../media/image8.png"/><Relationship Id="rId4" Type="http://schemas.openxmlformats.org/officeDocument/2006/relationships/image" Target="../media/image7.png"/></Relationships>
</file>

<file path=ppt/slides/_rels/slide1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2.xml"/><Relationship Id="rId1" Type="http://schemas.openxmlformats.org/officeDocument/2006/relationships/slideLayout" Target="../slideLayouts/slideLayout3.xml"/><Relationship Id="rId5" Type="http://schemas.openxmlformats.org/officeDocument/2006/relationships/image" Target="../media/image25.png"/><Relationship Id="rId4" Type="http://schemas.openxmlformats.org/officeDocument/2006/relationships/image" Target="../media/image2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kicker"/>
          <p:cNvSpPr txBox="1"/>
          <p:nvPr/>
        </p:nvSpPr>
        <p:spPr>
          <a:xfrm>
            <a:off x="548640" y="777240"/>
            <a:ext cx="10972800" cy="320040"/>
          </a:xfrm>
          <a:prstGeom prst="rect">
            <a:avLst/>
          </a:prstGeom>
          <a:noFill/>
          <a:ln/>
        </p:spPr>
        <p:txBody>
          <a:bodyPr wrap="square" lIns="0" tIns="0" rIns="0" bIns="0" rtlCol="0" anchor="ctr"/>
          <a:lstStyle/>
          <a:p>
            <a:pPr marL="0" indent="0">
              <a:buNone/>
            </a:pPr>
            <a:r>
              <a:rPr lang="en-US" sz="1400" b="1" dirty="0">
                <a:solidFill>
                  <a:schemeClr val="accent2"/>
                </a:solidFill>
              </a:rPr>
              <a:t>AAI-540 MACHINE LEARNING OPERATIONS  ·  GROUP 8</a:t>
            </a:r>
            <a:endParaRPr lang="en-US" sz="1400" dirty="0"/>
          </a:p>
        </p:txBody>
      </p:sp>
      <p:sp>
        <p:nvSpPr>
          <p:cNvPr id="3" name="t-title"/>
          <p:cNvSpPr txBox="1"/>
          <p:nvPr/>
        </p:nvSpPr>
        <p:spPr>
          <a:xfrm>
            <a:off x="548640" y="1188720"/>
            <a:ext cx="10515600" cy="1463040"/>
          </a:xfrm>
          <a:prstGeom prst="rect">
            <a:avLst/>
          </a:prstGeom>
          <a:noFill/>
          <a:ln/>
        </p:spPr>
        <p:txBody>
          <a:bodyPr wrap="square" lIns="0" tIns="0" rIns="0" bIns="0" rtlCol="0" anchor="t"/>
          <a:lstStyle/>
          <a:p>
            <a:pPr marL="0" indent="0">
              <a:buNone/>
            </a:pPr>
            <a:r>
              <a:rPr lang="en-US" sz="4400" b="1" dirty="0">
                <a:solidFill>
                  <a:schemeClr val="bg1"/>
                </a:solidFill>
                <a:latin typeface="Cambria" pitchFamily="34" charset="0"/>
                <a:ea typeface="Cambria" pitchFamily="34" charset="-122"/>
                <a:cs typeface="Cambria" pitchFamily="34" charset="-120"/>
              </a:rPr>
              <a:t>Retrieval-Augmented Product Question Answering</a:t>
            </a:r>
            <a:endParaRPr lang="en-US" sz="4400" dirty="0"/>
          </a:p>
        </p:txBody>
      </p:sp>
      <p:sp>
        <p:nvSpPr>
          <p:cNvPr id="4" name="t-sub"/>
          <p:cNvSpPr txBox="1"/>
          <p:nvPr/>
        </p:nvSpPr>
        <p:spPr>
          <a:xfrm>
            <a:off x="548640" y="2697480"/>
            <a:ext cx="10058400" cy="457200"/>
          </a:xfrm>
          <a:prstGeom prst="rect">
            <a:avLst/>
          </a:prstGeom>
          <a:noFill/>
          <a:ln/>
        </p:spPr>
        <p:txBody>
          <a:bodyPr wrap="square" lIns="0" tIns="0" rIns="0" bIns="0" rtlCol="0" anchor="ctr"/>
          <a:lstStyle/>
          <a:p>
            <a:pPr marL="0" indent="0">
              <a:buNone/>
            </a:pPr>
            <a:r>
              <a:rPr lang="en-US" sz="2000" dirty="0">
                <a:solidFill>
                  <a:schemeClr val="accent5"/>
                </a:solidFill>
              </a:rPr>
              <a:t>An evidence-grounded ML system on AWS SageMaker, from data lake to RAG inference</a:t>
            </a:r>
            <a:endParaRPr lang="en-US" sz="2000" dirty="0"/>
          </a:p>
        </p:txBody>
      </p:sp>
      <p:sp>
        <p:nvSpPr>
          <p:cNvPr id="5" name="t-f0-circle"/>
          <p:cNvSpPr/>
          <p:nvPr/>
        </p:nvSpPr>
        <p:spPr>
          <a:xfrm>
            <a:off x="548640" y="3429000"/>
            <a:ext cx="548640" cy="548640"/>
          </a:xfrm>
          <a:prstGeom prst="ellipse">
            <a:avLst/>
          </a:prstGeom>
          <a:solidFill>
            <a:srgbClr val="0F7C7A"/>
          </a:solidFill>
          <a:ln/>
        </p:spPr>
      </p:sp>
      <p:pic>
        <p:nvPicPr>
          <p:cNvPr id="6" name="t-f0-icon" descr="preencoded.png"/>
          <p:cNvPicPr>
            <a:picLocks noChangeAspect="1"/>
          </p:cNvPicPr>
          <p:nvPr/>
        </p:nvPicPr>
        <p:blipFill>
          <a:blip r:embed="rId3"/>
          <a:stretch>
            <a:fillRect/>
          </a:stretch>
        </p:blipFill>
        <p:spPr>
          <a:xfrm>
            <a:off x="669341" y="3549701"/>
            <a:ext cx="307238" cy="307238"/>
          </a:xfrm>
          <a:prstGeom prst="rect">
            <a:avLst/>
          </a:prstGeom>
        </p:spPr>
      </p:pic>
      <p:sp>
        <p:nvSpPr>
          <p:cNvPr id="7" name="t-ft0"/>
          <p:cNvSpPr txBox="1"/>
          <p:nvPr/>
        </p:nvSpPr>
        <p:spPr>
          <a:xfrm>
            <a:off x="1234440" y="3383280"/>
            <a:ext cx="4206240" cy="640080"/>
          </a:xfrm>
          <a:prstGeom prst="rect">
            <a:avLst/>
          </a:prstGeom>
          <a:noFill/>
          <a:ln/>
        </p:spPr>
        <p:txBody>
          <a:bodyPr wrap="square" lIns="0" tIns="0" rIns="0" bIns="0" rtlCol="0" anchor="ctr"/>
          <a:lstStyle/>
          <a:p>
            <a:pPr marL="0" indent="0">
              <a:buNone/>
            </a:pPr>
            <a:r>
              <a:rPr lang="en-US" sz="1200" b="1" dirty="0">
                <a:solidFill>
                  <a:srgbClr val="E8A33D"/>
                </a:solidFill>
              </a:rPr>
              <a:t>Team</a:t>
            </a:r>
            <a:endParaRPr lang="en-US" sz="1200" dirty="0"/>
          </a:p>
          <a:p>
            <a:pPr marL="0" indent="0">
              <a:buNone/>
            </a:pPr>
            <a:r>
              <a:rPr lang="en-US" sz="1300" dirty="0">
                <a:solidFill>
                  <a:srgbClr val="FFFFFF"/>
                </a:solidFill>
              </a:rPr>
              <a:t>Manoj Patra · Raminder Singh</a:t>
            </a:r>
            <a:endParaRPr lang="en-US" sz="1200" dirty="0"/>
          </a:p>
        </p:txBody>
      </p:sp>
      <p:sp>
        <p:nvSpPr>
          <p:cNvPr id="8" name="t-f1-circle"/>
          <p:cNvSpPr/>
          <p:nvPr/>
        </p:nvSpPr>
        <p:spPr>
          <a:xfrm>
            <a:off x="5669280" y="3429000"/>
            <a:ext cx="548640" cy="548640"/>
          </a:xfrm>
          <a:prstGeom prst="ellipse">
            <a:avLst/>
          </a:prstGeom>
          <a:solidFill>
            <a:srgbClr val="0F7C7A"/>
          </a:solidFill>
          <a:ln/>
        </p:spPr>
      </p:sp>
      <p:pic>
        <p:nvPicPr>
          <p:cNvPr id="9" name="t-f1-icon" descr="preencoded.png"/>
          <p:cNvPicPr>
            <a:picLocks noChangeAspect="1"/>
          </p:cNvPicPr>
          <p:nvPr/>
        </p:nvPicPr>
        <p:blipFill>
          <a:blip r:embed="rId4"/>
          <a:stretch>
            <a:fillRect/>
          </a:stretch>
        </p:blipFill>
        <p:spPr>
          <a:xfrm>
            <a:off x="5789981" y="3549701"/>
            <a:ext cx="307238" cy="307238"/>
          </a:xfrm>
          <a:prstGeom prst="rect">
            <a:avLst/>
          </a:prstGeom>
        </p:spPr>
      </p:pic>
      <p:sp>
        <p:nvSpPr>
          <p:cNvPr id="10" name="t-ft1"/>
          <p:cNvSpPr txBox="1"/>
          <p:nvPr/>
        </p:nvSpPr>
        <p:spPr>
          <a:xfrm>
            <a:off x="6355080" y="3383280"/>
            <a:ext cx="4206240" cy="640080"/>
          </a:xfrm>
          <a:prstGeom prst="rect">
            <a:avLst/>
          </a:prstGeom>
          <a:noFill/>
          <a:ln/>
        </p:spPr>
        <p:txBody>
          <a:bodyPr wrap="square" lIns="0" tIns="0" rIns="0" bIns="0" rtlCol="0" anchor="ctr"/>
          <a:lstStyle/>
          <a:p>
            <a:pPr marL="0" indent="0">
              <a:buNone/>
            </a:pPr>
            <a:r>
              <a:rPr lang="en-US" sz="1200" b="1" dirty="0">
                <a:solidFill>
                  <a:srgbClr val="E8A33D"/>
                </a:solidFill>
              </a:rPr>
              <a:t>Platform</a:t>
            </a:r>
            <a:endParaRPr lang="en-US" sz="1200" dirty="0"/>
          </a:p>
          <a:p>
            <a:pPr marL="0" indent="0">
              <a:buNone/>
            </a:pPr>
            <a:r>
              <a:rPr lang="en-US" sz="1300" dirty="0">
                <a:solidFill>
                  <a:srgbClr val="FFFFFF"/>
                </a:solidFill>
              </a:rPr>
              <a:t>AWS SageMaker · us-east-1</a:t>
            </a:r>
            <a:endParaRPr lang="en-US" sz="1200" dirty="0"/>
          </a:p>
        </p:txBody>
      </p:sp>
      <p:sp>
        <p:nvSpPr>
          <p:cNvPr id="11" name="t-f2-circle"/>
          <p:cNvSpPr/>
          <p:nvPr/>
        </p:nvSpPr>
        <p:spPr>
          <a:xfrm>
            <a:off x="548640" y="4160520"/>
            <a:ext cx="548640" cy="548640"/>
          </a:xfrm>
          <a:prstGeom prst="ellipse">
            <a:avLst/>
          </a:prstGeom>
          <a:solidFill>
            <a:srgbClr val="0F7C7A"/>
          </a:solidFill>
          <a:ln/>
        </p:spPr>
      </p:sp>
      <p:pic>
        <p:nvPicPr>
          <p:cNvPr id="12" name="t-f2-icon" descr="preencoded.png"/>
          <p:cNvPicPr>
            <a:picLocks noChangeAspect="1"/>
          </p:cNvPicPr>
          <p:nvPr/>
        </p:nvPicPr>
        <p:blipFill>
          <a:blip r:embed="rId5"/>
          <a:stretch>
            <a:fillRect/>
          </a:stretch>
        </p:blipFill>
        <p:spPr>
          <a:xfrm>
            <a:off x="669341" y="4281221"/>
            <a:ext cx="307238" cy="307238"/>
          </a:xfrm>
          <a:prstGeom prst="rect">
            <a:avLst/>
          </a:prstGeom>
        </p:spPr>
      </p:pic>
      <p:sp>
        <p:nvSpPr>
          <p:cNvPr id="13" name="t-ft2"/>
          <p:cNvSpPr txBox="1"/>
          <p:nvPr/>
        </p:nvSpPr>
        <p:spPr>
          <a:xfrm>
            <a:off x="1234440" y="4114800"/>
            <a:ext cx="4206240" cy="640080"/>
          </a:xfrm>
          <a:prstGeom prst="rect">
            <a:avLst/>
          </a:prstGeom>
          <a:noFill/>
          <a:ln/>
        </p:spPr>
        <p:txBody>
          <a:bodyPr wrap="square" lIns="0" tIns="0" rIns="0" bIns="0" rtlCol="0" anchor="ctr"/>
          <a:lstStyle/>
          <a:p>
            <a:pPr marL="0" indent="0">
              <a:buNone/>
            </a:pPr>
            <a:r>
              <a:rPr lang="en-US" sz="1200" b="1" dirty="0">
                <a:solidFill>
                  <a:srgbClr val="E8A33D"/>
                </a:solidFill>
              </a:rPr>
              <a:t>Constraint</a:t>
            </a:r>
            <a:endParaRPr lang="en-US" sz="1200" dirty="0"/>
          </a:p>
          <a:p>
            <a:pPr marL="0" indent="0">
              <a:buNone/>
            </a:pPr>
            <a:r>
              <a:rPr lang="en-US" sz="1300" dirty="0">
                <a:solidFill>
                  <a:srgbClr val="FFFFFF"/>
                </a:solidFill>
              </a:rPr>
              <a:t>$100 AWS Learner Lab budget</a:t>
            </a:r>
            <a:endParaRPr lang="en-US" sz="1200" dirty="0"/>
          </a:p>
        </p:txBody>
      </p:sp>
      <p:sp>
        <p:nvSpPr>
          <p:cNvPr id="14" name="t-f3-circle"/>
          <p:cNvSpPr/>
          <p:nvPr/>
        </p:nvSpPr>
        <p:spPr>
          <a:xfrm>
            <a:off x="5669280" y="4160520"/>
            <a:ext cx="548640" cy="548640"/>
          </a:xfrm>
          <a:prstGeom prst="ellipse">
            <a:avLst/>
          </a:prstGeom>
          <a:solidFill>
            <a:srgbClr val="0F7C7A"/>
          </a:solidFill>
          <a:ln/>
        </p:spPr>
      </p:sp>
      <p:pic>
        <p:nvPicPr>
          <p:cNvPr id="15" name="t-f3-icon" descr="preencoded.png"/>
          <p:cNvPicPr>
            <a:picLocks noChangeAspect="1"/>
          </p:cNvPicPr>
          <p:nvPr/>
        </p:nvPicPr>
        <p:blipFill>
          <a:blip r:embed="rId6"/>
          <a:stretch>
            <a:fillRect/>
          </a:stretch>
        </p:blipFill>
        <p:spPr>
          <a:xfrm>
            <a:off x="5789981" y="4281221"/>
            <a:ext cx="307238" cy="307238"/>
          </a:xfrm>
          <a:prstGeom prst="rect">
            <a:avLst/>
          </a:prstGeom>
        </p:spPr>
      </p:pic>
      <p:sp>
        <p:nvSpPr>
          <p:cNvPr id="16" name="t-ft3"/>
          <p:cNvSpPr txBox="1"/>
          <p:nvPr/>
        </p:nvSpPr>
        <p:spPr>
          <a:xfrm>
            <a:off x="6355080" y="4114800"/>
            <a:ext cx="4206240" cy="640080"/>
          </a:xfrm>
          <a:prstGeom prst="rect">
            <a:avLst/>
          </a:prstGeom>
          <a:noFill/>
          <a:ln/>
        </p:spPr>
        <p:txBody>
          <a:bodyPr wrap="square" lIns="0" tIns="0" rIns="0" bIns="0" rtlCol="0" anchor="ctr"/>
          <a:lstStyle/>
          <a:p>
            <a:pPr marL="0" indent="0">
              <a:buNone/>
            </a:pPr>
            <a:r>
              <a:rPr lang="en-US" sz="1200" b="1" dirty="0">
                <a:solidFill>
                  <a:srgbClr val="E8A33D"/>
                </a:solidFill>
              </a:rPr>
              <a:t>GitHub repository</a:t>
            </a:r>
            <a:endParaRPr lang="en-US" sz="1200" dirty="0"/>
          </a:p>
          <a:p>
            <a:pPr marL="0" indent="0">
              <a:buNone/>
            </a:pPr>
            <a:r>
              <a:rPr lang="en-US" sz="1300" dirty="0">
                <a:solidFill>
                  <a:srgbClr val="FFFFFF"/>
                </a:solidFill>
              </a:rPr>
              <a:t>github.com/ramindersinghusd/aai-540-g8</a:t>
            </a:r>
            <a:endParaRPr lang="en-US" sz="1200" dirty="0"/>
          </a:p>
        </p:txBody>
      </p:sp>
      <p:sp>
        <p:nvSpPr>
          <p:cNvPr id="17" name="t-road-h"/>
          <p:cNvSpPr txBox="1"/>
          <p:nvPr/>
        </p:nvSpPr>
        <p:spPr>
          <a:xfrm>
            <a:off x="548640" y="5074920"/>
            <a:ext cx="5486400" cy="274320"/>
          </a:xfrm>
          <a:prstGeom prst="rect">
            <a:avLst/>
          </a:prstGeom>
          <a:noFill/>
          <a:ln/>
        </p:spPr>
        <p:txBody>
          <a:bodyPr wrap="square" lIns="0" tIns="0" rIns="0" bIns="0" rtlCol="0" anchor="ctr"/>
          <a:lstStyle/>
          <a:p>
            <a:pPr marL="0" indent="0">
              <a:buNone/>
            </a:pPr>
            <a:r>
              <a:rPr lang="en-US" sz="1200" b="1" dirty="0">
                <a:solidFill>
                  <a:schemeClr val="accent5"/>
                </a:solidFill>
              </a:rPr>
              <a:t>Eight implementation phases</a:t>
            </a:r>
            <a:endParaRPr lang="en-US" sz="1200" dirty="0"/>
          </a:p>
        </p:txBody>
      </p:sp>
      <p:sp>
        <p:nvSpPr>
          <p:cNvPr id="18" name="t-step-1"/>
          <p:cNvSpPr/>
          <p:nvPr/>
        </p:nvSpPr>
        <p:spPr>
          <a:xfrm>
            <a:off x="548640" y="5440680"/>
            <a:ext cx="1298448" cy="347472"/>
          </a:xfrm>
          <a:prstGeom prst="roundRect">
            <a:avLst>
              <a:gd name="adj" fmla="val 50000"/>
            </a:avLst>
          </a:prstGeom>
          <a:solidFill>
            <a:srgbClr val="1E3D5A"/>
          </a:solidFill>
          <a:ln w="9525">
            <a:solidFill>
              <a:srgbClr val="0F7C7A"/>
            </a:solidFill>
          </a:ln>
        </p:spPr>
        <p:txBody>
          <a:bodyPr wrap="square" lIns="0" tIns="0" rIns="0" bIns="0" rtlCol="0" anchor="ctr"/>
          <a:lstStyle/>
          <a:p>
            <a:pPr marL="0" indent="0" algn="ctr">
              <a:buNone/>
            </a:pPr>
            <a:r>
              <a:rPr lang="en-US" sz="1000" dirty="0">
                <a:solidFill>
                  <a:schemeClr val="bg1"/>
                </a:solidFill>
              </a:rPr>
              <a:t>1  Data collection</a:t>
            </a:r>
            <a:endParaRPr lang="en-US" sz="1000" dirty="0"/>
          </a:p>
        </p:txBody>
      </p:sp>
      <p:sp>
        <p:nvSpPr>
          <p:cNvPr id="19" name="t-step-2"/>
          <p:cNvSpPr/>
          <p:nvPr/>
        </p:nvSpPr>
        <p:spPr>
          <a:xfrm>
            <a:off x="1948586" y="5440680"/>
            <a:ext cx="1298448" cy="347472"/>
          </a:xfrm>
          <a:prstGeom prst="roundRect">
            <a:avLst>
              <a:gd name="adj" fmla="val 50000"/>
            </a:avLst>
          </a:prstGeom>
          <a:solidFill>
            <a:srgbClr val="1E3D5A"/>
          </a:solidFill>
          <a:ln w="9525">
            <a:solidFill>
              <a:srgbClr val="0F7C7A"/>
            </a:solidFill>
          </a:ln>
        </p:spPr>
        <p:txBody>
          <a:bodyPr wrap="square" lIns="0" tIns="0" rIns="0" bIns="0" rtlCol="0" anchor="ctr"/>
          <a:lstStyle/>
          <a:p>
            <a:pPr marL="0" indent="0" algn="ctr">
              <a:buNone/>
            </a:pPr>
            <a:r>
              <a:rPr lang="en-US" sz="1000" dirty="0">
                <a:solidFill>
                  <a:schemeClr val="bg1"/>
                </a:solidFill>
              </a:rPr>
              <a:t>2  Feature engineering</a:t>
            </a:r>
            <a:endParaRPr lang="en-US" sz="1000" dirty="0"/>
          </a:p>
        </p:txBody>
      </p:sp>
      <p:sp>
        <p:nvSpPr>
          <p:cNvPr id="20" name="t-step-3"/>
          <p:cNvSpPr/>
          <p:nvPr/>
        </p:nvSpPr>
        <p:spPr>
          <a:xfrm>
            <a:off x="3348533" y="5440680"/>
            <a:ext cx="1298448" cy="347472"/>
          </a:xfrm>
          <a:prstGeom prst="roundRect">
            <a:avLst>
              <a:gd name="adj" fmla="val 50000"/>
            </a:avLst>
          </a:prstGeom>
          <a:solidFill>
            <a:srgbClr val="1E3D5A"/>
          </a:solidFill>
          <a:ln w="9525">
            <a:solidFill>
              <a:srgbClr val="0F7C7A"/>
            </a:solidFill>
          </a:ln>
        </p:spPr>
        <p:txBody>
          <a:bodyPr wrap="square" lIns="0" tIns="0" rIns="0" bIns="0" rtlCol="0" anchor="ctr"/>
          <a:lstStyle/>
          <a:p>
            <a:pPr marL="0" indent="0" algn="ctr">
              <a:buNone/>
            </a:pPr>
            <a:r>
              <a:rPr lang="en-US" sz="1000" dirty="0">
                <a:solidFill>
                  <a:schemeClr val="bg1"/>
                </a:solidFill>
              </a:rPr>
              <a:t>3  Feature Store</a:t>
            </a:r>
            <a:endParaRPr lang="en-US" sz="1000" dirty="0"/>
          </a:p>
        </p:txBody>
      </p:sp>
      <p:sp>
        <p:nvSpPr>
          <p:cNvPr id="21" name="t-step-4"/>
          <p:cNvSpPr/>
          <p:nvPr/>
        </p:nvSpPr>
        <p:spPr>
          <a:xfrm>
            <a:off x="4748479" y="5440680"/>
            <a:ext cx="1298448" cy="347472"/>
          </a:xfrm>
          <a:prstGeom prst="roundRect">
            <a:avLst>
              <a:gd name="adj" fmla="val 50000"/>
            </a:avLst>
          </a:prstGeom>
          <a:solidFill>
            <a:srgbClr val="1E3D5A"/>
          </a:solidFill>
          <a:ln w="9525">
            <a:solidFill>
              <a:srgbClr val="0F7C7A"/>
            </a:solidFill>
          </a:ln>
        </p:spPr>
        <p:txBody>
          <a:bodyPr wrap="square" lIns="0" tIns="0" rIns="0" bIns="0" rtlCol="0" anchor="ctr"/>
          <a:lstStyle/>
          <a:p>
            <a:pPr marL="0" indent="0" algn="ctr">
              <a:buNone/>
            </a:pPr>
            <a:r>
              <a:rPr lang="en-US" sz="1000" dirty="0">
                <a:solidFill>
                  <a:schemeClr val="bg1"/>
                </a:solidFill>
              </a:rPr>
              <a:t>4  Model development</a:t>
            </a:r>
            <a:endParaRPr lang="en-US" sz="1000" dirty="0"/>
          </a:p>
        </p:txBody>
      </p:sp>
      <p:sp>
        <p:nvSpPr>
          <p:cNvPr id="22" name="t-step-5"/>
          <p:cNvSpPr/>
          <p:nvPr/>
        </p:nvSpPr>
        <p:spPr>
          <a:xfrm>
            <a:off x="6148426" y="5440680"/>
            <a:ext cx="1298448" cy="347472"/>
          </a:xfrm>
          <a:prstGeom prst="roundRect">
            <a:avLst>
              <a:gd name="adj" fmla="val 50000"/>
            </a:avLst>
          </a:prstGeom>
          <a:solidFill>
            <a:srgbClr val="1E3D5A"/>
          </a:solidFill>
          <a:ln w="9525">
            <a:solidFill>
              <a:srgbClr val="0F7C7A"/>
            </a:solidFill>
          </a:ln>
        </p:spPr>
        <p:txBody>
          <a:bodyPr wrap="square" lIns="0" tIns="0" rIns="0" bIns="0" rtlCol="0" anchor="ctr"/>
          <a:lstStyle/>
          <a:p>
            <a:pPr marL="0" indent="0" algn="ctr">
              <a:buNone/>
            </a:pPr>
            <a:r>
              <a:rPr lang="en-US" sz="1000" dirty="0">
                <a:solidFill>
                  <a:schemeClr val="bg1"/>
                </a:solidFill>
              </a:rPr>
              <a:t>5  Evaluation</a:t>
            </a:r>
            <a:endParaRPr lang="en-US" sz="1000" dirty="0"/>
          </a:p>
        </p:txBody>
      </p:sp>
      <p:sp>
        <p:nvSpPr>
          <p:cNvPr id="23" name="t-step-6"/>
          <p:cNvSpPr/>
          <p:nvPr/>
        </p:nvSpPr>
        <p:spPr>
          <a:xfrm>
            <a:off x="7548372" y="5440680"/>
            <a:ext cx="1298448" cy="347472"/>
          </a:xfrm>
          <a:prstGeom prst="roundRect">
            <a:avLst>
              <a:gd name="adj" fmla="val 50000"/>
            </a:avLst>
          </a:prstGeom>
          <a:solidFill>
            <a:srgbClr val="1E3D5A"/>
          </a:solidFill>
          <a:ln w="9525">
            <a:solidFill>
              <a:srgbClr val="0F7C7A"/>
            </a:solidFill>
          </a:ln>
        </p:spPr>
        <p:txBody>
          <a:bodyPr wrap="square" lIns="0" tIns="0" rIns="0" bIns="0" rtlCol="0" anchor="ctr"/>
          <a:lstStyle/>
          <a:p>
            <a:pPr marL="0" indent="0" algn="ctr">
              <a:buNone/>
            </a:pPr>
            <a:r>
              <a:rPr lang="en-US" sz="1000" dirty="0">
                <a:solidFill>
                  <a:schemeClr val="bg1"/>
                </a:solidFill>
              </a:rPr>
              <a:t>6  Monitoring &amp; CI/CD</a:t>
            </a:r>
            <a:endParaRPr lang="en-US" sz="1000" dirty="0"/>
          </a:p>
        </p:txBody>
      </p:sp>
      <p:sp>
        <p:nvSpPr>
          <p:cNvPr id="24" name="t-step-7"/>
          <p:cNvSpPr/>
          <p:nvPr/>
        </p:nvSpPr>
        <p:spPr>
          <a:xfrm>
            <a:off x="8948318" y="5440680"/>
            <a:ext cx="1298448" cy="347472"/>
          </a:xfrm>
          <a:prstGeom prst="roundRect">
            <a:avLst>
              <a:gd name="adj" fmla="val 50000"/>
            </a:avLst>
          </a:prstGeom>
          <a:solidFill>
            <a:srgbClr val="1E3D5A"/>
          </a:solidFill>
          <a:ln w="9525">
            <a:solidFill>
              <a:srgbClr val="0F7C7A"/>
            </a:solidFill>
          </a:ln>
        </p:spPr>
        <p:txBody>
          <a:bodyPr wrap="square" lIns="0" tIns="0" rIns="0" bIns="0" rtlCol="0" anchor="ctr"/>
          <a:lstStyle/>
          <a:p>
            <a:pPr marL="0" indent="0" algn="ctr">
              <a:buNone/>
            </a:pPr>
            <a:r>
              <a:rPr lang="en-US" sz="1000" dirty="0">
                <a:solidFill>
                  <a:schemeClr val="bg1"/>
                </a:solidFill>
              </a:rPr>
              <a:t>7  Deployment</a:t>
            </a:r>
            <a:endParaRPr lang="en-US" sz="1000" dirty="0"/>
          </a:p>
        </p:txBody>
      </p:sp>
      <p:sp>
        <p:nvSpPr>
          <p:cNvPr id="25" name="t-step-8"/>
          <p:cNvSpPr/>
          <p:nvPr/>
        </p:nvSpPr>
        <p:spPr>
          <a:xfrm>
            <a:off x="10348265" y="5440680"/>
            <a:ext cx="1298448" cy="347472"/>
          </a:xfrm>
          <a:prstGeom prst="roundRect">
            <a:avLst>
              <a:gd name="adj" fmla="val 50000"/>
            </a:avLst>
          </a:prstGeom>
          <a:solidFill>
            <a:srgbClr val="1E3D5A"/>
          </a:solidFill>
          <a:ln w="9525">
            <a:solidFill>
              <a:srgbClr val="0F7C7A"/>
            </a:solidFill>
          </a:ln>
        </p:spPr>
        <p:txBody>
          <a:bodyPr wrap="square" lIns="0" tIns="0" rIns="0" bIns="0" rtlCol="0" anchor="ctr"/>
          <a:lstStyle/>
          <a:p>
            <a:pPr marL="0" indent="0" algn="ctr">
              <a:buNone/>
            </a:pPr>
            <a:r>
              <a:rPr lang="en-US" sz="1000" dirty="0">
                <a:solidFill>
                  <a:schemeClr val="bg1"/>
                </a:solidFill>
              </a:rPr>
              <a:t>8  RAG inference</a:t>
            </a:r>
            <a:endParaRPr lang="en-US" sz="1000" dirty="0"/>
          </a:p>
        </p:txBody>
      </p:sp>
      <p:sp>
        <p:nvSpPr>
          <p:cNvPr id="26" name="t-foot"/>
          <p:cNvSpPr txBox="1"/>
          <p:nvPr/>
        </p:nvSpPr>
        <p:spPr>
          <a:xfrm>
            <a:off x="548640" y="6263640"/>
            <a:ext cx="9144000" cy="274320"/>
          </a:xfrm>
          <a:prstGeom prst="rect">
            <a:avLst/>
          </a:prstGeom>
          <a:noFill/>
          <a:ln/>
        </p:spPr>
        <p:txBody>
          <a:bodyPr wrap="square" lIns="0" tIns="0" rIns="0" bIns="0" rtlCol="0" anchor="ctr"/>
          <a:lstStyle/>
          <a:p>
            <a:pPr marL="0" indent="0">
              <a:buNone/>
            </a:pPr>
            <a:r>
              <a:rPr lang="en-US" sz="1000" dirty="0">
                <a:solidFill>
                  <a:schemeClr val="accent5"/>
                </a:solidFill>
              </a:rPr>
              <a:t>Source: ML System Design Document, Project Scope and Team Workflows (v1.0)  ·  October 2026</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tepper-line"/>
          <p:cNvSpPr/>
          <p:nvPr/>
        </p:nvSpPr>
        <p:spPr>
          <a:xfrm>
            <a:off x="731520" y="466344"/>
            <a:ext cx="10732313" cy="0"/>
          </a:xfrm>
          <a:prstGeom prst="line">
            <a:avLst/>
          </a:prstGeom>
          <a:noFill/>
          <a:ln w="19050">
            <a:solidFill>
              <a:srgbClr val="BFE3E0"/>
            </a:solidFill>
            <a:prstDash val="solid"/>
          </a:ln>
        </p:spPr>
      </p:sp>
      <p:sp>
        <p:nvSpPr>
          <p:cNvPr id="3" name="step-1"/>
          <p:cNvSpPr/>
          <p:nvPr/>
        </p:nvSpPr>
        <p:spPr>
          <a:xfrm>
            <a:off x="548640" y="292608"/>
            <a:ext cx="1298448" cy="347472"/>
          </a:xfrm>
          <a:prstGeom prst="roundRect">
            <a:avLst>
              <a:gd name="adj" fmla="val 50000"/>
            </a:avLst>
          </a:prstGeom>
          <a:solidFill>
            <a:schemeClr val="bg2"/>
          </a:solidFill>
          <a:ln w="9525">
            <a:solidFill>
              <a:srgbClr val="EEF3F7"/>
            </a:solidFill>
          </a:ln>
        </p:spPr>
        <p:txBody>
          <a:bodyPr wrap="square" lIns="0" tIns="0" rIns="0" bIns="0" rtlCol="0" anchor="ctr"/>
          <a:lstStyle/>
          <a:p>
            <a:pPr marL="0" indent="0" algn="ctr">
              <a:buNone/>
            </a:pPr>
            <a:r>
              <a:rPr lang="en-US" sz="1000" dirty="0">
                <a:solidFill>
                  <a:schemeClr val="tx2"/>
                </a:solidFill>
              </a:rPr>
              <a:t>1  Data collection</a:t>
            </a:r>
            <a:endParaRPr lang="en-US" sz="1000" dirty="0"/>
          </a:p>
        </p:txBody>
      </p:sp>
      <p:sp>
        <p:nvSpPr>
          <p:cNvPr id="4" name="step-2"/>
          <p:cNvSpPr/>
          <p:nvPr/>
        </p:nvSpPr>
        <p:spPr>
          <a:xfrm>
            <a:off x="1948586" y="292608"/>
            <a:ext cx="1298448" cy="347472"/>
          </a:xfrm>
          <a:prstGeom prst="roundRect">
            <a:avLst>
              <a:gd name="adj" fmla="val 50000"/>
            </a:avLst>
          </a:prstGeom>
          <a:solidFill>
            <a:schemeClr val="bg2"/>
          </a:solidFill>
          <a:ln w="9525">
            <a:solidFill>
              <a:srgbClr val="EEF3F7"/>
            </a:solidFill>
          </a:ln>
        </p:spPr>
        <p:txBody>
          <a:bodyPr wrap="square" lIns="0" tIns="0" rIns="0" bIns="0" rtlCol="0" anchor="ctr"/>
          <a:lstStyle/>
          <a:p>
            <a:pPr marL="0" indent="0" algn="ctr">
              <a:buNone/>
            </a:pPr>
            <a:r>
              <a:rPr lang="en-US" sz="1000" dirty="0">
                <a:solidFill>
                  <a:schemeClr val="tx2"/>
                </a:solidFill>
              </a:rPr>
              <a:t>2  Feature engineering</a:t>
            </a:r>
            <a:endParaRPr lang="en-US" sz="1000" dirty="0"/>
          </a:p>
        </p:txBody>
      </p:sp>
      <p:sp>
        <p:nvSpPr>
          <p:cNvPr id="5" name="step-3"/>
          <p:cNvSpPr/>
          <p:nvPr/>
        </p:nvSpPr>
        <p:spPr>
          <a:xfrm>
            <a:off x="3348533" y="292608"/>
            <a:ext cx="1298448" cy="347472"/>
          </a:xfrm>
          <a:prstGeom prst="roundRect">
            <a:avLst>
              <a:gd name="adj" fmla="val 50000"/>
            </a:avLst>
          </a:prstGeom>
          <a:solidFill>
            <a:schemeClr val="bg2"/>
          </a:solidFill>
          <a:ln w="9525">
            <a:solidFill>
              <a:srgbClr val="EEF3F7"/>
            </a:solidFill>
          </a:ln>
        </p:spPr>
        <p:txBody>
          <a:bodyPr wrap="square" lIns="0" tIns="0" rIns="0" bIns="0" rtlCol="0" anchor="ctr"/>
          <a:lstStyle/>
          <a:p>
            <a:pPr marL="0" indent="0" algn="ctr">
              <a:buNone/>
            </a:pPr>
            <a:r>
              <a:rPr lang="en-US" sz="1000" dirty="0">
                <a:solidFill>
                  <a:schemeClr val="tx2"/>
                </a:solidFill>
              </a:rPr>
              <a:t>3  Feature Store</a:t>
            </a:r>
            <a:endParaRPr lang="en-US" sz="1000" dirty="0"/>
          </a:p>
        </p:txBody>
      </p:sp>
      <p:sp>
        <p:nvSpPr>
          <p:cNvPr id="6" name="step-4"/>
          <p:cNvSpPr/>
          <p:nvPr/>
        </p:nvSpPr>
        <p:spPr>
          <a:xfrm>
            <a:off x="4748479" y="292608"/>
            <a:ext cx="1298448" cy="347472"/>
          </a:xfrm>
          <a:prstGeom prst="roundRect">
            <a:avLst>
              <a:gd name="adj" fmla="val 50000"/>
            </a:avLst>
          </a:prstGeom>
          <a:solidFill>
            <a:schemeClr val="bg2"/>
          </a:solidFill>
          <a:ln w="9525">
            <a:solidFill>
              <a:srgbClr val="EEF3F7"/>
            </a:solidFill>
          </a:ln>
        </p:spPr>
        <p:txBody>
          <a:bodyPr wrap="square" lIns="0" tIns="0" rIns="0" bIns="0" rtlCol="0" anchor="ctr"/>
          <a:lstStyle/>
          <a:p>
            <a:pPr marL="0" indent="0" algn="ctr">
              <a:buNone/>
            </a:pPr>
            <a:r>
              <a:rPr lang="en-US" sz="1000" dirty="0">
                <a:solidFill>
                  <a:schemeClr val="tx2"/>
                </a:solidFill>
              </a:rPr>
              <a:t>4  Model development</a:t>
            </a:r>
            <a:endParaRPr lang="en-US" sz="1000" dirty="0"/>
          </a:p>
        </p:txBody>
      </p:sp>
      <p:sp>
        <p:nvSpPr>
          <p:cNvPr id="7" name="step-5"/>
          <p:cNvSpPr/>
          <p:nvPr/>
        </p:nvSpPr>
        <p:spPr>
          <a:xfrm>
            <a:off x="6148426" y="292608"/>
            <a:ext cx="1298448" cy="347472"/>
          </a:xfrm>
          <a:prstGeom prst="roundRect">
            <a:avLst>
              <a:gd name="adj" fmla="val 50000"/>
            </a:avLst>
          </a:prstGeom>
          <a:solidFill>
            <a:schemeClr val="bg2"/>
          </a:solidFill>
          <a:ln w="9525">
            <a:solidFill>
              <a:srgbClr val="EEF3F7"/>
            </a:solidFill>
          </a:ln>
        </p:spPr>
        <p:txBody>
          <a:bodyPr wrap="square" lIns="0" tIns="0" rIns="0" bIns="0" rtlCol="0" anchor="ctr"/>
          <a:lstStyle/>
          <a:p>
            <a:pPr marL="0" indent="0" algn="ctr">
              <a:buNone/>
            </a:pPr>
            <a:r>
              <a:rPr lang="en-US" sz="1000" dirty="0">
                <a:solidFill>
                  <a:schemeClr val="tx2"/>
                </a:solidFill>
              </a:rPr>
              <a:t>5  Evaluation</a:t>
            </a:r>
            <a:endParaRPr lang="en-US" sz="1000" dirty="0"/>
          </a:p>
        </p:txBody>
      </p:sp>
      <p:sp>
        <p:nvSpPr>
          <p:cNvPr id="8" name="step-6"/>
          <p:cNvSpPr/>
          <p:nvPr/>
        </p:nvSpPr>
        <p:spPr>
          <a:xfrm>
            <a:off x="7548372" y="292608"/>
            <a:ext cx="1298448" cy="347472"/>
          </a:xfrm>
          <a:prstGeom prst="roundRect">
            <a:avLst>
              <a:gd name="adj" fmla="val 50000"/>
            </a:avLst>
          </a:prstGeom>
          <a:solidFill>
            <a:schemeClr val="bg2"/>
          </a:solidFill>
          <a:ln w="9525">
            <a:solidFill>
              <a:srgbClr val="EEF3F7"/>
            </a:solidFill>
          </a:ln>
        </p:spPr>
        <p:txBody>
          <a:bodyPr wrap="square" lIns="0" tIns="0" rIns="0" bIns="0" rtlCol="0" anchor="ctr"/>
          <a:lstStyle/>
          <a:p>
            <a:pPr marL="0" indent="0" algn="ctr">
              <a:buNone/>
            </a:pPr>
            <a:r>
              <a:rPr lang="en-US" sz="1000" dirty="0">
                <a:solidFill>
                  <a:schemeClr val="tx2"/>
                </a:solidFill>
              </a:rPr>
              <a:t>6  Monitoring &amp; CI/CD</a:t>
            </a:r>
            <a:endParaRPr lang="en-US" sz="1000" dirty="0"/>
          </a:p>
        </p:txBody>
      </p:sp>
      <p:sp>
        <p:nvSpPr>
          <p:cNvPr id="9" name="step-7"/>
          <p:cNvSpPr/>
          <p:nvPr/>
        </p:nvSpPr>
        <p:spPr>
          <a:xfrm>
            <a:off x="8948318" y="292608"/>
            <a:ext cx="1298448" cy="347472"/>
          </a:xfrm>
          <a:prstGeom prst="roundRect">
            <a:avLst>
              <a:gd name="adj" fmla="val 50000"/>
            </a:avLst>
          </a:prstGeom>
          <a:solidFill>
            <a:schemeClr val="bg2"/>
          </a:solidFill>
          <a:ln w="9525">
            <a:solidFill>
              <a:srgbClr val="EEF3F7"/>
            </a:solidFill>
          </a:ln>
        </p:spPr>
        <p:txBody>
          <a:bodyPr wrap="square" lIns="0" tIns="0" rIns="0" bIns="0" rtlCol="0" anchor="ctr"/>
          <a:lstStyle/>
          <a:p>
            <a:pPr marL="0" indent="0" algn="ctr">
              <a:buNone/>
            </a:pPr>
            <a:r>
              <a:rPr lang="en-US" sz="1000" dirty="0">
                <a:solidFill>
                  <a:schemeClr val="tx2"/>
                </a:solidFill>
              </a:rPr>
              <a:t>7  Deployment</a:t>
            </a:r>
            <a:endParaRPr lang="en-US" sz="1000" dirty="0"/>
          </a:p>
        </p:txBody>
      </p:sp>
      <p:sp>
        <p:nvSpPr>
          <p:cNvPr id="10" name="step-8"/>
          <p:cNvSpPr/>
          <p:nvPr/>
        </p:nvSpPr>
        <p:spPr>
          <a:xfrm>
            <a:off x="10348265" y="292608"/>
            <a:ext cx="1298448" cy="347472"/>
          </a:xfrm>
          <a:prstGeom prst="roundRect">
            <a:avLst>
              <a:gd name="adj" fmla="val 50000"/>
            </a:avLst>
          </a:prstGeom>
          <a:solidFill>
            <a:schemeClr val="bg2"/>
          </a:solidFill>
          <a:ln w="9525">
            <a:solidFill>
              <a:srgbClr val="EEF3F7"/>
            </a:solidFill>
          </a:ln>
        </p:spPr>
        <p:txBody>
          <a:bodyPr wrap="square" lIns="0" tIns="0" rIns="0" bIns="0" rtlCol="0" anchor="ctr"/>
          <a:lstStyle/>
          <a:p>
            <a:pPr marL="0" indent="0" algn="ctr">
              <a:buNone/>
            </a:pPr>
            <a:r>
              <a:rPr lang="en-US" sz="1000" dirty="0">
                <a:solidFill>
                  <a:schemeClr val="tx2"/>
                </a:solidFill>
              </a:rPr>
              <a:t>8  RAG inference</a:t>
            </a:r>
            <a:endParaRPr lang="en-US" sz="1000" dirty="0"/>
          </a:p>
        </p:txBody>
      </p:sp>
      <p:sp>
        <p:nvSpPr>
          <p:cNvPr id="11" name="Text 1"/>
          <p:cNvSpPr>
            <a:spLocks noGrp="1"/>
          </p:cNvSpPr>
          <p:nvPr>
            <p:ph type="body" idx="101" hasCustomPrompt="1"/>
          </p:nvPr>
        </p:nvSpPr>
        <p:spPr>
          <a:xfrm>
            <a:off x="548640" y="868680"/>
            <a:ext cx="10972800" cy="292608"/>
          </a:xfrm>
          <a:prstGeom prst="rect">
            <a:avLst/>
          </a:prstGeom>
          <a:noFill/>
          <a:ln/>
        </p:spPr>
        <p:txBody>
          <a:bodyPr wrap="square" lIns="0" tIns="0" rIns="0" bIns="0" rtlCol="0" anchor="ctr"/>
          <a:lstStyle/>
          <a:p>
            <a:pPr marL="0" indent="0">
              <a:buNone/>
            </a:pPr>
            <a:r>
              <a:rPr lang="en-US" sz="1200" b="1" dirty="0">
                <a:solidFill>
                  <a:schemeClr val="accent1"/>
                </a:solidFill>
              </a:rPr>
              <a:t>PROBLEM STATEMENT  ·  Business need, technical problem, and the ML approach</a:t>
            </a:r>
            <a:endParaRPr lang="en-US" sz="1200" dirty="0"/>
          </a:p>
        </p:txBody>
      </p:sp>
      <p:sp>
        <p:nvSpPr>
          <p:cNvPr id="12" name="Text 1"/>
          <p:cNvSpPr>
            <a:spLocks noGrp="1"/>
          </p:cNvSpPr>
          <p:nvPr>
            <p:ph type="title" idx="102" hasCustomPrompt="1"/>
          </p:nvPr>
        </p:nvSpPr>
        <p:spPr>
          <a:xfrm>
            <a:off x="548640" y="1161288"/>
            <a:ext cx="11064240" cy="685800"/>
          </a:xfrm>
          <a:prstGeom prst="rect">
            <a:avLst/>
          </a:prstGeom>
          <a:noFill/>
          <a:ln/>
        </p:spPr>
        <p:txBody>
          <a:bodyPr wrap="square" lIns="0" tIns="0" rIns="0" bIns="0" rtlCol="0" anchor="ctr"/>
          <a:lstStyle/>
          <a:p>
            <a:pPr marL="0" indent="0" algn="l">
              <a:buNone/>
            </a:pPr>
            <a:r>
              <a:rPr lang="en-US" sz="3000" b="1" dirty="0">
                <a:solidFill>
                  <a:schemeClr val="tx2"/>
                </a:solidFill>
                <a:latin typeface="Cambria" pitchFamily="34" charset="0"/>
                <a:ea typeface="Cambria" pitchFamily="34" charset="-122"/>
                <a:cs typeface="Cambria" pitchFamily="34" charset="-120"/>
              </a:rPr>
              <a:t>Problem: shoppers need fast, trustworthy product answers</a:t>
            </a:r>
            <a:endParaRPr lang="en-US" sz="3000" dirty="0"/>
          </a:p>
        </p:txBody>
      </p:sp>
      <p:sp>
        <p:nvSpPr>
          <p:cNvPr id="14" name="p-card-0"/>
          <p:cNvSpPr/>
          <p:nvPr/>
        </p:nvSpPr>
        <p:spPr>
          <a:xfrm>
            <a:off x="548640" y="2103120"/>
            <a:ext cx="3154680" cy="3474720"/>
          </a:xfrm>
          <a:prstGeom prst="roundRect">
            <a:avLst>
              <a:gd name="adj" fmla="val 3478"/>
            </a:avLst>
          </a:prstGeom>
          <a:solidFill>
            <a:srgbClr val="EEF3F7"/>
          </a:solidFill>
          <a:ln w="9525">
            <a:solidFill>
              <a:srgbClr val="EEF3F7"/>
            </a:solidFill>
            <a:prstDash val="solid"/>
          </a:ln>
        </p:spPr>
      </p:sp>
      <p:sp>
        <p:nvSpPr>
          <p:cNvPr id="15" name="p-0-circle"/>
          <p:cNvSpPr/>
          <p:nvPr/>
        </p:nvSpPr>
        <p:spPr>
          <a:xfrm>
            <a:off x="777240" y="2286000"/>
            <a:ext cx="548640" cy="548640"/>
          </a:xfrm>
          <a:prstGeom prst="ellipse">
            <a:avLst/>
          </a:prstGeom>
          <a:solidFill>
            <a:srgbClr val="E8A33D"/>
          </a:solidFill>
          <a:ln/>
        </p:spPr>
      </p:sp>
      <p:pic>
        <p:nvPicPr>
          <p:cNvPr id="16" name="p-0-icon" descr="preencoded.png"/>
          <p:cNvPicPr>
            <a:picLocks noChangeAspect="1"/>
          </p:cNvPicPr>
          <p:nvPr/>
        </p:nvPicPr>
        <p:blipFill>
          <a:blip r:embed="rId3"/>
          <a:stretch>
            <a:fillRect/>
          </a:stretch>
        </p:blipFill>
        <p:spPr>
          <a:xfrm>
            <a:off x="897941" y="2406701"/>
            <a:ext cx="307238" cy="307238"/>
          </a:xfrm>
          <a:prstGeom prst="rect">
            <a:avLst/>
          </a:prstGeom>
        </p:spPr>
      </p:pic>
      <p:sp>
        <p:nvSpPr>
          <p:cNvPr id="17" name="p-t0"/>
          <p:cNvSpPr txBox="1"/>
          <p:nvPr/>
        </p:nvSpPr>
        <p:spPr>
          <a:xfrm>
            <a:off x="1463040" y="2286000"/>
            <a:ext cx="2148840" cy="548640"/>
          </a:xfrm>
          <a:prstGeom prst="rect">
            <a:avLst/>
          </a:prstGeom>
          <a:noFill/>
          <a:ln/>
        </p:spPr>
        <p:txBody>
          <a:bodyPr wrap="square" lIns="0" tIns="0" rIns="0" bIns="0" rtlCol="0" anchor="ctr"/>
          <a:lstStyle/>
          <a:p>
            <a:pPr marL="0" indent="0">
              <a:buNone/>
            </a:pPr>
            <a:r>
              <a:rPr lang="en-US" sz="1700" b="1" dirty="0">
                <a:solidFill>
                  <a:schemeClr val="tx2"/>
                </a:solidFill>
              </a:rPr>
              <a:t>Business problem</a:t>
            </a:r>
            <a:endParaRPr lang="en-US" sz="1700" dirty="0"/>
          </a:p>
        </p:txBody>
      </p:sp>
      <p:sp>
        <p:nvSpPr>
          <p:cNvPr id="18" name="p-l0"/>
          <p:cNvSpPr txBox="1"/>
          <p:nvPr/>
        </p:nvSpPr>
        <p:spPr>
          <a:xfrm>
            <a:off x="777240" y="3017520"/>
            <a:ext cx="2788920" cy="256032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chemeClr val="tx1"/>
                </a:solidFill>
              </a:rPr>
              <a:t>Shoppers ask product-specific questions before buying</a:t>
            </a:r>
            <a:endParaRPr lang="en-US" sz="1300" dirty="0"/>
          </a:p>
          <a:p>
            <a:pPr marL="342900" indent="-342900">
              <a:spcAft>
                <a:spcPts val="600"/>
              </a:spcAft>
              <a:buSzPct val="100000"/>
              <a:buChar char="•"/>
            </a:pPr>
            <a:r>
              <a:rPr lang="en-US" sz="1300" dirty="0">
                <a:solidFill>
                  <a:schemeClr val="tx1"/>
                </a:solidFill>
              </a:rPr>
              <a:t>Answers are scattered across reviews, Q&amp;A, bullets and descriptions</a:t>
            </a:r>
            <a:endParaRPr lang="en-US" sz="1300" dirty="0"/>
          </a:p>
          <a:p>
            <a:pPr marL="342900" indent="-342900">
              <a:spcAft>
                <a:spcPts val="600"/>
              </a:spcAft>
              <a:buSzPct val="100000"/>
              <a:buChar char="•"/>
            </a:pPr>
            <a:r>
              <a:rPr lang="en-US" sz="1300" dirty="0">
                <a:solidFill>
                  <a:schemeClr val="tx1"/>
                </a:solidFill>
              </a:rPr>
              <a:t>Slow or wrong answers cost conversions and add support load</a:t>
            </a:r>
            <a:endParaRPr lang="en-US" sz="1300" dirty="0"/>
          </a:p>
          <a:p>
            <a:pPr marL="342900" indent="-342900">
              <a:spcAft>
                <a:spcPts val="600"/>
              </a:spcAft>
              <a:buSzPct val="100000"/>
              <a:buChar char="•"/>
            </a:pPr>
            <a:r>
              <a:rPr lang="en-US" sz="1300" dirty="0">
                <a:solidFill>
                  <a:schemeClr val="tx1"/>
                </a:solidFill>
              </a:rPr>
              <a:t>Ungrounded chatbot answers risk hallucination</a:t>
            </a:r>
            <a:endParaRPr lang="en-US" sz="1300" dirty="0"/>
          </a:p>
        </p:txBody>
      </p:sp>
      <p:sp>
        <p:nvSpPr>
          <p:cNvPr id="19" name="p-card-1"/>
          <p:cNvSpPr/>
          <p:nvPr/>
        </p:nvSpPr>
        <p:spPr>
          <a:xfrm>
            <a:off x="3886200" y="2103120"/>
            <a:ext cx="3154680" cy="3474720"/>
          </a:xfrm>
          <a:prstGeom prst="roundRect">
            <a:avLst>
              <a:gd name="adj" fmla="val 3478"/>
            </a:avLst>
          </a:prstGeom>
          <a:solidFill>
            <a:srgbClr val="EEF3F7"/>
          </a:solidFill>
          <a:ln w="9525">
            <a:solidFill>
              <a:srgbClr val="EEF3F7"/>
            </a:solidFill>
            <a:prstDash val="solid"/>
          </a:ln>
        </p:spPr>
      </p:sp>
      <p:sp>
        <p:nvSpPr>
          <p:cNvPr id="20" name="p-1-circle"/>
          <p:cNvSpPr/>
          <p:nvPr/>
        </p:nvSpPr>
        <p:spPr>
          <a:xfrm>
            <a:off x="4114800" y="2286000"/>
            <a:ext cx="548640" cy="548640"/>
          </a:xfrm>
          <a:prstGeom prst="ellipse">
            <a:avLst/>
          </a:prstGeom>
          <a:solidFill>
            <a:srgbClr val="627D98"/>
          </a:solidFill>
          <a:ln/>
        </p:spPr>
      </p:sp>
      <p:pic>
        <p:nvPicPr>
          <p:cNvPr id="21" name="p-1-icon" descr="preencoded.png"/>
          <p:cNvPicPr>
            <a:picLocks noChangeAspect="1"/>
          </p:cNvPicPr>
          <p:nvPr/>
        </p:nvPicPr>
        <p:blipFill>
          <a:blip r:embed="rId4"/>
          <a:stretch>
            <a:fillRect/>
          </a:stretch>
        </p:blipFill>
        <p:spPr>
          <a:xfrm>
            <a:off x="4235501" y="2406701"/>
            <a:ext cx="307238" cy="307238"/>
          </a:xfrm>
          <a:prstGeom prst="rect">
            <a:avLst/>
          </a:prstGeom>
        </p:spPr>
      </p:pic>
      <p:sp>
        <p:nvSpPr>
          <p:cNvPr id="22" name="p-t1"/>
          <p:cNvSpPr txBox="1"/>
          <p:nvPr/>
        </p:nvSpPr>
        <p:spPr>
          <a:xfrm>
            <a:off x="4800600" y="2286000"/>
            <a:ext cx="2148840" cy="548640"/>
          </a:xfrm>
          <a:prstGeom prst="rect">
            <a:avLst/>
          </a:prstGeom>
          <a:noFill/>
          <a:ln/>
        </p:spPr>
        <p:txBody>
          <a:bodyPr wrap="square" lIns="0" tIns="0" rIns="0" bIns="0" rtlCol="0" anchor="ctr"/>
          <a:lstStyle/>
          <a:p>
            <a:pPr marL="0" indent="0">
              <a:buNone/>
            </a:pPr>
            <a:r>
              <a:rPr lang="en-US" sz="1700" b="1" dirty="0">
                <a:solidFill>
                  <a:schemeClr val="tx2"/>
                </a:solidFill>
              </a:rPr>
              <a:t>Technical problem</a:t>
            </a:r>
            <a:endParaRPr lang="en-US" sz="1700" dirty="0"/>
          </a:p>
        </p:txBody>
      </p:sp>
      <p:sp>
        <p:nvSpPr>
          <p:cNvPr id="23" name="p-l1"/>
          <p:cNvSpPr txBox="1"/>
          <p:nvPr/>
        </p:nvSpPr>
        <p:spPr>
          <a:xfrm>
            <a:off x="4114800" y="3017520"/>
            <a:ext cx="2788920" cy="256032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chemeClr val="tx1"/>
                </a:solidFill>
              </a:rPr>
              <a:t>Input: product ASIN + English question</a:t>
            </a:r>
            <a:endParaRPr lang="en-US" sz="1300" dirty="0"/>
          </a:p>
          <a:p>
            <a:pPr marL="342900" indent="-342900">
              <a:spcAft>
                <a:spcPts val="600"/>
              </a:spcAft>
              <a:buSzPct val="100000"/>
              <a:buChar char="•"/>
            </a:pPr>
            <a:r>
              <a:rPr lang="en-US" sz="1300" dirty="0">
                <a:solidFill>
                  <a:schemeClr val="tx1"/>
                </a:solidFill>
              </a:rPr>
              <a:t>Rank ~10 mixed-source candidates into 3 relevance levels</a:t>
            </a:r>
            <a:endParaRPr lang="en-US" sz="1300" dirty="0"/>
          </a:p>
          <a:p>
            <a:pPr marL="342900" indent="-342900">
              <a:spcAft>
                <a:spcPts val="600"/>
              </a:spcAft>
              <a:buSzPct val="100000"/>
              <a:buChar char="•"/>
            </a:pPr>
            <a:r>
              <a:rPr lang="en-US" sz="1300" dirty="0">
                <a:solidFill>
                  <a:schemeClr val="tx1"/>
                </a:solidFill>
              </a:rPr>
              <a:t>Imbalanced labels: 66% irrelevant</a:t>
            </a:r>
            <a:endParaRPr lang="en-US" sz="1300" dirty="0"/>
          </a:p>
          <a:p>
            <a:pPr marL="342900" indent="-342900">
              <a:spcAft>
                <a:spcPts val="600"/>
              </a:spcAft>
              <a:buSzPct val="100000"/>
              <a:buChar char="•"/>
            </a:pPr>
            <a:r>
              <a:rPr lang="en-US" sz="1300" dirty="0">
                <a:solidFill>
                  <a:schemeClr val="tx1"/>
                </a:solidFill>
              </a:rPr>
              <a:t>Abstain when evidence is weak; CPU-first, $100 budget</a:t>
            </a:r>
            <a:endParaRPr lang="en-US" sz="1300" dirty="0"/>
          </a:p>
        </p:txBody>
      </p:sp>
      <p:sp>
        <p:nvSpPr>
          <p:cNvPr id="24" name="ml-h"/>
          <p:cNvSpPr txBox="1"/>
          <p:nvPr/>
        </p:nvSpPr>
        <p:spPr>
          <a:xfrm>
            <a:off x="7452360" y="2103120"/>
            <a:ext cx="4206240" cy="365760"/>
          </a:xfrm>
          <a:prstGeom prst="rect">
            <a:avLst/>
          </a:prstGeom>
          <a:noFill/>
          <a:ln/>
        </p:spPr>
        <p:txBody>
          <a:bodyPr wrap="square" lIns="0" tIns="0" rIns="0" bIns="0" rtlCol="0" anchor="ctr"/>
          <a:lstStyle/>
          <a:p>
            <a:pPr marL="0" indent="0">
              <a:buNone/>
            </a:pPr>
            <a:r>
              <a:rPr lang="en-US" sz="1700" b="1" dirty="0">
                <a:solidFill>
                  <a:schemeClr val="tx2"/>
                </a:solidFill>
              </a:rPr>
              <a:t>How ML solves it</a:t>
            </a:r>
            <a:endParaRPr lang="en-US" sz="1700" dirty="0"/>
          </a:p>
        </p:txBody>
      </p:sp>
      <p:sp>
        <p:nvSpPr>
          <p:cNvPr id="25" name="ml-0-circle"/>
          <p:cNvSpPr/>
          <p:nvPr/>
        </p:nvSpPr>
        <p:spPr>
          <a:xfrm>
            <a:off x="7452360" y="2606040"/>
            <a:ext cx="502920" cy="502920"/>
          </a:xfrm>
          <a:prstGeom prst="ellipse">
            <a:avLst/>
          </a:prstGeom>
          <a:solidFill>
            <a:srgbClr val="102A43"/>
          </a:solidFill>
          <a:ln/>
        </p:spPr>
      </p:sp>
      <p:pic>
        <p:nvPicPr>
          <p:cNvPr id="26" name="ml-0-icon" descr="preencoded.png"/>
          <p:cNvPicPr>
            <a:picLocks noChangeAspect="1"/>
          </p:cNvPicPr>
          <p:nvPr/>
        </p:nvPicPr>
        <p:blipFill>
          <a:blip r:embed="rId5"/>
          <a:stretch>
            <a:fillRect/>
          </a:stretch>
        </p:blipFill>
        <p:spPr>
          <a:xfrm>
            <a:off x="7563002" y="2716682"/>
            <a:ext cx="281635" cy="281635"/>
          </a:xfrm>
          <a:prstGeom prst="rect">
            <a:avLst/>
          </a:prstGeom>
        </p:spPr>
      </p:pic>
      <p:sp>
        <p:nvSpPr>
          <p:cNvPr id="27" name="ml-t0"/>
          <p:cNvSpPr txBox="1"/>
          <p:nvPr/>
        </p:nvSpPr>
        <p:spPr>
          <a:xfrm>
            <a:off x="8092440" y="2514600"/>
            <a:ext cx="3566160" cy="685800"/>
          </a:xfrm>
          <a:prstGeom prst="rect">
            <a:avLst/>
          </a:prstGeom>
          <a:noFill/>
          <a:ln/>
        </p:spPr>
        <p:txBody>
          <a:bodyPr wrap="square" lIns="0" tIns="0" rIns="0" bIns="0" rtlCol="0" anchor="ctr"/>
          <a:lstStyle/>
          <a:p>
            <a:pPr marL="0" indent="0">
              <a:buNone/>
            </a:pPr>
            <a:r>
              <a:rPr lang="en-US" sz="1300" b="1" dirty="0">
                <a:solidFill>
                  <a:srgbClr val="102A43"/>
                </a:solidFill>
              </a:rPr>
              <a:t>1  Retrieve</a:t>
            </a:r>
            <a:endParaRPr lang="en-US" sz="1300" dirty="0"/>
          </a:p>
          <a:p>
            <a:pPr marL="0" indent="0">
              <a:buNone/>
            </a:pPr>
            <a:r>
              <a:rPr lang="en-US" sz="1300" dirty="0">
                <a:solidFill>
                  <a:srgbClr val="627D98"/>
                </a:solidFill>
              </a:rPr>
              <a:t>MiniLM embeddings + FAISS, product-scoped</a:t>
            </a:r>
            <a:endParaRPr lang="en-US" sz="1300" dirty="0"/>
          </a:p>
        </p:txBody>
      </p:sp>
      <p:sp>
        <p:nvSpPr>
          <p:cNvPr id="28" name="ml-a0"/>
          <p:cNvSpPr/>
          <p:nvPr/>
        </p:nvSpPr>
        <p:spPr>
          <a:xfrm>
            <a:off x="7703820" y="3127248"/>
            <a:ext cx="0" cy="237744"/>
          </a:xfrm>
          <a:prstGeom prst="line">
            <a:avLst/>
          </a:prstGeom>
          <a:noFill/>
          <a:ln w="15875">
            <a:solidFill>
              <a:srgbClr val="627D98"/>
            </a:solidFill>
            <a:prstDash val="solid"/>
            <a:tailEnd type="triangle"/>
          </a:ln>
        </p:spPr>
      </p:sp>
      <p:sp>
        <p:nvSpPr>
          <p:cNvPr id="29" name="ml-1-circle"/>
          <p:cNvSpPr/>
          <p:nvPr/>
        </p:nvSpPr>
        <p:spPr>
          <a:xfrm>
            <a:off x="7452360" y="3383280"/>
            <a:ext cx="502920" cy="502920"/>
          </a:xfrm>
          <a:prstGeom prst="ellipse">
            <a:avLst/>
          </a:prstGeom>
          <a:solidFill>
            <a:srgbClr val="102A43"/>
          </a:solidFill>
          <a:ln/>
        </p:spPr>
      </p:sp>
      <p:pic>
        <p:nvPicPr>
          <p:cNvPr id="30" name="ml-1-icon" descr="preencoded.png"/>
          <p:cNvPicPr>
            <a:picLocks noChangeAspect="1"/>
          </p:cNvPicPr>
          <p:nvPr/>
        </p:nvPicPr>
        <p:blipFill>
          <a:blip r:embed="rId6"/>
          <a:stretch>
            <a:fillRect/>
          </a:stretch>
        </p:blipFill>
        <p:spPr>
          <a:xfrm>
            <a:off x="7563002" y="3493922"/>
            <a:ext cx="281635" cy="281635"/>
          </a:xfrm>
          <a:prstGeom prst="rect">
            <a:avLst/>
          </a:prstGeom>
        </p:spPr>
      </p:pic>
      <p:sp>
        <p:nvSpPr>
          <p:cNvPr id="31" name="ml-t1"/>
          <p:cNvSpPr txBox="1"/>
          <p:nvPr/>
        </p:nvSpPr>
        <p:spPr>
          <a:xfrm>
            <a:off x="8092440" y="3291840"/>
            <a:ext cx="3566160" cy="685800"/>
          </a:xfrm>
          <a:prstGeom prst="rect">
            <a:avLst/>
          </a:prstGeom>
          <a:noFill/>
          <a:ln/>
        </p:spPr>
        <p:txBody>
          <a:bodyPr wrap="square" lIns="0" tIns="0" rIns="0" bIns="0" rtlCol="0" anchor="ctr"/>
          <a:lstStyle/>
          <a:p>
            <a:pPr marL="0" indent="0">
              <a:buNone/>
            </a:pPr>
            <a:r>
              <a:rPr lang="en-US" sz="1300" b="1" dirty="0">
                <a:solidFill>
                  <a:srgbClr val="102A43"/>
                </a:solidFill>
              </a:rPr>
              <a:t>2  Rank</a:t>
            </a:r>
            <a:endParaRPr lang="en-US" sz="1300" dirty="0"/>
          </a:p>
          <a:p>
            <a:pPr marL="0" indent="0">
              <a:buNone/>
            </a:pPr>
            <a:r>
              <a:rPr lang="en-US" sz="1300" dirty="0">
                <a:solidFill>
                  <a:srgbClr val="627D98"/>
                </a:solidFill>
              </a:rPr>
              <a:t>supervised relevance model on lexical and semantic features</a:t>
            </a:r>
            <a:endParaRPr lang="en-US" sz="1300" dirty="0"/>
          </a:p>
        </p:txBody>
      </p:sp>
      <p:sp>
        <p:nvSpPr>
          <p:cNvPr id="32" name="ml-a1"/>
          <p:cNvSpPr/>
          <p:nvPr/>
        </p:nvSpPr>
        <p:spPr>
          <a:xfrm>
            <a:off x="7703820" y="3904488"/>
            <a:ext cx="0" cy="237744"/>
          </a:xfrm>
          <a:prstGeom prst="line">
            <a:avLst/>
          </a:prstGeom>
          <a:noFill/>
          <a:ln w="15875">
            <a:solidFill>
              <a:srgbClr val="627D98"/>
            </a:solidFill>
            <a:prstDash val="solid"/>
            <a:tailEnd type="triangle"/>
          </a:ln>
        </p:spPr>
      </p:sp>
      <p:sp>
        <p:nvSpPr>
          <p:cNvPr id="33" name="ml-2-circle"/>
          <p:cNvSpPr/>
          <p:nvPr/>
        </p:nvSpPr>
        <p:spPr>
          <a:xfrm>
            <a:off x="7452360" y="4160520"/>
            <a:ext cx="502920" cy="502920"/>
          </a:xfrm>
          <a:prstGeom prst="ellipse">
            <a:avLst/>
          </a:prstGeom>
          <a:solidFill>
            <a:srgbClr val="0F7C7A"/>
          </a:solidFill>
          <a:ln/>
        </p:spPr>
      </p:sp>
      <p:pic>
        <p:nvPicPr>
          <p:cNvPr id="34" name="ml-2-icon" descr="preencoded.png"/>
          <p:cNvPicPr>
            <a:picLocks noChangeAspect="1"/>
          </p:cNvPicPr>
          <p:nvPr/>
        </p:nvPicPr>
        <p:blipFill>
          <a:blip r:embed="rId7"/>
          <a:stretch>
            <a:fillRect/>
          </a:stretch>
        </p:blipFill>
        <p:spPr>
          <a:xfrm>
            <a:off x="7563002" y="4271162"/>
            <a:ext cx="281635" cy="281635"/>
          </a:xfrm>
          <a:prstGeom prst="rect">
            <a:avLst/>
          </a:prstGeom>
        </p:spPr>
      </p:pic>
      <p:sp>
        <p:nvSpPr>
          <p:cNvPr id="35" name="ml-t2"/>
          <p:cNvSpPr txBox="1"/>
          <p:nvPr/>
        </p:nvSpPr>
        <p:spPr>
          <a:xfrm>
            <a:off x="8092440" y="4069080"/>
            <a:ext cx="3566160" cy="685800"/>
          </a:xfrm>
          <a:prstGeom prst="rect">
            <a:avLst/>
          </a:prstGeom>
          <a:noFill/>
          <a:ln/>
        </p:spPr>
        <p:txBody>
          <a:bodyPr wrap="square" lIns="0" tIns="0" rIns="0" bIns="0" rtlCol="0" anchor="ctr"/>
          <a:lstStyle/>
          <a:p>
            <a:pPr marL="0" indent="0">
              <a:buNone/>
            </a:pPr>
            <a:r>
              <a:rPr lang="en-US" sz="1300" b="1" dirty="0">
                <a:solidFill>
                  <a:srgbClr val="102A43"/>
                </a:solidFill>
              </a:rPr>
              <a:t>3  Answer or abstain</a:t>
            </a:r>
            <a:endParaRPr lang="en-US" sz="1300" dirty="0"/>
          </a:p>
          <a:p>
            <a:pPr marL="0" indent="0">
              <a:buNone/>
            </a:pPr>
            <a:r>
              <a:rPr lang="en-US" sz="1300" dirty="0">
                <a:solidFill>
                  <a:srgbClr val="627D98"/>
                </a:solidFill>
              </a:rPr>
              <a:t>best evidence + source + confidence, else no-answer</a:t>
            </a:r>
            <a:endParaRPr lang="en-US" sz="1300" dirty="0"/>
          </a:p>
        </p:txBody>
      </p:sp>
      <p:sp>
        <p:nvSpPr>
          <p:cNvPr id="36" name="ml-a2"/>
          <p:cNvSpPr/>
          <p:nvPr/>
        </p:nvSpPr>
        <p:spPr>
          <a:xfrm>
            <a:off x="7703820" y="4681728"/>
            <a:ext cx="0" cy="237744"/>
          </a:xfrm>
          <a:prstGeom prst="line">
            <a:avLst/>
          </a:prstGeom>
          <a:noFill/>
          <a:ln w="15875">
            <a:solidFill>
              <a:srgbClr val="627D98"/>
            </a:solidFill>
            <a:prstDash val="solid"/>
            <a:tailEnd type="triangle"/>
          </a:ln>
        </p:spPr>
      </p:sp>
      <p:sp>
        <p:nvSpPr>
          <p:cNvPr id="37" name="ml-3-circle"/>
          <p:cNvSpPr/>
          <p:nvPr/>
        </p:nvSpPr>
        <p:spPr>
          <a:xfrm>
            <a:off x="7452360" y="4937760"/>
            <a:ext cx="502920" cy="502920"/>
          </a:xfrm>
          <a:prstGeom prst="ellipse">
            <a:avLst/>
          </a:prstGeom>
          <a:solidFill>
            <a:srgbClr val="102A43"/>
          </a:solidFill>
          <a:ln/>
        </p:spPr>
      </p:sp>
      <p:pic>
        <p:nvPicPr>
          <p:cNvPr id="38" name="ml-3-icon" descr="preencoded.png"/>
          <p:cNvPicPr>
            <a:picLocks noChangeAspect="1"/>
          </p:cNvPicPr>
          <p:nvPr/>
        </p:nvPicPr>
        <p:blipFill>
          <a:blip r:embed="rId8"/>
          <a:stretch>
            <a:fillRect/>
          </a:stretch>
        </p:blipFill>
        <p:spPr>
          <a:xfrm>
            <a:off x="7563002" y="5048402"/>
            <a:ext cx="281635" cy="281635"/>
          </a:xfrm>
          <a:prstGeom prst="rect">
            <a:avLst/>
          </a:prstGeom>
        </p:spPr>
      </p:pic>
      <p:sp>
        <p:nvSpPr>
          <p:cNvPr id="39" name="ml-t3"/>
          <p:cNvSpPr txBox="1"/>
          <p:nvPr/>
        </p:nvSpPr>
        <p:spPr>
          <a:xfrm>
            <a:off x="8092440" y="4846320"/>
            <a:ext cx="3566160" cy="685800"/>
          </a:xfrm>
          <a:prstGeom prst="rect">
            <a:avLst/>
          </a:prstGeom>
          <a:noFill/>
          <a:ln/>
        </p:spPr>
        <p:txBody>
          <a:bodyPr wrap="square" lIns="0" tIns="0" rIns="0" bIns="0" rtlCol="0" anchor="ctr"/>
          <a:lstStyle/>
          <a:p>
            <a:pPr marL="0" indent="0">
              <a:buNone/>
            </a:pPr>
            <a:r>
              <a:rPr lang="en-US" sz="1300" b="1" dirty="0">
                <a:solidFill>
                  <a:srgbClr val="102A43"/>
                </a:solidFill>
              </a:rPr>
              <a:t>4  Operate</a:t>
            </a:r>
            <a:endParaRPr lang="en-US" sz="1300" dirty="0"/>
          </a:p>
          <a:p>
            <a:pPr marL="0" indent="0">
              <a:buNone/>
            </a:pPr>
            <a:r>
              <a:rPr lang="en-US" sz="1300" dirty="0">
                <a:solidFill>
                  <a:srgbClr val="627D98"/>
                </a:solidFill>
              </a:rPr>
              <a:t>monitor drift and quality, retrain behind approval gates</a:t>
            </a:r>
            <a:endParaRPr lang="en-US" sz="1300" dirty="0"/>
          </a:p>
        </p:txBody>
      </p:sp>
      <p:sp>
        <p:nvSpPr>
          <p:cNvPr id="40" name="tg-h"/>
          <p:cNvSpPr txBox="1"/>
          <p:nvPr/>
        </p:nvSpPr>
        <p:spPr>
          <a:xfrm>
            <a:off x="548640" y="5870448"/>
            <a:ext cx="1463040" cy="365760"/>
          </a:xfrm>
          <a:prstGeom prst="rect">
            <a:avLst/>
          </a:prstGeom>
          <a:noFill/>
          <a:ln/>
        </p:spPr>
        <p:txBody>
          <a:bodyPr wrap="square" lIns="0" tIns="0" rIns="0" bIns="0" rtlCol="0" anchor="ctr"/>
          <a:lstStyle/>
          <a:p>
            <a:pPr marL="0" indent="0">
              <a:buNone/>
            </a:pPr>
            <a:r>
              <a:rPr lang="en-US" sz="1300" b="1" dirty="0">
                <a:solidFill>
                  <a:schemeClr val="tx2"/>
                </a:solidFill>
              </a:rPr>
              <a:t>Design targets</a:t>
            </a:r>
            <a:endParaRPr lang="en-US" sz="1300" dirty="0"/>
          </a:p>
        </p:txBody>
      </p:sp>
      <p:sp>
        <p:nvSpPr>
          <p:cNvPr id="41" name="tg-0"/>
          <p:cNvSpPr/>
          <p:nvPr/>
        </p:nvSpPr>
        <p:spPr>
          <a:xfrm>
            <a:off x="2011680" y="5870448"/>
            <a:ext cx="2286000" cy="365760"/>
          </a:xfrm>
          <a:prstGeom prst="roundRect">
            <a:avLst>
              <a:gd name="adj" fmla="val 42500"/>
            </a:avLst>
          </a:prstGeom>
          <a:solidFill>
            <a:schemeClr val="bg2"/>
          </a:solidFill>
          <a:ln/>
        </p:spPr>
        <p:txBody>
          <a:bodyPr wrap="square" lIns="0" tIns="0" rIns="0" bIns="0" rtlCol="0" anchor="ctr"/>
          <a:lstStyle/>
          <a:p>
            <a:pPr marL="0" indent="0" algn="ctr">
              <a:buNone/>
            </a:pPr>
            <a:r>
              <a:rPr lang="en-US" sz="1200" dirty="0">
                <a:solidFill>
                  <a:schemeClr val="tx2"/>
                </a:solidFill>
              </a:rPr>
              <a:t>p95 latency ≤ 2.5 s</a:t>
            </a:r>
            <a:endParaRPr lang="en-US" sz="1200" dirty="0"/>
          </a:p>
        </p:txBody>
      </p:sp>
      <p:sp>
        <p:nvSpPr>
          <p:cNvPr id="42" name="tg-1"/>
          <p:cNvSpPr/>
          <p:nvPr/>
        </p:nvSpPr>
        <p:spPr>
          <a:xfrm>
            <a:off x="4434840" y="5870448"/>
            <a:ext cx="2286000" cy="365760"/>
          </a:xfrm>
          <a:prstGeom prst="roundRect">
            <a:avLst>
              <a:gd name="adj" fmla="val 42500"/>
            </a:avLst>
          </a:prstGeom>
          <a:solidFill>
            <a:schemeClr val="bg2"/>
          </a:solidFill>
          <a:ln/>
        </p:spPr>
        <p:txBody>
          <a:bodyPr wrap="square" lIns="0" tIns="0" rIns="0" bIns="0" rtlCol="0" anchor="ctr"/>
          <a:lstStyle/>
          <a:p>
            <a:pPr marL="0" indent="0" algn="ctr">
              <a:buNone/>
            </a:pPr>
            <a:r>
              <a:rPr lang="en-US" sz="1200" dirty="0">
                <a:solidFill>
                  <a:schemeClr val="tx2"/>
                </a:solidFill>
              </a:rPr>
              <a:t>Unsupported claims ≤ 5%</a:t>
            </a:r>
            <a:endParaRPr lang="en-US" sz="1200" dirty="0"/>
          </a:p>
        </p:txBody>
      </p:sp>
      <p:sp>
        <p:nvSpPr>
          <p:cNvPr id="43" name="tg-2"/>
          <p:cNvSpPr/>
          <p:nvPr/>
        </p:nvSpPr>
        <p:spPr>
          <a:xfrm>
            <a:off x="6858000" y="5870448"/>
            <a:ext cx="2286000" cy="365760"/>
          </a:xfrm>
          <a:prstGeom prst="roundRect">
            <a:avLst>
              <a:gd name="adj" fmla="val 42500"/>
            </a:avLst>
          </a:prstGeom>
          <a:solidFill>
            <a:schemeClr val="accent5"/>
          </a:solidFill>
          <a:ln/>
        </p:spPr>
        <p:txBody>
          <a:bodyPr wrap="square" lIns="0" tIns="0" rIns="0" bIns="0" rtlCol="0" anchor="ctr"/>
          <a:lstStyle/>
          <a:p>
            <a:pPr marL="0" indent="0" algn="ctr">
              <a:buNone/>
            </a:pPr>
            <a:r>
              <a:rPr lang="en-US" sz="1200" dirty="0">
                <a:solidFill>
                  <a:schemeClr val="tx2"/>
                </a:solidFill>
              </a:rPr>
              <a:t>Explicit no-answer below threshold</a:t>
            </a:r>
            <a:endParaRPr lang="en-US" sz="1200" dirty="0"/>
          </a:p>
        </p:txBody>
      </p:sp>
      <p:sp>
        <p:nvSpPr>
          <p:cNvPr id="44" name="tg-3"/>
          <p:cNvSpPr/>
          <p:nvPr/>
        </p:nvSpPr>
        <p:spPr>
          <a:xfrm>
            <a:off x="9281160" y="5870448"/>
            <a:ext cx="2286000" cy="365760"/>
          </a:xfrm>
          <a:prstGeom prst="roundRect">
            <a:avLst>
              <a:gd name="adj" fmla="val 42500"/>
            </a:avLst>
          </a:prstGeom>
          <a:solidFill>
            <a:schemeClr val="bg2"/>
          </a:solidFill>
          <a:ln/>
        </p:spPr>
        <p:txBody>
          <a:bodyPr wrap="square" lIns="0" tIns="0" rIns="0" bIns="0" rtlCol="0" anchor="ctr"/>
          <a:lstStyle/>
          <a:p>
            <a:pPr marL="0" indent="0" algn="ctr">
              <a:buNone/>
            </a:pPr>
            <a:r>
              <a:rPr lang="en-US" sz="1200" dirty="0">
                <a:solidFill>
                  <a:schemeClr val="tx2"/>
                </a:solidFill>
              </a:rPr>
              <a:t>Every answer cites its source</a:t>
            </a:r>
            <a:endParaRPr lang="en-US" sz="1200" dirty="0"/>
          </a:p>
        </p:txBody>
      </p:sp>
      <p:sp>
        <p:nvSpPr>
          <p:cNvPr id="13"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tepper-line"/>
          <p:cNvSpPr/>
          <p:nvPr/>
        </p:nvSpPr>
        <p:spPr>
          <a:xfrm>
            <a:off x="731520" y="466344"/>
            <a:ext cx="10732313" cy="0"/>
          </a:xfrm>
          <a:prstGeom prst="line">
            <a:avLst/>
          </a:prstGeom>
          <a:noFill/>
          <a:ln w="19050">
            <a:solidFill>
              <a:srgbClr val="BFE3E0"/>
            </a:solidFill>
            <a:prstDash val="solid"/>
          </a:ln>
        </p:spPr>
      </p:sp>
      <p:sp>
        <p:nvSpPr>
          <p:cNvPr id="3" name="step-1"/>
          <p:cNvSpPr/>
          <p:nvPr/>
        </p:nvSpPr>
        <p:spPr>
          <a:xfrm>
            <a:off x="548640" y="292608"/>
            <a:ext cx="1298448" cy="347472"/>
          </a:xfrm>
          <a:prstGeom prst="roundRect">
            <a:avLst>
              <a:gd name="adj" fmla="val 50000"/>
            </a:avLst>
          </a:prstGeom>
          <a:solidFill>
            <a:schemeClr val="bg2"/>
          </a:solidFill>
          <a:ln w="9525">
            <a:solidFill>
              <a:srgbClr val="EEF3F7"/>
            </a:solidFill>
          </a:ln>
        </p:spPr>
        <p:txBody>
          <a:bodyPr wrap="square" lIns="0" tIns="0" rIns="0" bIns="0" rtlCol="0" anchor="ctr"/>
          <a:lstStyle/>
          <a:p>
            <a:pPr marL="0" indent="0" algn="ctr">
              <a:buNone/>
            </a:pPr>
            <a:r>
              <a:rPr lang="en-US" sz="1000" dirty="0">
                <a:solidFill>
                  <a:schemeClr val="tx2"/>
                </a:solidFill>
              </a:rPr>
              <a:t>1  Data collection</a:t>
            </a:r>
            <a:endParaRPr lang="en-US" sz="1000" dirty="0"/>
          </a:p>
        </p:txBody>
      </p:sp>
      <p:sp>
        <p:nvSpPr>
          <p:cNvPr id="4" name="step-2"/>
          <p:cNvSpPr/>
          <p:nvPr/>
        </p:nvSpPr>
        <p:spPr>
          <a:xfrm>
            <a:off x="1948586" y="292608"/>
            <a:ext cx="1298448" cy="347472"/>
          </a:xfrm>
          <a:prstGeom prst="roundRect">
            <a:avLst>
              <a:gd name="adj" fmla="val 50000"/>
            </a:avLst>
          </a:prstGeom>
          <a:solidFill>
            <a:schemeClr val="bg2"/>
          </a:solidFill>
          <a:ln w="9525">
            <a:solidFill>
              <a:srgbClr val="EEF3F7"/>
            </a:solidFill>
          </a:ln>
        </p:spPr>
        <p:txBody>
          <a:bodyPr wrap="square" lIns="0" tIns="0" rIns="0" bIns="0" rtlCol="0" anchor="ctr"/>
          <a:lstStyle/>
          <a:p>
            <a:pPr marL="0" indent="0" algn="ctr">
              <a:buNone/>
            </a:pPr>
            <a:r>
              <a:rPr lang="en-US" sz="1000" dirty="0">
                <a:solidFill>
                  <a:schemeClr val="tx2"/>
                </a:solidFill>
              </a:rPr>
              <a:t>2  Feature engineering</a:t>
            </a:r>
            <a:endParaRPr lang="en-US" sz="1000" dirty="0"/>
          </a:p>
        </p:txBody>
      </p:sp>
      <p:sp>
        <p:nvSpPr>
          <p:cNvPr id="5" name="step-3"/>
          <p:cNvSpPr/>
          <p:nvPr/>
        </p:nvSpPr>
        <p:spPr>
          <a:xfrm>
            <a:off x="3348533" y="292608"/>
            <a:ext cx="1298448" cy="347472"/>
          </a:xfrm>
          <a:prstGeom prst="roundRect">
            <a:avLst>
              <a:gd name="adj" fmla="val 50000"/>
            </a:avLst>
          </a:prstGeom>
          <a:solidFill>
            <a:schemeClr val="bg2"/>
          </a:solidFill>
          <a:ln w="9525">
            <a:solidFill>
              <a:srgbClr val="EEF3F7"/>
            </a:solidFill>
          </a:ln>
        </p:spPr>
        <p:txBody>
          <a:bodyPr wrap="square" lIns="0" tIns="0" rIns="0" bIns="0" rtlCol="0" anchor="ctr"/>
          <a:lstStyle/>
          <a:p>
            <a:pPr marL="0" indent="0" algn="ctr">
              <a:buNone/>
            </a:pPr>
            <a:r>
              <a:rPr lang="en-US" sz="1000" dirty="0">
                <a:solidFill>
                  <a:schemeClr val="tx2"/>
                </a:solidFill>
              </a:rPr>
              <a:t>3  Feature Store</a:t>
            </a:r>
            <a:endParaRPr lang="en-US" sz="1000" dirty="0"/>
          </a:p>
        </p:txBody>
      </p:sp>
      <p:sp>
        <p:nvSpPr>
          <p:cNvPr id="6" name="step-4"/>
          <p:cNvSpPr/>
          <p:nvPr/>
        </p:nvSpPr>
        <p:spPr>
          <a:xfrm>
            <a:off x="4748479" y="292608"/>
            <a:ext cx="1298448" cy="347472"/>
          </a:xfrm>
          <a:prstGeom prst="roundRect">
            <a:avLst>
              <a:gd name="adj" fmla="val 50000"/>
            </a:avLst>
          </a:prstGeom>
          <a:solidFill>
            <a:schemeClr val="bg2"/>
          </a:solidFill>
          <a:ln w="9525">
            <a:solidFill>
              <a:srgbClr val="EEF3F7"/>
            </a:solidFill>
          </a:ln>
        </p:spPr>
        <p:txBody>
          <a:bodyPr wrap="square" lIns="0" tIns="0" rIns="0" bIns="0" rtlCol="0" anchor="ctr"/>
          <a:lstStyle/>
          <a:p>
            <a:pPr marL="0" indent="0" algn="ctr">
              <a:buNone/>
            </a:pPr>
            <a:r>
              <a:rPr lang="en-US" sz="1000" dirty="0">
                <a:solidFill>
                  <a:schemeClr val="tx2"/>
                </a:solidFill>
              </a:rPr>
              <a:t>4  Model development</a:t>
            </a:r>
            <a:endParaRPr lang="en-US" sz="1000" dirty="0"/>
          </a:p>
        </p:txBody>
      </p:sp>
      <p:sp>
        <p:nvSpPr>
          <p:cNvPr id="7" name="step-5"/>
          <p:cNvSpPr/>
          <p:nvPr/>
        </p:nvSpPr>
        <p:spPr>
          <a:xfrm>
            <a:off x="6148426" y="292608"/>
            <a:ext cx="1298448" cy="347472"/>
          </a:xfrm>
          <a:prstGeom prst="roundRect">
            <a:avLst>
              <a:gd name="adj" fmla="val 50000"/>
            </a:avLst>
          </a:prstGeom>
          <a:solidFill>
            <a:schemeClr val="bg2"/>
          </a:solidFill>
          <a:ln w="9525">
            <a:solidFill>
              <a:srgbClr val="EEF3F7"/>
            </a:solidFill>
          </a:ln>
        </p:spPr>
        <p:txBody>
          <a:bodyPr wrap="square" lIns="0" tIns="0" rIns="0" bIns="0" rtlCol="0" anchor="ctr"/>
          <a:lstStyle/>
          <a:p>
            <a:pPr marL="0" indent="0" algn="ctr">
              <a:buNone/>
            </a:pPr>
            <a:r>
              <a:rPr lang="en-US" sz="1000" dirty="0">
                <a:solidFill>
                  <a:schemeClr val="tx2"/>
                </a:solidFill>
              </a:rPr>
              <a:t>5  Evaluation</a:t>
            </a:r>
            <a:endParaRPr lang="en-US" sz="1000" dirty="0"/>
          </a:p>
        </p:txBody>
      </p:sp>
      <p:sp>
        <p:nvSpPr>
          <p:cNvPr id="8" name="step-6"/>
          <p:cNvSpPr/>
          <p:nvPr/>
        </p:nvSpPr>
        <p:spPr>
          <a:xfrm>
            <a:off x="7548372" y="292608"/>
            <a:ext cx="1298448" cy="347472"/>
          </a:xfrm>
          <a:prstGeom prst="roundRect">
            <a:avLst>
              <a:gd name="adj" fmla="val 50000"/>
            </a:avLst>
          </a:prstGeom>
          <a:solidFill>
            <a:schemeClr val="bg2"/>
          </a:solidFill>
          <a:ln w="9525">
            <a:solidFill>
              <a:srgbClr val="EEF3F7"/>
            </a:solidFill>
          </a:ln>
        </p:spPr>
        <p:txBody>
          <a:bodyPr wrap="square" lIns="0" tIns="0" rIns="0" bIns="0" rtlCol="0" anchor="ctr"/>
          <a:lstStyle/>
          <a:p>
            <a:pPr marL="0" indent="0" algn="ctr">
              <a:buNone/>
            </a:pPr>
            <a:r>
              <a:rPr lang="en-US" sz="1000" dirty="0">
                <a:solidFill>
                  <a:schemeClr val="tx2"/>
                </a:solidFill>
              </a:rPr>
              <a:t>6  Monitoring &amp; CI/CD</a:t>
            </a:r>
            <a:endParaRPr lang="en-US" sz="1000" dirty="0"/>
          </a:p>
        </p:txBody>
      </p:sp>
      <p:sp>
        <p:nvSpPr>
          <p:cNvPr id="9" name="step-7"/>
          <p:cNvSpPr/>
          <p:nvPr/>
        </p:nvSpPr>
        <p:spPr>
          <a:xfrm>
            <a:off x="8948318" y="292608"/>
            <a:ext cx="1298448" cy="347472"/>
          </a:xfrm>
          <a:prstGeom prst="roundRect">
            <a:avLst>
              <a:gd name="adj" fmla="val 50000"/>
            </a:avLst>
          </a:prstGeom>
          <a:solidFill>
            <a:schemeClr val="bg2"/>
          </a:solidFill>
          <a:ln w="9525">
            <a:solidFill>
              <a:srgbClr val="EEF3F7"/>
            </a:solidFill>
          </a:ln>
        </p:spPr>
        <p:txBody>
          <a:bodyPr wrap="square" lIns="0" tIns="0" rIns="0" bIns="0" rtlCol="0" anchor="ctr"/>
          <a:lstStyle/>
          <a:p>
            <a:pPr marL="0" indent="0" algn="ctr">
              <a:buNone/>
            </a:pPr>
            <a:r>
              <a:rPr lang="en-US" sz="1000" dirty="0">
                <a:solidFill>
                  <a:schemeClr val="tx2"/>
                </a:solidFill>
              </a:rPr>
              <a:t>7  Deployment</a:t>
            </a:r>
            <a:endParaRPr lang="en-US" sz="1000" dirty="0"/>
          </a:p>
        </p:txBody>
      </p:sp>
      <p:sp>
        <p:nvSpPr>
          <p:cNvPr id="10" name="step-8"/>
          <p:cNvSpPr/>
          <p:nvPr/>
        </p:nvSpPr>
        <p:spPr>
          <a:xfrm>
            <a:off x="10348265" y="292608"/>
            <a:ext cx="1298448" cy="347472"/>
          </a:xfrm>
          <a:prstGeom prst="roundRect">
            <a:avLst>
              <a:gd name="adj" fmla="val 50000"/>
            </a:avLst>
          </a:prstGeom>
          <a:solidFill>
            <a:schemeClr val="bg2"/>
          </a:solidFill>
          <a:ln w="9525">
            <a:solidFill>
              <a:srgbClr val="EEF3F7"/>
            </a:solidFill>
          </a:ln>
        </p:spPr>
        <p:txBody>
          <a:bodyPr wrap="square" lIns="0" tIns="0" rIns="0" bIns="0" rtlCol="0" anchor="ctr"/>
          <a:lstStyle/>
          <a:p>
            <a:pPr marL="0" indent="0" algn="ctr">
              <a:buNone/>
            </a:pPr>
            <a:r>
              <a:rPr lang="en-US" sz="1000" dirty="0">
                <a:solidFill>
                  <a:schemeClr val="tx2"/>
                </a:solidFill>
              </a:rPr>
              <a:t>8  RAG inference</a:t>
            </a:r>
            <a:endParaRPr lang="en-US" sz="1000" dirty="0"/>
          </a:p>
        </p:txBody>
      </p:sp>
      <p:sp>
        <p:nvSpPr>
          <p:cNvPr id="11" name="Text 1"/>
          <p:cNvSpPr>
            <a:spLocks noGrp="1"/>
          </p:cNvSpPr>
          <p:nvPr>
            <p:ph type="body" idx="101" hasCustomPrompt="1"/>
          </p:nvPr>
        </p:nvSpPr>
        <p:spPr>
          <a:xfrm>
            <a:off x="548640" y="868680"/>
            <a:ext cx="10972800" cy="292608"/>
          </a:xfrm>
          <a:prstGeom prst="rect">
            <a:avLst/>
          </a:prstGeom>
          <a:noFill/>
          <a:ln/>
        </p:spPr>
        <p:txBody>
          <a:bodyPr wrap="square" lIns="0" tIns="0" rIns="0" bIns="0" rtlCol="0" anchor="ctr"/>
          <a:lstStyle/>
          <a:p>
            <a:pPr marL="0" indent="0">
              <a:buNone/>
            </a:pPr>
            <a:r>
              <a:rPr lang="en-US" sz="1200" b="1" dirty="0">
                <a:solidFill>
                  <a:schemeClr val="accent1"/>
                </a:solidFill>
              </a:rPr>
              <a:t>OVERALL FLOW  ·  Eight phases, six SageMaker notebooks, one receipt chain in S3</a:t>
            </a:r>
            <a:endParaRPr lang="en-US" sz="1200" dirty="0"/>
          </a:p>
        </p:txBody>
      </p:sp>
      <p:sp>
        <p:nvSpPr>
          <p:cNvPr id="12" name="Text 1"/>
          <p:cNvSpPr>
            <a:spLocks noGrp="1"/>
          </p:cNvSpPr>
          <p:nvPr>
            <p:ph type="title" idx="102" hasCustomPrompt="1"/>
          </p:nvPr>
        </p:nvSpPr>
        <p:spPr>
          <a:xfrm>
            <a:off x="548640" y="1161288"/>
            <a:ext cx="11064240" cy="685800"/>
          </a:xfrm>
          <a:prstGeom prst="rect">
            <a:avLst/>
          </a:prstGeom>
          <a:noFill/>
          <a:ln/>
        </p:spPr>
        <p:txBody>
          <a:bodyPr wrap="square" lIns="0" tIns="0" rIns="0" bIns="0" rtlCol="0" anchor="ctr"/>
          <a:lstStyle/>
          <a:p>
            <a:pPr marL="0" indent="0" algn="l">
              <a:buNone/>
            </a:pPr>
            <a:r>
              <a:rPr lang="en-US" sz="3000" b="1" dirty="0">
                <a:solidFill>
                  <a:schemeClr val="tx2"/>
                </a:solidFill>
                <a:latin typeface="Cambria" pitchFamily="34" charset="0"/>
                <a:ea typeface="Cambria" pitchFamily="34" charset="-122"/>
                <a:cs typeface="Cambria" pitchFamily="34" charset="-120"/>
              </a:rPr>
              <a:t>End-to-end flow: from raw data to grounded answers</a:t>
            </a:r>
            <a:endParaRPr lang="en-US" sz="3000" dirty="0"/>
          </a:p>
        </p:txBody>
      </p:sp>
      <p:sp>
        <p:nvSpPr>
          <p:cNvPr id="14" name="box-1"/>
          <p:cNvSpPr/>
          <p:nvPr/>
        </p:nvSpPr>
        <p:spPr>
          <a:xfrm>
            <a:off x="548640" y="2103120"/>
            <a:ext cx="2514600" cy="1463040"/>
          </a:xfrm>
          <a:prstGeom prst="roundRect">
            <a:avLst>
              <a:gd name="adj" fmla="val 7500"/>
            </a:avLst>
          </a:prstGeom>
          <a:solidFill>
            <a:srgbClr val="EEF3F7"/>
          </a:solidFill>
          <a:ln w="12700">
            <a:solidFill>
              <a:srgbClr val="EEF3F7"/>
            </a:solidFill>
            <a:prstDash val="solid"/>
          </a:ln>
        </p:spPr>
      </p:sp>
      <p:sp>
        <p:nvSpPr>
          <p:cNvPr id="15" name="num-1"/>
          <p:cNvSpPr/>
          <p:nvPr/>
        </p:nvSpPr>
        <p:spPr>
          <a:xfrm>
            <a:off x="713232" y="2267712"/>
            <a:ext cx="438912" cy="438912"/>
          </a:xfrm>
          <a:prstGeom prst="ellipse">
            <a:avLst/>
          </a:prstGeom>
          <a:solidFill>
            <a:schemeClr val="tx2"/>
          </a:solidFill>
          <a:ln/>
        </p:spPr>
        <p:txBody>
          <a:bodyPr wrap="square" lIns="0" tIns="0" rIns="0" bIns="0" rtlCol="0" anchor="ctr"/>
          <a:lstStyle/>
          <a:p>
            <a:pPr marL="0" indent="0" algn="ctr">
              <a:buNone/>
            </a:pPr>
            <a:r>
              <a:rPr lang="en-US" sz="1600" b="1" dirty="0">
                <a:solidFill>
                  <a:schemeClr val="bg1"/>
                </a:solidFill>
              </a:rPr>
              <a:t>1</a:t>
            </a:r>
            <a:endParaRPr lang="en-US" sz="1600" dirty="0"/>
          </a:p>
        </p:txBody>
      </p:sp>
      <p:sp>
        <p:nvSpPr>
          <p:cNvPr id="16" name="name-1"/>
          <p:cNvSpPr txBox="1"/>
          <p:nvPr/>
        </p:nvSpPr>
        <p:spPr>
          <a:xfrm>
            <a:off x="1261872" y="2267712"/>
            <a:ext cx="1691640" cy="438912"/>
          </a:xfrm>
          <a:prstGeom prst="rect">
            <a:avLst/>
          </a:prstGeom>
          <a:noFill/>
          <a:ln/>
        </p:spPr>
        <p:txBody>
          <a:bodyPr wrap="square" lIns="0" tIns="0" rIns="0" bIns="0" rtlCol="0" anchor="ctr"/>
          <a:lstStyle/>
          <a:p>
            <a:pPr marL="0" indent="0">
              <a:buNone/>
            </a:pPr>
            <a:r>
              <a:rPr lang="en-US" sz="1500" b="1" dirty="0">
                <a:solidFill>
                  <a:schemeClr val="tx2"/>
                </a:solidFill>
              </a:rPr>
              <a:t>Data collection</a:t>
            </a:r>
            <a:endParaRPr lang="en-US" sz="1500" dirty="0"/>
          </a:p>
        </p:txBody>
      </p:sp>
      <p:sp>
        <p:nvSpPr>
          <p:cNvPr id="17" name="det-1"/>
          <p:cNvSpPr txBox="1"/>
          <p:nvPr/>
        </p:nvSpPr>
        <p:spPr>
          <a:xfrm>
            <a:off x="731520" y="2779776"/>
            <a:ext cx="2194560" cy="502920"/>
          </a:xfrm>
          <a:prstGeom prst="rect">
            <a:avLst/>
          </a:prstGeom>
          <a:noFill/>
          <a:ln/>
        </p:spPr>
        <p:txBody>
          <a:bodyPr wrap="square" lIns="0" tIns="0" rIns="0" bIns="0" rtlCol="0" anchor="t"/>
          <a:lstStyle/>
          <a:p>
            <a:pPr marL="0" indent="0">
              <a:buNone/>
            </a:pPr>
            <a:r>
              <a:rPr lang="en-US" sz="1200" dirty="0">
                <a:solidFill>
                  <a:schemeClr val="tx1"/>
                </a:solidFill>
              </a:rPr>
              <a:t>ePQA → S3 raw / curated</a:t>
            </a:r>
            <a:endParaRPr lang="en-US" sz="1200" dirty="0"/>
          </a:p>
          <a:p>
            <a:pPr marL="0" indent="0">
              <a:buNone/>
            </a:pPr>
            <a:r>
              <a:rPr lang="en-US" sz="1200" dirty="0">
                <a:solidFill>
                  <a:schemeClr val="tx1"/>
                </a:solidFill>
              </a:rPr>
              <a:t>Glue + Athena</a:t>
            </a:r>
            <a:endParaRPr lang="en-US" sz="1200" dirty="0"/>
          </a:p>
        </p:txBody>
      </p:sp>
      <p:sp>
        <p:nvSpPr>
          <p:cNvPr id="18" name="nb-1"/>
          <p:cNvSpPr txBox="1"/>
          <p:nvPr/>
        </p:nvSpPr>
        <p:spPr>
          <a:xfrm>
            <a:off x="731520" y="3291840"/>
            <a:ext cx="2194560" cy="201168"/>
          </a:xfrm>
          <a:prstGeom prst="rect">
            <a:avLst/>
          </a:prstGeom>
          <a:noFill/>
          <a:ln/>
        </p:spPr>
        <p:txBody>
          <a:bodyPr wrap="square" lIns="0" tIns="0" rIns="0" bIns="0" rtlCol="0" anchor="ctr"/>
          <a:lstStyle/>
          <a:p>
            <a:pPr marL="0" indent="0">
              <a:buNone/>
            </a:pPr>
            <a:r>
              <a:rPr lang="en-US" sz="1000" i="1" dirty="0">
                <a:solidFill>
                  <a:schemeClr val="accent4"/>
                </a:solidFill>
              </a:rPr>
              <a:t>DataLake_FeatureStore</a:t>
            </a:r>
            <a:endParaRPr lang="en-US" sz="1000" dirty="0"/>
          </a:p>
        </p:txBody>
      </p:sp>
      <p:sp>
        <p:nvSpPr>
          <p:cNvPr id="19" name="box-2"/>
          <p:cNvSpPr/>
          <p:nvPr/>
        </p:nvSpPr>
        <p:spPr>
          <a:xfrm>
            <a:off x="3429000" y="2103120"/>
            <a:ext cx="2514600" cy="1463040"/>
          </a:xfrm>
          <a:prstGeom prst="roundRect">
            <a:avLst>
              <a:gd name="adj" fmla="val 7500"/>
            </a:avLst>
          </a:prstGeom>
          <a:solidFill>
            <a:srgbClr val="EEF3F7"/>
          </a:solidFill>
          <a:ln w="12700">
            <a:solidFill>
              <a:srgbClr val="EEF3F7"/>
            </a:solidFill>
            <a:prstDash val="solid"/>
          </a:ln>
        </p:spPr>
      </p:sp>
      <p:sp>
        <p:nvSpPr>
          <p:cNvPr id="20" name="num-2"/>
          <p:cNvSpPr/>
          <p:nvPr/>
        </p:nvSpPr>
        <p:spPr>
          <a:xfrm>
            <a:off x="3593592" y="2267712"/>
            <a:ext cx="438912" cy="438912"/>
          </a:xfrm>
          <a:prstGeom prst="ellipse">
            <a:avLst/>
          </a:prstGeom>
          <a:solidFill>
            <a:schemeClr val="tx2"/>
          </a:solidFill>
          <a:ln/>
        </p:spPr>
        <p:txBody>
          <a:bodyPr wrap="square" lIns="0" tIns="0" rIns="0" bIns="0" rtlCol="0" anchor="ctr"/>
          <a:lstStyle/>
          <a:p>
            <a:pPr marL="0" indent="0" algn="ctr">
              <a:buNone/>
            </a:pPr>
            <a:r>
              <a:rPr lang="en-US" sz="1600" b="1" dirty="0">
                <a:solidFill>
                  <a:schemeClr val="bg1"/>
                </a:solidFill>
              </a:rPr>
              <a:t>2</a:t>
            </a:r>
            <a:endParaRPr lang="en-US" sz="1600" dirty="0"/>
          </a:p>
        </p:txBody>
      </p:sp>
      <p:sp>
        <p:nvSpPr>
          <p:cNvPr id="21" name="name-2"/>
          <p:cNvSpPr txBox="1"/>
          <p:nvPr/>
        </p:nvSpPr>
        <p:spPr>
          <a:xfrm>
            <a:off x="4142232" y="2267712"/>
            <a:ext cx="1691640" cy="438912"/>
          </a:xfrm>
          <a:prstGeom prst="rect">
            <a:avLst/>
          </a:prstGeom>
          <a:noFill/>
          <a:ln/>
        </p:spPr>
        <p:txBody>
          <a:bodyPr wrap="square" lIns="0" tIns="0" rIns="0" bIns="0" rtlCol="0" anchor="ctr"/>
          <a:lstStyle/>
          <a:p>
            <a:pPr marL="0" indent="0">
              <a:buNone/>
            </a:pPr>
            <a:r>
              <a:rPr lang="en-US" sz="1500" b="1" dirty="0">
                <a:solidFill>
                  <a:schemeClr val="tx2"/>
                </a:solidFill>
              </a:rPr>
              <a:t>Feature engineering</a:t>
            </a:r>
            <a:endParaRPr lang="en-US" sz="1500" dirty="0"/>
          </a:p>
        </p:txBody>
      </p:sp>
      <p:sp>
        <p:nvSpPr>
          <p:cNvPr id="22" name="det-2"/>
          <p:cNvSpPr txBox="1"/>
          <p:nvPr/>
        </p:nvSpPr>
        <p:spPr>
          <a:xfrm>
            <a:off x="3611880" y="2779776"/>
            <a:ext cx="2194560" cy="502920"/>
          </a:xfrm>
          <a:prstGeom prst="rect">
            <a:avLst/>
          </a:prstGeom>
          <a:noFill/>
          <a:ln/>
        </p:spPr>
        <p:txBody>
          <a:bodyPr wrap="square" lIns="0" tIns="0" rIns="0" bIns="0" rtlCol="0" anchor="t"/>
          <a:lstStyle/>
          <a:p>
            <a:pPr marL="0" indent="0">
              <a:buNone/>
            </a:pPr>
            <a:r>
              <a:rPr lang="en-US" sz="1200" dirty="0">
                <a:solidFill>
                  <a:schemeClr val="tx1"/>
                </a:solidFill>
              </a:rPr>
              <a:t>14 scalar features</a:t>
            </a:r>
            <a:endParaRPr lang="en-US" sz="1200" dirty="0"/>
          </a:p>
          <a:p>
            <a:pPr marL="0" indent="0">
              <a:buNone/>
            </a:pPr>
            <a:r>
              <a:rPr lang="en-US" sz="1200" dirty="0">
                <a:solidFill>
                  <a:schemeClr val="tx1"/>
                </a:solidFill>
              </a:rPr>
              <a:t>leakage-safe</a:t>
            </a:r>
            <a:endParaRPr lang="en-US" sz="1200" dirty="0"/>
          </a:p>
        </p:txBody>
      </p:sp>
      <p:sp>
        <p:nvSpPr>
          <p:cNvPr id="23" name="nb-2"/>
          <p:cNvSpPr txBox="1"/>
          <p:nvPr/>
        </p:nvSpPr>
        <p:spPr>
          <a:xfrm>
            <a:off x="3611880" y="3291840"/>
            <a:ext cx="2194560" cy="201168"/>
          </a:xfrm>
          <a:prstGeom prst="rect">
            <a:avLst/>
          </a:prstGeom>
          <a:noFill/>
          <a:ln/>
        </p:spPr>
        <p:txBody>
          <a:bodyPr wrap="square" lIns="0" tIns="0" rIns="0" bIns="0" rtlCol="0" anchor="ctr"/>
          <a:lstStyle/>
          <a:p>
            <a:pPr marL="0" indent="0">
              <a:buNone/>
            </a:pPr>
            <a:r>
              <a:rPr lang="en-US" sz="1000" i="1" dirty="0">
                <a:solidFill>
                  <a:schemeClr val="accent4"/>
                </a:solidFill>
              </a:rPr>
              <a:t>DataLake_FeatureStore</a:t>
            </a:r>
            <a:endParaRPr lang="en-US" sz="1000" dirty="0"/>
          </a:p>
        </p:txBody>
      </p:sp>
      <p:sp>
        <p:nvSpPr>
          <p:cNvPr id="24" name="box-3"/>
          <p:cNvSpPr/>
          <p:nvPr/>
        </p:nvSpPr>
        <p:spPr>
          <a:xfrm>
            <a:off x="6309360" y="2103120"/>
            <a:ext cx="2514600" cy="1463040"/>
          </a:xfrm>
          <a:prstGeom prst="roundRect">
            <a:avLst>
              <a:gd name="adj" fmla="val 7500"/>
            </a:avLst>
          </a:prstGeom>
          <a:solidFill>
            <a:srgbClr val="EEF3F7"/>
          </a:solidFill>
          <a:ln w="12700">
            <a:solidFill>
              <a:srgbClr val="EEF3F7"/>
            </a:solidFill>
            <a:prstDash val="solid"/>
          </a:ln>
        </p:spPr>
      </p:sp>
      <p:sp>
        <p:nvSpPr>
          <p:cNvPr id="25" name="num-3"/>
          <p:cNvSpPr/>
          <p:nvPr/>
        </p:nvSpPr>
        <p:spPr>
          <a:xfrm>
            <a:off x="6473952" y="2267712"/>
            <a:ext cx="438912" cy="438912"/>
          </a:xfrm>
          <a:prstGeom prst="ellipse">
            <a:avLst/>
          </a:prstGeom>
          <a:solidFill>
            <a:schemeClr val="tx2"/>
          </a:solidFill>
          <a:ln/>
        </p:spPr>
        <p:txBody>
          <a:bodyPr wrap="square" lIns="0" tIns="0" rIns="0" bIns="0" rtlCol="0" anchor="ctr"/>
          <a:lstStyle/>
          <a:p>
            <a:pPr marL="0" indent="0" algn="ctr">
              <a:buNone/>
            </a:pPr>
            <a:r>
              <a:rPr lang="en-US" sz="1600" b="1" dirty="0">
                <a:solidFill>
                  <a:schemeClr val="bg1"/>
                </a:solidFill>
              </a:rPr>
              <a:t>3</a:t>
            </a:r>
            <a:endParaRPr lang="en-US" sz="1600" dirty="0"/>
          </a:p>
        </p:txBody>
      </p:sp>
      <p:sp>
        <p:nvSpPr>
          <p:cNvPr id="26" name="name-3"/>
          <p:cNvSpPr txBox="1"/>
          <p:nvPr/>
        </p:nvSpPr>
        <p:spPr>
          <a:xfrm>
            <a:off x="7022592" y="2267712"/>
            <a:ext cx="1691640" cy="438912"/>
          </a:xfrm>
          <a:prstGeom prst="rect">
            <a:avLst/>
          </a:prstGeom>
          <a:noFill/>
          <a:ln/>
        </p:spPr>
        <p:txBody>
          <a:bodyPr wrap="square" lIns="0" tIns="0" rIns="0" bIns="0" rtlCol="0" anchor="ctr"/>
          <a:lstStyle/>
          <a:p>
            <a:pPr marL="0" indent="0">
              <a:buNone/>
            </a:pPr>
            <a:r>
              <a:rPr lang="en-US" sz="1500" b="1" dirty="0">
                <a:solidFill>
                  <a:schemeClr val="tx2"/>
                </a:solidFill>
              </a:rPr>
              <a:t>Feature Store + splits</a:t>
            </a:r>
            <a:endParaRPr lang="en-US" sz="1500" dirty="0"/>
          </a:p>
        </p:txBody>
      </p:sp>
      <p:sp>
        <p:nvSpPr>
          <p:cNvPr id="27" name="det-3"/>
          <p:cNvSpPr txBox="1"/>
          <p:nvPr/>
        </p:nvSpPr>
        <p:spPr>
          <a:xfrm>
            <a:off x="6492240" y="2779776"/>
            <a:ext cx="2194560" cy="502920"/>
          </a:xfrm>
          <a:prstGeom prst="rect">
            <a:avLst/>
          </a:prstGeom>
          <a:noFill/>
          <a:ln/>
        </p:spPr>
        <p:txBody>
          <a:bodyPr wrap="square" lIns="0" tIns="0" rIns="0" bIns="0" rtlCol="0" anchor="t"/>
          <a:lstStyle/>
          <a:p>
            <a:pPr marL="0" indent="0">
              <a:buNone/>
            </a:pPr>
            <a:r>
              <a:rPr lang="en-US" sz="1200" dirty="0">
                <a:solidFill>
                  <a:schemeClr val="tx1"/>
                </a:solidFill>
              </a:rPr>
              <a:t>Offline feature group</a:t>
            </a:r>
            <a:endParaRPr lang="en-US" sz="1200" dirty="0"/>
          </a:p>
          <a:p>
            <a:pPr marL="0" indent="0">
              <a:buNone/>
            </a:pPr>
            <a:r>
              <a:rPr lang="en-US" sz="1200" dirty="0">
                <a:solidFill>
                  <a:schemeClr val="tx1"/>
                </a:solidFill>
              </a:rPr>
              <a:t>40/10/10/40 by ASIN</a:t>
            </a:r>
            <a:endParaRPr lang="en-US" sz="1200" dirty="0"/>
          </a:p>
        </p:txBody>
      </p:sp>
      <p:sp>
        <p:nvSpPr>
          <p:cNvPr id="28" name="nb-3"/>
          <p:cNvSpPr txBox="1"/>
          <p:nvPr/>
        </p:nvSpPr>
        <p:spPr>
          <a:xfrm>
            <a:off x="6492240" y="3291840"/>
            <a:ext cx="2194560" cy="201168"/>
          </a:xfrm>
          <a:prstGeom prst="rect">
            <a:avLst/>
          </a:prstGeom>
          <a:noFill/>
          <a:ln/>
        </p:spPr>
        <p:txBody>
          <a:bodyPr wrap="square" lIns="0" tIns="0" rIns="0" bIns="0" rtlCol="0" anchor="ctr"/>
          <a:lstStyle/>
          <a:p>
            <a:pPr marL="0" indent="0">
              <a:buNone/>
            </a:pPr>
            <a:r>
              <a:rPr lang="en-US" sz="1000" i="1" dirty="0">
                <a:solidFill>
                  <a:schemeClr val="accent4"/>
                </a:solidFill>
              </a:rPr>
              <a:t>DataLake_FeatureStore</a:t>
            </a:r>
            <a:endParaRPr lang="en-US" sz="1000" dirty="0"/>
          </a:p>
        </p:txBody>
      </p:sp>
      <p:sp>
        <p:nvSpPr>
          <p:cNvPr id="29" name="box-4"/>
          <p:cNvSpPr/>
          <p:nvPr/>
        </p:nvSpPr>
        <p:spPr>
          <a:xfrm>
            <a:off x="9189720" y="2103120"/>
            <a:ext cx="2514600" cy="1463040"/>
          </a:xfrm>
          <a:prstGeom prst="roundRect">
            <a:avLst>
              <a:gd name="adj" fmla="val 7500"/>
            </a:avLst>
          </a:prstGeom>
          <a:solidFill>
            <a:srgbClr val="EEF3F7"/>
          </a:solidFill>
          <a:ln w="12700">
            <a:solidFill>
              <a:srgbClr val="EEF3F7"/>
            </a:solidFill>
            <a:prstDash val="solid"/>
          </a:ln>
        </p:spPr>
      </p:sp>
      <p:sp>
        <p:nvSpPr>
          <p:cNvPr id="30" name="num-4"/>
          <p:cNvSpPr/>
          <p:nvPr/>
        </p:nvSpPr>
        <p:spPr>
          <a:xfrm>
            <a:off x="9354312" y="2267712"/>
            <a:ext cx="438912" cy="438912"/>
          </a:xfrm>
          <a:prstGeom prst="ellipse">
            <a:avLst/>
          </a:prstGeom>
          <a:solidFill>
            <a:schemeClr val="tx2"/>
          </a:solidFill>
          <a:ln/>
        </p:spPr>
        <p:txBody>
          <a:bodyPr wrap="square" lIns="0" tIns="0" rIns="0" bIns="0" rtlCol="0" anchor="ctr"/>
          <a:lstStyle/>
          <a:p>
            <a:pPr marL="0" indent="0" algn="ctr">
              <a:buNone/>
            </a:pPr>
            <a:r>
              <a:rPr lang="en-US" sz="1600" b="1" dirty="0">
                <a:solidFill>
                  <a:schemeClr val="bg1"/>
                </a:solidFill>
              </a:rPr>
              <a:t>4</a:t>
            </a:r>
            <a:endParaRPr lang="en-US" sz="1600" dirty="0"/>
          </a:p>
        </p:txBody>
      </p:sp>
      <p:sp>
        <p:nvSpPr>
          <p:cNvPr id="31" name="name-4"/>
          <p:cNvSpPr txBox="1"/>
          <p:nvPr/>
        </p:nvSpPr>
        <p:spPr>
          <a:xfrm>
            <a:off x="9902952" y="2267712"/>
            <a:ext cx="1691640" cy="438912"/>
          </a:xfrm>
          <a:prstGeom prst="rect">
            <a:avLst/>
          </a:prstGeom>
          <a:noFill/>
          <a:ln/>
        </p:spPr>
        <p:txBody>
          <a:bodyPr wrap="square" lIns="0" tIns="0" rIns="0" bIns="0" rtlCol="0" anchor="ctr"/>
          <a:lstStyle/>
          <a:p>
            <a:pPr marL="0" indent="0">
              <a:buNone/>
            </a:pPr>
            <a:r>
              <a:rPr lang="en-US" sz="1500" b="1" dirty="0">
                <a:solidFill>
                  <a:schemeClr val="tx2"/>
                </a:solidFill>
              </a:rPr>
              <a:t>Model development</a:t>
            </a:r>
            <a:endParaRPr lang="en-US" sz="1500" dirty="0"/>
          </a:p>
        </p:txBody>
      </p:sp>
      <p:sp>
        <p:nvSpPr>
          <p:cNvPr id="32" name="det-4"/>
          <p:cNvSpPr txBox="1"/>
          <p:nvPr/>
        </p:nvSpPr>
        <p:spPr>
          <a:xfrm>
            <a:off x="9372600" y="2779776"/>
            <a:ext cx="2194560" cy="502920"/>
          </a:xfrm>
          <a:prstGeom prst="rect">
            <a:avLst/>
          </a:prstGeom>
          <a:noFill/>
          <a:ln/>
        </p:spPr>
        <p:txBody>
          <a:bodyPr wrap="square" lIns="0" tIns="0" rIns="0" bIns="0" rtlCol="0" anchor="t"/>
          <a:lstStyle/>
          <a:p>
            <a:pPr marL="0" indent="0">
              <a:buNone/>
            </a:pPr>
            <a:r>
              <a:rPr lang="en-US" sz="1200" dirty="0">
                <a:solidFill>
                  <a:schemeClr val="tx1"/>
                </a:solidFill>
              </a:rPr>
              <a:t>SageMaker Training</a:t>
            </a:r>
            <a:endParaRPr lang="en-US" sz="1200" dirty="0"/>
          </a:p>
          <a:p>
            <a:pPr marL="0" indent="0">
              <a:buNone/>
            </a:pPr>
            <a:r>
              <a:rPr lang="en-US" sz="1200" dirty="0">
                <a:solidFill>
                  <a:schemeClr val="tx1"/>
                </a:solidFill>
              </a:rPr>
              <a:t>tree benchmark vs RF</a:t>
            </a:r>
            <a:endParaRPr lang="en-US" sz="1200" dirty="0"/>
          </a:p>
        </p:txBody>
      </p:sp>
      <p:sp>
        <p:nvSpPr>
          <p:cNvPr id="33" name="nb-4"/>
          <p:cNvSpPr txBox="1"/>
          <p:nvPr/>
        </p:nvSpPr>
        <p:spPr>
          <a:xfrm>
            <a:off x="9372600" y="3291840"/>
            <a:ext cx="2194560" cy="201168"/>
          </a:xfrm>
          <a:prstGeom prst="rect">
            <a:avLst/>
          </a:prstGeom>
          <a:noFill/>
          <a:ln/>
        </p:spPr>
        <p:txBody>
          <a:bodyPr wrap="square" lIns="0" tIns="0" rIns="0" bIns="0" rtlCol="0" anchor="ctr"/>
          <a:lstStyle/>
          <a:p>
            <a:pPr marL="0" indent="0">
              <a:buNone/>
            </a:pPr>
            <a:r>
              <a:rPr lang="en-US" sz="1000" i="1" dirty="0">
                <a:solidFill>
                  <a:schemeClr val="accent4"/>
                </a:solidFill>
              </a:rPr>
              <a:t>Model_Development_Deployment</a:t>
            </a:r>
            <a:endParaRPr lang="en-US" sz="1000" dirty="0"/>
          </a:p>
        </p:txBody>
      </p:sp>
      <p:sp>
        <p:nvSpPr>
          <p:cNvPr id="34" name="box-5"/>
          <p:cNvSpPr/>
          <p:nvPr/>
        </p:nvSpPr>
        <p:spPr>
          <a:xfrm>
            <a:off x="9189720" y="4160520"/>
            <a:ext cx="2514600" cy="1463040"/>
          </a:xfrm>
          <a:prstGeom prst="roundRect">
            <a:avLst>
              <a:gd name="adj" fmla="val 7500"/>
            </a:avLst>
          </a:prstGeom>
          <a:solidFill>
            <a:srgbClr val="EEF3F7"/>
          </a:solidFill>
          <a:ln w="12700">
            <a:solidFill>
              <a:srgbClr val="EEF3F7"/>
            </a:solidFill>
            <a:prstDash val="solid"/>
          </a:ln>
        </p:spPr>
      </p:sp>
      <p:sp>
        <p:nvSpPr>
          <p:cNvPr id="35" name="num-5"/>
          <p:cNvSpPr/>
          <p:nvPr/>
        </p:nvSpPr>
        <p:spPr>
          <a:xfrm>
            <a:off x="9354312" y="4325112"/>
            <a:ext cx="438912" cy="438912"/>
          </a:xfrm>
          <a:prstGeom prst="ellipse">
            <a:avLst/>
          </a:prstGeom>
          <a:solidFill>
            <a:schemeClr val="tx2"/>
          </a:solidFill>
          <a:ln/>
        </p:spPr>
        <p:txBody>
          <a:bodyPr wrap="square" lIns="0" tIns="0" rIns="0" bIns="0" rtlCol="0" anchor="ctr"/>
          <a:lstStyle/>
          <a:p>
            <a:pPr marL="0" indent="0" algn="ctr">
              <a:buNone/>
            </a:pPr>
            <a:r>
              <a:rPr lang="en-US" sz="1600" b="1" dirty="0">
                <a:solidFill>
                  <a:schemeClr val="bg1"/>
                </a:solidFill>
              </a:rPr>
              <a:t>5</a:t>
            </a:r>
            <a:endParaRPr lang="en-US" sz="1600" dirty="0"/>
          </a:p>
        </p:txBody>
      </p:sp>
      <p:sp>
        <p:nvSpPr>
          <p:cNvPr id="36" name="name-5"/>
          <p:cNvSpPr txBox="1"/>
          <p:nvPr/>
        </p:nvSpPr>
        <p:spPr>
          <a:xfrm>
            <a:off x="9902952" y="4325112"/>
            <a:ext cx="1691640" cy="438912"/>
          </a:xfrm>
          <a:prstGeom prst="rect">
            <a:avLst/>
          </a:prstGeom>
          <a:noFill/>
          <a:ln/>
        </p:spPr>
        <p:txBody>
          <a:bodyPr wrap="square" lIns="0" tIns="0" rIns="0" bIns="0" rtlCol="0" anchor="ctr"/>
          <a:lstStyle/>
          <a:p>
            <a:pPr marL="0" indent="0">
              <a:buNone/>
            </a:pPr>
            <a:r>
              <a:rPr lang="en-US" sz="1500" b="1" dirty="0">
                <a:solidFill>
                  <a:schemeClr val="tx2"/>
                </a:solidFill>
              </a:rPr>
              <a:t>Evaluation</a:t>
            </a:r>
            <a:endParaRPr lang="en-US" sz="1500" dirty="0"/>
          </a:p>
        </p:txBody>
      </p:sp>
      <p:sp>
        <p:nvSpPr>
          <p:cNvPr id="37" name="det-5"/>
          <p:cNvSpPr txBox="1"/>
          <p:nvPr/>
        </p:nvSpPr>
        <p:spPr>
          <a:xfrm>
            <a:off x="9372600" y="4837176"/>
            <a:ext cx="2194560" cy="502920"/>
          </a:xfrm>
          <a:prstGeom prst="rect">
            <a:avLst/>
          </a:prstGeom>
          <a:noFill/>
          <a:ln/>
        </p:spPr>
        <p:txBody>
          <a:bodyPr wrap="square" lIns="0" tIns="0" rIns="0" bIns="0" rtlCol="0" anchor="t"/>
          <a:lstStyle/>
          <a:p>
            <a:pPr marL="0" indent="0">
              <a:buNone/>
            </a:pPr>
            <a:r>
              <a:rPr lang="en-US" sz="1200" dirty="0">
                <a:solidFill>
                  <a:schemeClr val="tx1"/>
                </a:solidFill>
              </a:rPr>
              <a:t>macro-F1 + question NDCG</a:t>
            </a:r>
            <a:endParaRPr lang="en-US" sz="1200" dirty="0"/>
          </a:p>
          <a:p>
            <a:pPr marL="0" indent="0">
              <a:buNone/>
            </a:pPr>
            <a:r>
              <a:rPr lang="en-US" sz="1200" dirty="0">
                <a:solidFill>
                  <a:schemeClr val="tx1"/>
                </a:solidFill>
              </a:rPr>
              <a:t>validation gate</a:t>
            </a:r>
            <a:endParaRPr lang="en-US" sz="1200" dirty="0"/>
          </a:p>
        </p:txBody>
      </p:sp>
      <p:sp>
        <p:nvSpPr>
          <p:cNvPr id="38" name="nb-5"/>
          <p:cNvSpPr txBox="1"/>
          <p:nvPr/>
        </p:nvSpPr>
        <p:spPr>
          <a:xfrm>
            <a:off x="9372600" y="5349240"/>
            <a:ext cx="2194560" cy="201168"/>
          </a:xfrm>
          <a:prstGeom prst="rect">
            <a:avLst/>
          </a:prstGeom>
          <a:noFill/>
          <a:ln/>
        </p:spPr>
        <p:txBody>
          <a:bodyPr wrap="square" lIns="0" tIns="0" rIns="0" bIns="0" rtlCol="0" anchor="ctr"/>
          <a:lstStyle/>
          <a:p>
            <a:pPr marL="0" indent="0">
              <a:buNone/>
            </a:pPr>
            <a:r>
              <a:rPr lang="en-US" sz="1000" i="1" dirty="0">
                <a:solidFill>
                  <a:schemeClr val="accent4"/>
                </a:solidFill>
              </a:rPr>
              <a:t>Model_Development_Deployment</a:t>
            </a:r>
            <a:endParaRPr lang="en-US" sz="1000" dirty="0"/>
          </a:p>
        </p:txBody>
      </p:sp>
      <p:sp>
        <p:nvSpPr>
          <p:cNvPr id="39" name="box-6"/>
          <p:cNvSpPr/>
          <p:nvPr/>
        </p:nvSpPr>
        <p:spPr>
          <a:xfrm>
            <a:off x="6309360" y="4160520"/>
            <a:ext cx="2514600" cy="1463040"/>
          </a:xfrm>
          <a:prstGeom prst="roundRect">
            <a:avLst>
              <a:gd name="adj" fmla="val 7500"/>
            </a:avLst>
          </a:prstGeom>
          <a:solidFill>
            <a:srgbClr val="EEF3F7"/>
          </a:solidFill>
          <a:ln w="12700">
            <a:solidFill>
              <a:srgbClr val="EEF3F7"/>
            </a:solidFill>
            <a:prstDash val="solid"/>
          </a:ln>
        </p:spPr>
      </p:sp>
      <p:sp>
        <p:nvSpPr>
          <p:cNvPr id="40" name="num-6"/>
          <p:cNvSpPr/>
          <p:nvPr/>
        </p:nvSpPr>
        <p:spPr>
          <a:xfrm>
            <a:off x="6473952" y="4325112"/>
            <a:ext cx="438912" cy="438912"/>
          </a:xfrm>
          <a:prstGeom prst="ellipse">
            <a:avLst/>
          </a:prstGeom>
          <a:solidFill>
            <a:schemeClr val="tx2"/>
          </a:solidFill>
          <a:ln/>
        </p:spPr>
        <p:txBody>
          <a:bodyPr wrap="square" lIns="0" tIns="0" rIns="0" bIns="0" rtlCol="0" anchor="ctr"/>
          <a:lstStyle/>
          <a:p>
            <a:pPr marL="0" indent="0" algn="ctr">
              <a:buNone/>
            </a:pPr>
            <a:r>
              <a:rPr lang="en-US" sz="1600" b="1" dirty="0">
                <a:solidFill>
                  <a:schemeClr val="bg1"/>
                </a:solidFill>
              </a:rPr>
              <a:t>6</a:t>
            </a:r>
            <a:endParaRPr lang="en-US" sz="1600" dirty="0"/>
          </a:p>
        </p:txBody>
      </p:sp>
      <p:sp>
        <p:nvSpPr>
          <p:cNvPr id="41" name="name-6"/>
          <p:cNvSpPr txBox="1"/>
          <p:nvPr/>
        </p:nvSpPr>
        <p:spPr>
          <a:xfrm>
            <a:off x="7022592" y="4325112"/>
            <a:ext cx="1691640" cy="438912"/>
          </a:xfrm>
          <a:prstGeom prst="rect">
            <a:avLst/>
          </a:prstGeom>
          <a:noFill/>
          <a:ln/>
        </p:spPr>
        <p:txBody>
          <a:bodyPr wrap="square" lIns="0" tIns="0" rIns="0" bIns="0" rtlCol="0" anchor="ctr"/>
          <a:lstStyle/>
          <a:p>
            <a:pPr marL="0" indent="0">
              <a:buNone/>
            </a:pPr>
            <a:r>
              <a:rPr lang="en-US" sz="1500" b="1" dirty="0">
                <a:solidFill>
                  <a:schemeClr val="tx2"/>
                </a:solidFill>
              </a:rPr>
              <a:t>Monitoring + CL</a:t>
            </a:r>
            <a:endParaRPr lang="en-US" sz="1500" dirty="0"/>
          </a:p>
        </p:txBody>
      </p:sp>
      <p:sp>
        <p:nvSpPr>
          <p:cNvPr id="42" name="det-6"/>
          <p:cNvSpPr txBox="1"/>
          <p:nvPr/>
        </p:nvSpPr>
        <p:spPr>
          <a:xfrm>
            <a:off x="6492240" y="4837176"/>
            <a:ext cx="2194560" cy="502920"/>
          </a:xfrm>
          <a:prstGeom prst="rect">
            <a:avLst/>
          </a:prstGeom>
          <a:noFill/>
          <a:ln/>
        </p:spPr>
        <p:txBody>
          <a:bodyPr wrap="square" lIns="0" tIns="0" rIns="0" bIns="0" rtlCol="0" anchor="t"/>
          <a:lstStyle/>
          <a:p>
            <a:pPr marL="0" indent="0">
              <a:buNone/>
            </a:pPr>
            <a:r>
              <a:rPr lang="en-US" sz="1200" dirty="0">
                <a:solidFill>
                  <a:schemeClr val="tx1"/>
                </a:solidFill>
              </a:rPr>
              <a:t>PSI, quality, CloudWatch</a:t>
            </a:r>
            <a:endParaRPr lang="en-US" sz="1200" dirty="0"/>
          </a:p>
          <a:p>
            <a:pPr marL="0" indent="0">
              <a:buNone/>
            </a:pPr>
            <a:r>
              <a:rPr lang="en-US" sz="1200" dirty="0">
                <a:solidFill>
                  <a:schemeClr val="tx1"/>
                </a:solidFill>
              </a:rPr>
              <a:t>Pipeline DAG + gate</a:t>
            </a:r>
            <a:endParaRPr lang="en-US" sz="1200" dirty="0"/>
          </a:p>
        </p:txBody>
      </p:sp>
      <p:sp>
        <p:nvSpPr>
          <p:cNvPr id="43" name="nb-6"/>
          <p:cNvSpPr txBox="1"/>
          <p:nvPr/>
        </p:nvSpPr>
        <p:spPr>
          <a:xfrm>
            <a:off x="6492240" y="5349240"/>
            <a:ext cx="2194560" cy="201168"/>
          </a:xfrm>
          <a:prstGeom prst="rect">
            <a:avLst/>
          </a:prstGeom>
          <a:noFill/>
          <a:ln/>
        </p:spPr>
        <p:txBody>
          <a:bodyPr wrap="square" lIns="0" tIns="0" rIns="0" bIns="0" rtlCol="0" anchor="ctr"/>
          <a:lstStyle/>
          <a:p>
            <a:pPr marL="0" indent="0">
              <a:buNone/>
            </a:pPr>
            <a:r>
              <a:rPr lang="en-US" sz="1000" i="1" dirty="0">
                <a:solidFill>
                  <a:schemeClr val="accent4"/>
                </a:solidFill>
              </a:rPr>
              <a:t>Observability · Continual_Learning</a:t>
            </a:r>
            <a:endParaRPr lang="en-US" sz="1000" dirty="0"/>
          </a:p>
        </p:txBody>
      </p:sp>
      <p:sp>
        <p:nvSpPr>
          <p:cNvPr id="44" name="box-7"/>
          <p:cNvSpPr/>
          <p:nvPr/>
        </p:nvSpPr>
        <p:spPr>
          <a:xfrm>
            <a:off x="3429000" y="4160520"/>
            <a:ext cx="2514600" cy="1463040"/>
          </a:xfrm>
          <a:prstGeom prst="roundRect">
            <a:avLst>
              <a:gd name="adj" fmla="val 7500"/>
            </a:avLst>
          </a:prstGeom>
          <a:solidFill>
            <a:srgbClr val="EEF3F7"/>
          </a:solidFill>
          <a:ln w="12700">
            <a:solidFill>
              <a:srgbClr val="EEF3F7"/>
            </a:solidFill>
            <a:prstDash val="solid"/>
          </a:ln>
        </p:spPr>
      </p:sp>
      <p:sp>
        <p:nvSpPr>
          <p:cNvPr id="45" name="num-7"/>
          <p:cNvSpPr/>
          <p:nvPr/>
        </p:nvSpPr>
        <p:spPr>
          <a:xfrm>
            <a:off x="3593592" y="4325112"/>
            <a:ext cx="438912" cy="438912"/>
          </a:xfrm>
          <a:prstGeom prst="ellipse">
            <a:avLst/>
          </a:prstGeom>
          <a:solidFill>
            <a:schemeClr val="tx2"/>
          </a:solidFill>
          <a:ln/>
        </p:spPr>
        <p:txBody>
          <a:bodyPr wrap="square" lIns="0" tIns="0" rIns="0" bIns="0" rtlCol="0" anchor="ctr"/>
          <a:lstStyle/>
          <a:p>
            <a:pPr marL="0" indent="0" algn="ctr">
              <a:buNone/>
            </a:pPr>
            <a:r>
              <a:rPr lang="en-US" sz="1600" b="1" dirty="0">
                <a:solidFill>
                  <a:schemeClr val="bg1"/>
                </a:solidFill>
              </a:rPr>
              <a:t>7</a:t>
            </a:r>
            <a:endParaRPr lang="en-US" sz="1600" dirty="0"/>
          </a:p>
        </p:txBody>
      </p:sp>
      <p:sp>
        <p:nvSpPr>
          <p:cNvPr id="46" name="name-7"/>
          <p:cNvSpPr txBox="1"/>
          <p:nvPr/>
        </p:nvSpPr>
        <p:spPr>
          <a:xfrm>
            <a:off x="4142232" y="4325112"/>
            <a:ext cx="1691640" cy="438912"/>
          </a:xfrm>
          <a:prstGeom prst="rect">
            <a:avLst/>
          </a:prstGeom>
          <a:noFill/>
          <a:ln/>
        </p:spPr>
        <p:txBody>
          <a:bodyPr wrap="square" lIns="0" tIns="0" rIns="0" bIns="0" rtlCol="0" anchor="ctr"/>
          <a:lstStyle/>
          <a:p>
            <a:pPr marL="0" indent="0">
              <a:buNone/>
            </a:pPr>
            <a:r>
              <a:rPr lang="en-US" sz="1500" b="1" dirty="0">
                <a:solidFill>
                  <a:schemeClr val="tx2"/>
                </a:solidFill>
              </a:rPr>
              <a:t>Deployment</a:t>
            </a:r>
            <a:endParaRPr lang="en-US" sz="1500" dirty="0"/>
          </a:p>
        </p:txBody>
      </p:sp>
      <p:sp>
        <p:nvSpPr>
          <p:cNvPr id="47" name="det-7"/>
          <p:cNvSpPr txBox="1"/>
          <p:nvPr/>
        </p:nvSpPr>
        <p:spPr>
          <a:xfrm>
            <a:off x="3611880" y="4837176"/>
            <a:ext cx="2194560" cy="502920"/>
          </a:xfrm>
          <a:prstGeom prst="rect">
            <a:avLst/>
          </a:prstGeom>
          <a:noFill/>
          <a:ln/>
        </p:spPr>
        <p:txBody>
          <a:bodyPr wrap="square" lIns="0" tIns="0" rIns="0" bIns="0" rtlCol="0" anchor="t"/>
          <a:lstStyle/>
          <a:p>
            <a:pPr marL="0" indent="0">
              <a:buNone/>
            </a:pPr>
            <a:r>
              <a:rPr lang="en-US" sz="1200" dirty="0">
                <a:solidFill>
                  <a:schemeClr val="tx1"/>
                </a:solidFill>
              </a:rPr>
              <a:t>Batch Transform, Registry</a:t>
            </a:r>
            <a:endParaRPr lang="en-US" sz="1200" dirty="0"/>
          </a:p>
          <a:p>
            <a:pPr marL="0" indent="0">
              <a:buNone/>
            </a:pPr>
            <a:r>
              <a:rPr lang="en-US" sz="1200" dirty="0">
                <a:solidFill>
                  <a:schemeClr val="tx1"/>
                </a:solidFill>
              </a:rPr>
              <a:t>temp endpoint + Flask</a:t>
            </a:r>
            <a:endParaRPr lang="en-US" sz="1200" dirty="0"/>
          </a:p>
        </p:txBody>
      </p:sp>
      <p:sp>
        <p:nvSpPr>
          <p:cNvPr id="48" name="nb-7"/>
          <p:cNvSpPr txBox="1"/>
          <p:nvPr/>
        </p:nvSpPr>
        <p:spPr>
          <a:xfrm>
            <a:off x="3611880" y="5349240"/>
            <a:ext cx="2194560" cy="201168"/>
          </a:xfrm>
          <a:prstGeom prst="rect">
            <a:avLst/>
          </a:prstGeom>
          <a:noFill/>
          <a:ln/>
        </p:spPr>
        <p:txBody>
          <a:bodyPr wrap="square" lIns="0" tIns="0" rIns="0" bIns="0" rtlCol="0" anchor="ctr"/>
          <a:lstStyle/>
          <a:p>
            <a:pPr marL="0" indent="0">
              <a:buNone/>
            </a:pPr>
            <a:r>
              <a:rPr lang="en-US" sz="1000" i="1" dirty="0">
                <a:solidFill>
                  <a:schemeClr val="accent4"/>
                </a:solidFill>
              </a:rPr>
              <a:t>Application_Integration_Testing</a:t>
            </a:r>
            <a:endParaRPr lang="en-US" sz="1000" dirty="0"/>
          </a:p>
        </p:txBody>
      </p:sp>
      <p:sp>
        <p:nvSpPr>
          <p:cNvPr id="49" name="box-8"/>
          <p:cNvSpPr/>
          <p:nvPr/>
        </p:nvSpPr>
        <p:spPr>
          <a:xfrm>
            <a:off x="548640" y="4160520"/>
            <a:ext cx="2514600" cy="1463040"/>
          </a:xfrm>
          <a:prstGeom prst="roundRect">
            <a:avLst>
              <a:gd name="adj" fmla="val 7500"/>
            </a:avLst>
          </a:prstGeom>
          <a:solidFill>
            <a:srgbClr val="BFE3E0"/>
          </a:solidFill>
          <a:ln w="12700">
            <a:solidFill>
              <a:srgbClr val="0F7C7A"/>
            </a:solidFill>
            <a:prstDash val="solid"/>
          </a:ln>
        </p:spPr>
      </p:sp>
      <p:sp>
        <p:nvSpPr>
          <p:cNvPr id="50" name="num-8"/>
          <p:cNvSpPr/>
          <p:nvPr/>
        </p:nvSpPr>
        <p:spPr>
          <a:xfrm>
            <a:off x="713232" y="4325112"/>
            <a:ext cx="438912" cy="438912"/>
          </a:xfrm>
          <a:prstGeom prst="ellipse">
            <a:avLst/>
          </a:prstGeom>
          <a:solidFill>
            <a:schemeClr val="accent1"/>
          </a:solidFill>
          <a:ln/>
        </p:spPr>
        <p:txBody>
          <a:bodyPr wrap="square" lIns="0" tIns="0" rIns="0" bIns="0" rtlCol="0" anchor="ctr"/>
          <a:lstStyle/>
          <a:p>
            <a:pPr marL="0" indent="0" algn="ctr">
              <a:buNone/>
            </a:pPr>
            <a:r>
              <a:rPr lang="en-US" sz="1600" b="1" dirty="0">
                <a:solidFill>
                  <a:schemeClr val="bg1"/>
                </a:solidFill>
              </a:rPr>
              <a:t>8</a:t>
            </a:r>
            <a:endParaRPr lang="en-US" sz="1600" dirty="0"/>
          </a:p>
        </p:txBody>
      </p:sp>
      <p:sp>
        <p:nvSpPr>
          <p:cNvPr id="51" name="name-8"/>
          <p:cNvSpPr txBox="1"/>
          <p:nvPr/>
        </p:nvSpPr>
        <p:spPr>
          <a:xfrm>
            <a:off x="1261872" y="4325112"/>
            <a:ext cx="1691640" cy="438912"/>
          </a:xfrm>
          <a:prstGeom prst="rect">
            <a:avLst/>
          </a:prstGeom>
          <a:noFill/>
          <a:ln/>
        </p:spPr>
        <p:txBody>
          <a:bodyPr wrap="square" lIns="0" tIns="0" rIns="0" bIns="0" rtlCol="0" anchor="ctr"/>
          <a:lstStyle/>
          <a:p>
            <a:pPr marL="0" indent="0">
              <a:buNone/>
            </a:pPr>
            <a:r>
              <a:rPr lang="en-US" sz="1500" b="1" dirty="0">
                <a:solidFill>
                  <a:schemeClr val="tx2"/>
                </a:solidFill>
              </a:rPr>
              <a:t>RAG inference</a:t>
            </a:r>
            <a:endParaRPr lang="en-US" sz="1500" dirty="0"/>
          </a:p>
        </p:txBody>
      </p:sp>
      <p:sp>
        <p:nvSpPr>
          <p:cNvPr id="52" name="det-8"/>
          <p:cNvSpPr txBox="1"/>
          <p:nvPr/>
        </p:nvSpPr>
        <p:spPr>
          <a:xfrm>
            <a:off x="731520" y="4837176"/>
            <a:ext cx="2194560" cy="502920"/>
          </a:xfrm>
          <a:prstGeom prst="rect">
            <a:avLst/>
          </a:prstGeom>
          <a:noFill/>
          <a:ln/>
        </p:spPr>
        <p:txBody>
          <a:bodyPr wrap="square" lIns="0" tIns="0" rIns="0" bIns="0" rtlCol="0" anchor="t"/>
          <a:lstStyle/>
          <a:p>
            <a:pPr marL="0" indent="0">
              <a:buNone/>
            </a:pPr>
            <a:r>
              <a:rPr lang="en-US" sz="1200" dirty="0">
                <a:solidFill>
                  <a:schemeClr val="tx1"/>
                </a:solidFill>
              </a:rPr>
              <a:t>MiniLM + FAISS → RF rerank</a:t>
            </a:r>
            <a:endParaRPr lang="en-US" sz="1200" dirty="0"/>
          </a:p>
          <a:p>
            <a:pPr marL="0" indent="0">
              <a:buNone/>
            </a:pPr>
            <a:r>
              <a:rPr lang="en-US" sz="1200" dirty="0">
                <a:solidFill>
                  <a:schemeClr val="tx1"/>
                </a:solidFill>
              </a:rPr>
              <a:t>answer or abstain</a:t>
            </a:r>
            <a:endParaRPr lang="en-US" sz="1200" dirty="0"/>
          </a:p>
        </p:txBody>
      </p:sp>
      <p:sp>
        <p:nvSpPr>
          <p:cNvPr id="53" name="nb-8"/>
          <p:cNvSpPr txBox="1"/>
          <p:nvPr/>
        </p:nvSpPr>
        <p:spPr>
          <a:xfrm>
            <a:off x="731520" y="5349240"/>
            <a:ext cx="2194560" cy="201168"/>
          </a:xfrm>
          <a:prstGeom prst="rect">
            <a:avLst/>
          </a:prstGeom>
          <a:noFill/>
          <a:ln/>
        </p:spPr>
        <p:txBody>
          <a:bodyPr wrap="square" lIns="0" tIns="0" rIns="0" bIns="0" rtlCol="0" anchor="ctr"/>
          <a:lstStyle/>
          <a:p>
            <a:pPr marL="0" indent="0">
              <a:buNone/>
            </a:pPr>
            <a:r>
              <a:rPr lang="en-US" sz="1000" i="1" dirty="0">
                <a:solidFill>
                  <a:schemeClr val="accent4"/>
                </a:solidFill>
              </a:rPr>
              <a:t>Retrieval_RAG_Inference</a:t>
            </a:r>
            <a:endParaRPr lang="en-US" sz="1000" dirty="0"/>
          </a:p>
        </p:txBody>
      </p:sp>
      <p:sp>
        <p:nvSpPr>
          <p:cNvPr id="54" name="fa-top-0"/>
          <p:cNvSpPr/>
          <p:nvPr/>
        </p:nvSpPr>
        <p:spPr>
          <a:xfrm>
            <a:off x="3108960" y="2834640"/>
            <a:ext cx="274320" cy="0"/>
          </a:xfrm>
          <a:prstGeom prst="line">
            <a:avLst/>
          </a:prstGeom>
          <a:noFill/>
          <a:ln w="19050">
            <a:solidFill>
              <a:srgbClr val="0F7C7A"/>
            </a:solidFill>
            <a:prstDash val="solid"/>
            <a:tailEnd type="triangle"/>
          </a:ln>
        </p:spPr>
      </p:sp>
      <p:sp>
        <p:nvSpPr>
          <p:cNvPr id="55" name="fa-top-1"/>
          <p:cNvSpPr/>
          <p:nvPr/>
        </p:nvSpPr>
        <p:spPr>
          <a:xfrm>
            <a:off x="5989320" y="2834640"/>
            <a:ext cx="274320" cy="0"/>
          </a:xfrm>
          <a:prstGeom prst="line">
            <a:avLst/>
          </a:prstGeom>
          <a:noFill/>
          <a:ln w="19050">
            <a:solidFill>
              <a:srgbClr val="0F7C7A"/>
            </a:solidFill>
            <a:prstDash val="solid"/>
            <a:tailEnd type="triangle"/>
          </a:ln>
        </p:spPr>
      </p:sp>
      <p:sp>
        <p:nvSpPr>
          <p:cNvPr id="56" name="fa-top-2"/>
          <p:cNvSpPr/>
          <p:nvPr/>
        </p:nvSpPr>
        <p:spPr>
          <a:xfrm>
            <a:off x="8869680" y="2834640"/>
            <a:ext cx="274320" cy="0"/>
          </a:xfrm>
          <a:prstGeom prst="line">
            <a:avLst/>
          </a:prstGeom>
          <a:noFill/>
          <a:ln w="19050">
            <a:solidFill>
              <a:srgbClr val="0F7C7A"/>
            </a:solidFill>
            <a:prstDash val="solid"/>
            <a:tailEnd type="triangle"/>
          </a:ln>
        </p:spPr>
      </p:sp>
      <p:sp>
        <p:nvSpPr>
          <p:cNvPr id="57" name="fa-bot-0"/>
          <p:cNvSpPr/>
          <p:nvPr/>
        </p:nvSpPr>
        <p:spPr>
          <a:xfrm>
            <a:off x="3108960" y="4892040"/>
            <a:ext cx="274320" cy="0"/>
          </a:xfrm>
          <a:prstGeom prst="line">
            <a:avLst/>
          </a:prstGeom>
          <a:noFill/>
          <a:ln w="19050">
            <a:solidFill>
              <a:srgbClr val="0F7C7A"/>
            </a:solidFill>
            <a:prstDash val="solid"/>
            <a:headEnd type="triangle"/>
          </a:ln>
        </p:spPr>
      </p:sp>
      <p:sp>
        <p:nvSpPr>
          <p:cNvPr id="58" name="fa-bot-1"/>
          <p:cNvSpPr/>
          <p:nvPr/>
        </p:nvSpPr>
        <p:spPr>
          <a:xfrm>
            <a:off x="5989320" y="4892040"/>
            <a:ext cx="274320" cy="0"/>
          </a:xfrm>
          <a:prstGeom prst="line">
            <a:avLst/>
          </a:prstGeom>
          <a:noFill/>
          <a:ln w="19050">
            <a:solidFill>
              <a:srgbClr val="0F7C7A"/>
            </a:solidFill>
            <a:prstDash val="solid"/>
            <a:headEnd type="triangle"/>
          </a:ln>
        </p:spPr>
      </p:sp>
      <p:sp>
        <p:nvSpPr>
          <p:cNvPr id="59" name="fa-bot-2"/>
          <p:cNvSpPr/>
          <p:nvPr/>
        </p:nvSpPr>
        <p:spPr>
          <a:xfrm>
            <a:off x="8869680" y="4892040"/>
            <a:ext cx="274320" cy="0"/>
          </a:xfrm>
          <a:prstGeom prst="line">
            <a:avLst/>
          </a:prstGeom>
          <a:noFill/>
          <a:ln w="19050">
            <a:solidFill>
              <a:srgbClr val="0F7C7A"/>
            </a:solidFill>
            <a:prstDash val="solid"/>
            <a:headEnd type="triangle"/>
          </a:ln>
        </p:spPr>
      </p:sp>
      <p:sp>
        <p:nvSpPr>
          <p:cNvPr id="60" name="fa-down"/>
          <p:cNvSpPr/>
          <p:nvPr/>
        </p:nvSpPr>
        <p:spPr>
          <a:xfrm>
            <a:off x="10447020" y="3611880"/>
            <a:ext cx="0" cy="502920"/>
          </a:xfrm>
          <a:prstGeom prst="line">
            <a:avLst/>
          </a:prstGeom>
          <a:noFill/>
          <a:ln w="19050">
            <a:solidFill>
              <a:srgbClr val="0F7C7A"/>
            </a:solidFill>
            <a:prstDash val="solid"/>
            <a:tailEnd type="triangle"/>
          </a:ln>
        </p:spPr>
      </p:sp>
      <p:sp>
        <p:nvSpPr>
          <p:cNvPr id="61" name="rt-1"/>
          <p:cNvSpPr/>
          <p:nvPr/>
        </p:nvSpPr>
        <p:spPr>
          <a:xfrm>
            <a:off x="8412480" y="3863340"/>
            <a:ext cx="0" cy="297180"/>
          </a:xfrm>
          <a:prstGeom prst="line">
            <a:avLst/>
          </a:prstGeom>
          <a:noFill/>
          <a:ln w="19050">
            <a:solidFill>
              <a:srgbClr val="E8A33D"/>
            </a:solidFill>
            <a:prstDash val="dash"/>
          </a:ln>
        </p:spPr>
      </p:sp>
      <p:sp>
        <p:nvSpPr>
          <p:cNvPr id="62" name="rt-2"/>
          <p:cNvSpPr/>
          <p:nvPr/>
        </p:nvSpPr>
        <p:spPr>
          <a:xfrm>
            <a:off x="8412480" y="3863340"/>
            <a:ext cx="1188720" cy="0"/>
          </a:xfrm>
          <a:prstGeom prst="line">
            <a:avLst/>
          </a:prstGeom>
          <a:noFill/>
          <a:ln w="19050">
            <a:solidFill>
              <a:srgbClr val="E8A33D"/>
            </a:solidFill>
            <a:prstDash val="dash"/>
          </a:ln>
        </p:spPr>
      </p:sp>
      <p:sp>
        <p:nvSpPr>
          <p:cNvPr id="63" name="rt-3"/>
          <p:cNvSpPr/>
          <p:nvPr/>
        </p:nvSpPr>
        <p:spPr>
          <a:xfrm flipV="1">
            <a:off x="9601200" y="3593592"/>
            <a:ext cx="0" cy="269748"/>
          </a:xfrm>
          <a:prstGeom prst="line">
            <a:avLst/>
          </a:prstGeom>
          <a:noFill/>
          <a:ln w="19050">
            <a:solidFill>
              <a:srgbClr val="E8A33D"/>
            </a:solidFill>
            <a:prstDash val="dash"/>
            <a:tailEnd type="triangle"/>
          </a:ln>
        </p:spPr>
      </p:sp>
      <p:sp>
        <p:nvSpPr>
          <p:cNvPr id="64" name="rt-label"/>
          <p:cNvSpPr txBox="1"/>
          <p:nvPr/>
        </p:nvSpPr>
        <p:spPr>
          <a:xfrm>
            <a:off x="3429000" y="3735324"/>
            <a:ext cx="4892040" cy="256032"/>
          </a:xfrm>
          <a:prstGeom prst="rect">
            <a:avLst/>
          </a:prstGeom>
          <a:noFill/>
          <a:ln/>
        </p:spPr>
        <p:txBody>
          <a:bodyPr wrap="square" lIns="0" tIns="0" rIns="0" bIns="0" rtlCol="0" anchor="ctr"/>
          <a:lstStyle/>
          <a:p>
            <a:pPr marL="0" indent="0" algn="r">
              <a:buNone/>
            </a:pPr>
            <a:r>
              <a:rPr lang="en-US" sz="1100" i="1" dirty="0">
                <a:solidFill>
                  <a:schemeClr val="accent2"/>
                </a:solidFill>
              </a:rPr>
              <a:t>retrain trigger (drift / quality drop)</a:t>
            </a:r>
            <a:endParaRPr lang="en-US" sz="1100" dirty="0"/>
          </a:p>
        </p:txBody>
      </p:sp>
      <p:sp>
        <p:nvSpPr>
          <p:cNvPr id="65" name="receipts-bg"/>
          <p:cNvSpPr/>
          <p:nvPr/>
        </p:nvSpPr>
        <p:spPr>
          <a:xfrm>
            <a:off x="548640" y="5788152"/>
            <a:ext cx="11155680" cy="438912"/>
          </a:xfrm>
          <a:prstGeom prst="roundRect">
            <a:avLst>
              <a:gd name="adj" fmla="val 20833"/>
            </a:avLst>
          </a:prstGeom>
          <a:solidFill>
            <a:srgbClr val="102A43"/>
          </a:solidFill>
          <a:ln/>
        </p:spPr>
      </p:sp>
      <p:sp>
        <p:nvSpPr>
          <p:cNvPr id="66" name="receipts"/>
          <p:cNvSpPr txBox="1"/>
          <p:nvPr/>
        </p:nvSpPr>
        <p:spPr>
          <a:xfrm>
            <a:off x="777240" y="5788152"/>
            <a:ext cx="10698480" cy="438912"/>
          </a:xfrm>
          <a:prstGeom prst="rect">
            <a:avLst/>
          </a:prstGeom>
          <a:noFill/>
          <a:ln/>
        </p:spPr>
        <p:txBody>
          <a:bodyPr wrap="square" lIns="0" tIns="0" rIns="0" bIns="0" rtlCol="0" anchor="ctr"/>
          <a:lstStyle/>
          <a:p>
            <a:pPr marL="0" indent="0">
              <a:buNone/>
            </a:pPr>
            <a:r>
              <a:rPr lang="en-US" sz="1300" b="1" dirty="0">
                <a:solidFill>
                  <a:srgbClr val="E8A33D"/>
                </a:solidFill>
              </a:rPr>
              <a:t>Receipt chain:  </a:t>
            </a:r>
            <a:r>
              <a:rPr lang="en-US" sz="1300" dirty="0">
                <a:solidFill>
                  <a:schemeClr val="bg1"/>
                </a:solidFill>
              </a:rPr>
              <a:t>every stage writes a versioned JSON receipt to S3; the next stage validates it before creating any AWS resource</a:t>
            </a:r>
            <a:endParaRPr lang="en-US" sz="1300" dirty="0"/>
          </a:p>
        </p:txBody>
      </p:sp>
      <p:sp>
        <p:nvSpPr>
          <p:cNvPr id="13"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tepper-line"/>
          <p:cNvSpPr/>
          <p:nvPr/>
        </p:nvSpPr>
        <p:spPr>
          <a:xfrm>
            <a:off x="731520" y="466344"/>
            <a:ext cx="10732313" cy="0"/>
          </a:xfrm>
          <a:prstGeom prst="line">
            <a:avLst/>
          </a:prstGeom>
          <a:noFill/>
          <a:ln w="19050">
            <a:solidFill>
              <a:srgbClr val="BFE3E0"/>
            </a:solidFill>
            <a:prstDash val="solid"/>
          </a:ln>
        </p:spPr>
      </p:sp>
      <p:sp>
        <p:nvSpPr>
          <p:cNvPr id="3" name="step-1"/>
          <p:cNvSpPr/>
          <p:nvPr/>
        </p:nvSpPr>
        <p:spPr>
          <a:xfrm>
            <a:off x="548640" y="292608"/>
            <a:ext cx="1298448" cy="347472"/>
          </a:xfrm>
          <a:prstGeom prst="roundRect">
            <a:avLst>
              <a:gd name="adj" fmla="val 50000"/>
            </a:avLst>
          </a:prstGeom>
          <a:solidFill>
            <a:schemeClr val="accent1"/>
          </a:solidFill>
          <a:ln w="9525">
            <a:solidFill>
              <a:srgbClr val="0F7C7A"/>
            </a:solidFill>
          </a:ln>
        </p:spPr>
        <p:txBody>
          <a:bodyPr wrap="square" lIns="0" tIns="0" rIns="0" bIns="0" rtlCol="0" anchor="ctr"/>
          <a:lstStyle/>
          <a:p>
            <a:pPr marL="0" indent="0" algn="ctr">
              <a:buNone/>
            </a:pPr>
            <a:r>
              <a:rPr lang="en-US" sz="1000" b="1" dirty="0">
                <a:solidFill>
                  <a:schemeClr val="bg1"/>
                </a:solidFill>
              </a:rPr>
              <a:t>1  Data collection</a:t>
            </a:r>
            <a:endParaRPr lang="en-US" sz="1000" dirty="0"/>
          </a:p>
        </p:txBody>
      </p:sp>
      <p:sp>
        <p:nvSpPr>
          <p:cNvPr id="4" name="step-2"/>
          <p:cNvSpPr/>
          <p:nvPr/>
        </p:nvSpPr>
        <p:spPr>
          <a:xfrm>
            <a:off x="1948586" y="292608"/>
            <a:ext cx="1298448" cy="347472"/>
          </a:xfrm>
          <a:prstGeom prst="roundRect">
            <a:avLst>
              <a:gd name="adj" fmla="val 50000"/>
            </a:avLst>
          </a:prstGeom>
          <a:solidFill>
            <a:schemeClr val="bg2"/>
          </a:solidFill>
          <a:ln w="9525">
            <a:solidFill>
              <a:srgbClr val="EEF3F7"/>
            </a:solidFill>
          </a:ln>
        </p:spPr>
        <p:txBody>
          <a:bodyPr wrap="square" lIns="0" tIns="0" rIns="0" bIns="0" rtlCol="0" anchor="ctr"/>
          <a:lstStyle/>
          <a:p>
            <a:pPr marL="0" indent="0" algn="ctr">
              <a:buNone/>
            </a:pPr>
            <a:r>
              <a:rPr lang="en-US" sz="1000" dirty="0">
                <a:solidFill>
                  <a:schemeClr val="tx2"/>
                </a:solidFill>
              </a:rPr>
              <a:t>2  Feature engineering</a:t>
            </a:r>
            <a:endParaRPr lang="en-US" sz="1000" dirty="0"/>
          </a:p>
        </p:txBody>
      </p:sp>
      <p:sp>
        <p:nvSpPr>
          <p:cNvPr id="5" name="step-3"/>
          <p:cNvSpPr/>
          <p:nvPr/>
        </p:nvSpPr>
        <p:spPr>
          <a:xfrm>
            <a:off x="3348533" y="292608"/>
            <a:ext cx="1298448" cy="347472"/>
          </a:xfrm>
          <a:prstGeom prst="roundRect">
            <a:avLst>
              <a:gd name="adj" fmla="val 50000"/>
            </a:avLst>
          </a:prstGeom>
          <a:solidFill>
            <a:schemeClr val="bg2"/>
          </a:solidFill>
          <a:ln w="9525">
            <a:solidFill>
              <a:srgbClr val="EEF3F7"/>
            </a:solidFill>
          </a:ln>
        </p:spPr>
        <p:txBody>
          <a:bodyPr wrap="square" lIns="0" tIns="0" rIns="0" bIns="0" rtlCol="0" anchor="ctr"/>
          <a:lstStyle/>
          <a:p>
            <a:pPr marL="0" indent="0" algn="ctr">
              <a:buNone/>
            </a:pPr>
            <a:r>
              <a:rPr lang="en-US" sz="1000" dirty="0">
                <a:solidFill>
                  <a:schemeClr val="tx2"/>
                </a:solidFill>
              </a:rPr>
              <a:t>3  Feature Store</a:t>
            </a:r>
            <a:endParaRPr lang="en-US" sz="1000" dirty="0"/>
          </a:p>
        </p:txBody>
      </p:sp>
      <p:sp>
        <p:nvSpPr>
          <p:cNvPr id="6" name="step-4"/>
          <p:cNvSpPr/>
          <p:nvPr/>
        </p:nvSpPr>
        <p:spPr>
          <a:xfrm>
            <a:off x="4748479" y="292608"/>
            <a:ext cx="1298448" cy="347472"/>
          </a:xfrm>
          <a:prstGeom prst="roundRect">
            <a:avLst>
              <a:gd name="adj" fmla="val 50000"/>
            </a:avLst>
          </a:prstGeom>
          <a:solidFill>
            <a:schemeClr val="bg2"/>
          </a:solidFill>
          <a:ln w="9525">
            <a:solidFill>
              <a:srgbClr val="EEF3F7"/>
            </a:solidFill>
          </a:ln>
        </p:spPr>
        <p:txBody>
          <a:bodyPr wrap="square" lIns="0" tIns="0" rIns="0" bIns="0" rtlCol="0" anchor="ctr"/>
          <a:lstStyle/>
          <a:p>
            <a:pPr marL="0" indent="0" algn="ctr">
              <a:buNone/>
            </a:pPr>
            <a:r>
              <a:rPr lang="en-US" sz="1000" dirty="0">
                <a:solidFill>
                  <a:schemeClr val="tx2"/>
                </a:solidFill>
              </a:rPr>
              <a:t>4  Model development</a:t>
            </a:r>
            <a:endParaRPr lang="en-US" sz="1000" dirty="0"/>
          </a:p>
        </p:txBody>
      </p:sp>
      <p:sp>
        <p:nvSpPr>
          <p:cNvPr id="7" name="step-5"/>
          <p:cNvSpPr/>
          <p:nvPr/>
        </p:nvSpPr>
        <p:spPr>
          <a:xfrm>
            <a:off x="6148426" y="292608"/>
            <a:ext cx="1298448" cy="347472"/>
          </a:xfrm>
          <a:prstGeom prst="roundRect">
            <a:avLst>
              <a:gd name="adj" fmla="val 50000"/>
            </a:avLst>
          </a:prstGeom>
          <a:solidFill>
            <a:schemeClr val="bg2"/>
          </a:solidFill>
          <a:ln w="9525">
            <a:solidFill>
              <a:srgbClr val="EEF3F7"/>
            </a:solidFill>
          </a:ln>
        </p:spPr>
        <p:txBody>
          <a:bodyPr wrap="square" lIns="0" tIns="0" rIns="0" bIns="0" rtlCol="0" anchor="ctr"/>
          <a:lstStyle/>
          <a:p>
            <a:pPr marL="0" indent="0" algn="ctr">
              <a:buNone/>
            </a:pPr>
            <a:r>
              <a:rPr lang="en-US" sz="1000" dirty="0">
                <a:solidFill>
                  <a:schemeClr val="tx2"/>
                </a:solidFill>
              </a:rPr>
              <a:t>5  Evaluation</a:t>
            </a:r>
            <a:endParaRPr lang="en-US" sz="1000" dirty="0"/>
          </a:p>
        </p:txBody>
      </p:sp>
      <p:sp>
        <p:nvSpPr>
          <p:cNvPr id="8" name="step-6"/>
          <p:cNvSpPr/>
          <p:nvPr/>
        </p:nvSpPr>
        <p:spPr>
          <a:xfrm>
            <a:off x="7548372" y="292608"/>
            <a:ext cx="1298448" cy="347472"/>
          </a:xfrm>
          <a:prstGeom prst="roundRect">
            <a:avLst>
              <a:gd name="adj" fmla="val 50000"/>
            </a:avLst>
          </a:prstGeom>
          <a:solidFill>
            <a:schemeClr val="bg2"/>
          </a:solidFill>
          <a:ln w="9525">
            <a:solidFill>
              <a:srgbClr val="EEF3F7"/>
            </a:solidFill>
          </a:ln>
        </p:spPr>
        <p:txBody>
          <a:bodyPr wrap="square" lIns="0" tIns="0" rIns="0" bIns="0" rtlCol="0" anchor="ctr"/>
          <a:lstStyle/>
          <a:p>
            <a:pPr marL="0" indent="0" algn="ctr">
              <a:buNone/>
            </a:pPr>
            <a:r>
              <a:rPr lang="en-US" sz="1000" dirty="0">
                <a:solidFill>
                  <a:schemeClr val="tx2"/>
                </a:solidFill>
              </a:rPr>
              <a:t>6  Monitoring &amp; CI/CD</a:t>
            </a:r>
            <a:endParaRPr lang="en-US" sz="1000" dirty="0"/>
          </a:p>
        </p:txBody>
      </p:sp>
      <p:sp>
        <p:nvSpPr>
          <p:cNvPr id="9" name="step-7"/>
          <p:cNvSpPr/>
          <p:nvPr/>
        </p:nvSpPr>
        <p:spPr>
          <a:xfrm>
            <a:off x="8948318" y="292608"/>
            <a:ext cx="1298448" cy="347472"/>
          </a:xfrm>
          <a:prstGeom prst="roundRect">
            <a:avLst>
              <a:gd name="adj" fmla="val 50000"/>
            </a:avLst>
          </a:prstGeom>
          <a:solidFill>
            <a:schemeClr val="bg2"/>
          </a:solidFill>
          <a:ln w="9525">
            <a:solidFill>
              <a:srgbClr val="EEF3F7"/>
            </a:solidFill>
          </a:ln>
        </p:spPr>
        <p:txBody>
          <a:bodyPr wrap="square" lIns="0" tIns="0" rIns="0" bIns="0" rtlCol="0" anchor="ctr"/>
          <a:lstStyle/>
          <a:p>
            <a:pPr marL="0" indent="0" algn="ctr">
              <a:buNone/>
            </a:pPr>
            <a:r>
              <a:rPr lang="en-US" sz="1000" dirty="0">
                <a:solidFill>
                  <a:schemeClr val="tx2"/>
                </a:solidFill>
              </a:rPr>
              <a:t>7  Deployment</a:t>
            </a:r>
            <a:endParaRPr lang="en-US" sz="1000" dirty="0"/>
          </a:p>
        </p:txBody>
      </p:sp>
      <p:sp>
        <p:nvSpPr>
          <p:cNvPr id="10" name="step-8"/>
          <p:cNvSpPr/>
          <p:nvPr/>
        </p:nvSpPr>
        <p:spPr>
          <a:xfrm>
            <a:off x="10348265" y="292608"/>
            <a:ext cx="1298448" cy="347472"/>
          </a:xfrm>
          <a:prstGeom prst="roundRect">
            <a:avLst>
              <a:gd name="adj" fmla="val 50000"/>
            </a:avLst>
          </a:prstGeom>
          <a:solidFill>
            <a:schemeClr val="bg2"/>
          </a:solidFill>
          <a:ln w="9525">
            <a:solidFill>
              <a:srgbClr val="EEF3F7"/>
            </a:solidFill>
          </a:ln>
        </p:spPr>
        <p:txBody>
          <a:bodyPr wrap="square" lIns="0" tIns="0" rIns="0" bIns="0" rtlCol="0" anchor="ctr"/>
          <a:lstStyle/>
          <a:p>
            <a:pPr marL="0" indent="0" algn="ctr">
              <a:buNone/>
            </a:pPr>
            <a:r>
              <a:rPr lang="en-US" sz="1000" dirty="0">
                <a:solidFill>
                  <a:schemeClr val="tx2"/>
                </a:solidFill>
              </a:rPr>
              <a:t>8  RAG inference</a:t>
            </a:r>
            <a:endParaRPr lang="en-US" sz="1000" dirty="0"/>
          </a:p>
        </p:txBody>
      </p:sp>
      <p:sp>
        <p:nvSpPr>
          <p:cNvPr id="11" name="Text 1"/>
          <p:cNvSpPr>
            <a:spLocks noGrp="1"/>
          </p:cNvSpPr>
          <p:nvPr>
            <p:ph type="body" idx="101" hasCustomPrompt="1"/>
          </p:nvPr>
        </p:nvSpPr>
        <p:spPr>
          <a:xfrm>
            <a:off x="548640" y="868680"/>
            <a:ext cx="10972800" cy="292608"/>
          </a:xfrm>
          <a:prstGeom prst="rect">
            <a:avLst/>
          </a:prstGeom>
          <a:noFill/>
          <a:ln/>
        </p:spPr>
        <p:txBody>
          <a:bodyPr wrap="square" lIns="0" tIns="0" rIns="0" bIns="0" rtlCol="0" anchor="ctr"/>
          <a:lstStyle/>
          <a:p>
            <a:pPr marL="0" indent="0">
              <a:buNone/>
            </a:pPr>
            <a:r>
              <a:rPr lang="en-US" sz="1200" b="1" dirty="0">
                <a:solidFill>
                  <a:schemeClr val="accent1"/>
                </a:solidFill>
              </a:rPr>
              <a:t>PHASE 1  ·  AAI540_SageMaker_DataLake_FeatureStore.ipynb</a:t>
            </a:r>
            <a:endParaRPr lang="en-US" sz="1200" dirty="0"/>
          </a:p>
        </p:txBody>
      </p:sp>
      <p:sp>
        <p:nvSpPr>
          <p:cNvPr id="12" name="Text 1"/>
          <p:cNvSpPr>
            <a:spLocks noGrp="1"/>
          </p:cNvSpPr>
          <p:nvPr>
            <p:ph type="title" idx="102" hasCustomPrompt="1"/>
          </p:nvPr>
        </p:nvSpPr>
        <p:spPr>
          <a:xfrm>
            <a:off x="548640" y="1161288"/>
            <a:ext cx="11064240" cy="685800"/>
          </a:xfrm>
          <a:prstGeom prst="rect">
            <a:avLst/>
          </a:prstGeom>
          <a:noFill/>
          <a:ln/>
        </p:spPr>
        <p:txBody>
          <a:bodyPr wrap="square" lIns="0" tIns="0" rIns="0" bIns="0" rtlCol="0" anchor="ctr"/>
          <a:lstStyle/>
          <a:p>
            <a:pPr marL="0" indent="0" algn="l">
              <a:buNone/>
            </a:pPr>
            <a:r>
              <a:rPr lang="en-US" sz="3000" b="1" dirty="0">
                <a:solidFill>
                  <a:schemeClr val="tx2"/>
                </a:solidFill>
                <a:latin typeface="Cambria" pitchFamily="34" charset="0"/>
                <a:ea typeface="Cambria" pitchFamily="34" charset="-122"/>
                <a:cs typeface="Cambria" pitchFamily="34" charset="-120"/>
              </a:rPr>
              <a:t>Data collection: ePQA into a versioned S3 data lake</a:t>
            </a:r>
            <a:endParaRPr lang="en-US" sz="3000" dirty="0"/>
          </a:p>
        </p:txBody>
      </p:sp>
      <p:sp>
        <p:nvSpPr>
          <p:cNvPr id="14" name="funnel-0"/>
          <p:cNvSpPr/>
          <p:nvPr/>
        </p:nvSpPr>
        <p:spPr>
          <a:xfrm>
            <a:off x="548640" y="2148840"/>
            <a:ext cx="1600200" cy="1417320"/>
          </a:xfrm>
          <a:prstGeom prst="roundRect">
            <a:avLst>
              <a:gd name="adj" fmla="val 7742"/>
            </a:avLst>
          </a:prstGeom>
          <a:solidFill>
            <a:srgbClr val="EEF3F7"/>
          </a:solidFill>
          <a:ln w="9525">
            <a:solidFill>
              <a:srgbClr val="EEF3F7"/>
            </a:solidFill>
            <a:prstDash val="solid"/>
          </a:ln>
        </p:spPr>
      </p:sp>
      <p:sp>
        <p:nvSpPr>
          <p:cNvPr id="15" name="funnel-v0"/>
          <p:cNvSpPr txBox="1"/>
          <p:nvPr/>
        </p:nvSpPr>
        <p:spPr>
          <a:xfrm>
            <a:off x="685800" y="2240280"/>
            <a:ext cx="1371600" cy="548640"/>
          </a:xfrm>
          <a:prstGeom prst="rect">
            <a:avLst/>
          </a:prstGeom>
          <a:noFill/>
          <a:ln/>
        </p:spPr>
        <p:txBody>
          <a:bodyPr wrap="square" lIns="0" tIns="0" rIns="0" bIns="0" rtlCol="0" anchor="ctr"/>
          <a:lstStyle/>
          <a:p>
            <a:pPr marL="0" indent="0">
              <a:buNone/>
            </a:pPr>
            <a:r>
              <a:rPr lang="en-US" sz="2600" b="1" dirty="0">
                <a:solidFill>
                  <a:schemeClr val="tx2"/>
                </a:solidFill>
                <a:latin typeface="Cambria" pitchFamily="34" charset="0"/>
                <a:ea typeface="Cambria" pitchFamily="34" charset="-122"/>
                <a:cs typeface="Cambria" pitchFamily="34" charset="-120"/>
              </a:rPr>
              <a:t>151,662</a:t>
            </a:r>
            <a:endParaRPr lang="en-US" sz="2600" dirty="0"/>
          </a:p>
        </p:txBody>
      </p:sp>
      <p:sp>
        <p:nvSpPr>
          <p:cNvPr id="16" name="funnel-l0"/>
          <p:cNvSpPr txBox="1"/>
          <p:nvPr/>
        </p:nvSpPr>
        <p:spPr>
          <a:xfrm>
            <a:off x="685800" y="2788920"/>
            <a:ext cx="1371600" cy="685800"/>
          </a:xfrm>
          <a:prstGeom prst="rect">
            <a:avLst/>
          </a:prstGeom>
          <a:noFill/>
          <a:ln/>
        </p:spPr>
        <p:txBody>
          <a:bodyPr wrap="square" lIns="0" tIns="0" rIns="0" bIns="0" rtlCol="0" anchor="t"/>
          <a:lstStyle/>
          <a:p>
            <a:pPr marL="0" indent="0">
              <a:buNone/>
            </a:pPr>
            <a:r>
              <a:rPr lang="en-US" sz="1100" dirty="0">
                <a:solidFill>
                  <a:schemeClr val="tx1"/>
                </a:solidFill>
              </a:rPr>
              <a:t>official ePQA rows</a:t>
            </a:r>
            <a:endParaRPr lang="en-US" sz="1100" dirty="0"/>
          </a:p>
          <a:p>
            <a:pPr marL="0" indent="0">
              <a:buNone/>
            </a:pPr>
            <a:r>
              <a:rPr lang="en-US" sz="1100" dirty="0">
                <a:solidFill>
                  <a:schemeClr val="tx1"/>
                </a:solidFill>
              </a:rPr>
              <a:t>(train / dev / test CSV)</a:t>
            </a:r>
            <a:endParaRPr lang="en-US" sz="1100" dirty="0"/>
          </a:p>
        </p:txBody>
      </p:sp>
      <p:sp>
        <p:nvSpPr>
          <p:cNvPr id="17" name="funnel-a0"/>
          <p:cNvSpPr/>
          <p:nvPr/>
        </p:nvSpPr>
        <p:spPr>
          <a:xfrm>
            <a:off x="2167128" y="2852928"/>
            <a:ext cx="146304" cy="0"/>
          </a:xfrm>
          <a:prstGeom prst="line">
            <a:avLst/>
          </a:prstGeom>
          <a:noFill/>
          <a:ln w="19050">
            <a:solidFill>
              <a:srgbClr val="627D98"/>
            </a:solidFill>
            <a:prstDash val="solid"/>
            <a:tailEnd type="triangle"/>
          </a:ln>
        </p:spPr>
      </p:sp>
      <p:sp>
        <p:nvSpPr>
          <p:cNvPr id="18" name="funnel-1"/>
          <p:cNvSpPr/>
          <p:nvPr/>
        </p:nvSpPr>
        <p:spPr>
          <a:xfrm>
            <a:off x="2331720" y="2148840"/>
            <a:ext cx="1600200" cy="1417320"/>
          </a:xfrm>
          <a:prstGeom prst="roundRect">
            <a:avLst>
              <a:gd name="adj" fmla="val 7742"/>
            </a:avLst>
          </a:prstGeom>
          <a:solidFill>
            <a:srgbClr val="EEF3F7"/>
          </a:solidFill>
          <a:ln w="9525">
            <a:solidFill>
              <a:srgbClr val="EEF3F7"/>
            </a:solidFill>
            <a:prstDash val="solid"/>
          </a:ln>
        </p:spPr>
      </p:sp>
      <p:sp>
        <p:nvSpPr>
          <p:cNvPr id="19" name="funnel-v1"/>
          <p:cNvSpPr txBox="1"/>
          <p:nvPr/>
        </p:nvSpPr>
        <p:spPr>
          <a:xfrm>
            <a:off x="2468880" y="2240280"/>
            <a:ext cx="1371600" cy="548640"/>
          </a:xfrm>
          <a:prstGeom prst="rect">
            <a:avLst/>
          </a:prstGeom>
          <a:noFill/>
          <a:ln/>
        </p:spPr>
        <p:txBody>
          <a:bodyPr wrap="square" lIns="0" tIns="0" rIns="0" bIns="0" rtlCol="0" anchor="ctr"/>
          <a:lstStyle/>
          <a:p>
            <a:pPr marL="0" indent="0">
              <a:buNone/>
            </a:pPr>
            <a:r>
              <a:rPr lang="en-US" sz="2600" b="1" dirty="0">
                <a:solidFill>
                  <a:schemeClr val="tx2"/>
                </a:solidFill>
                <a:latin typeface="Cambria" pitchFamily="34" charset="0"/>
                <a:ea typeface="Cambria" pitchFamily="34" charset="-122"/>
                <a:cs typeface="Cambria" pitchFamily="34" charset="-120"/>
              </a:rPr>
              <a:t>24,991</a:t>
            </a:r>
            <a:endParaRPr lang="en-US" sz="2600" dirty="0"/>
          </a:p>
        </p:txBody>
      </p:sp>
      <p:sp>
        <p:nvSpPr>
          <p:cNvPr id="20" name="funnel-l1"/>
          <p:cNvSpPr txBox="1"/>
          <p:nvPr/>
        </p:nvSpPr>
        <p:spPr>
          <a:xfrm>
            <a:off x="2468880" y="2788920"/>
            <a:ext cx="1371600" cy="685800"/>
          </a:xfrm>
          <a:prstGeom prst="rect">
            <a:avLst/>
          </a:prstGeom>
          <a:noFill/>
          <a:ln/>
        </p:spPr>
        <p:txBody>
          <a:bodyPr wrap="square" lIns="0" tIns="0" rIns="0" bIns="0" rtlCol="0" anchor="t"/>
          <a:lstStyle/>
          <a:p>
            <a:pPr marL="0" indent="0">
              <a:buNone/>
            </a:pPr>
            <a:r>
              <a:rPr lang="en-US" sz="1100" dirty="0">
                <a:solidFill>
                  <a:schemeClr val="tx1"/>
                </a:solidFill>
              </a:rPr>
              <a:t>deterministic subset</a:t>
            </a:r>
            <a:endParaRPr lang="en-US" sz="1100" dirty="0"/>
          </a:p>
          <a:p>
            <a:pPr marL="0" indent="0">
              <a:buNone/>
            </a:pPr>
            <a:r>
              <a:rPr lang="en-US" sz="1100" dirty="0">
                <a:solidFill>
                  <a:schemeClr val="tx1"/>
                </a:solidFill>
              </a:rPr>
              <a:t>(seed 540)</a:t>
            </a:r>
            <a:endParaRPr lang="en-US" sz="1100" dirty="0"/>
          </a:p>
        </p:txBody>
      </p:sp>
      <p:sp>
        <p:nvSpPr>
          <p:cNvPr id="21" name="funnel-a1"/>
          <p:cNvSpPr/>
          <p:nvPr/>
        </p:nvSpPr>
        <p:spPr>
          <a:xfrm>
            <a:off x="3950208" y="2852928"/>
            <a:ext cx="146304" cy="0"/>
          </a:xfrm>
          <a:prstGeom prst="line">
            <a:avLst/>
          </a:prstGeom>
          <a:noFill/>
          <a:ln w="19050">
            <a:solidFill>
              <a:srgbClr val="627D98"/>
            </a:solidFill>
            <a:prstDash val="solid"/>
            <a:tailEnd type="triangle"/>
          </a:ln>
        </p:spPr>
      </p:sp>
      <p:sp>
        <p:nvSpPr>
          <p:cNvPr id="22" name="funnel-2"/>
          <p:cNvSpPr/>
          <p:nvPr/>
        </p:nvSpPr>
        <p:spPr>
          <a:xfrm>
            <a:off x="4114800" y="2148840"/>
            <a:ext cx="1600200" cy="1417320"/>
          </a:xfrm>
          <a:prstGeom prst="roundRect">
            <a:avLst>
              <a:gd name="adj" fmla="val 7742"/>
            </a:avLst>
          </a:prstGeom>
          <a:solidFill>
            <a:srgbClr val="BFE3E0"/>
          </a:solidFill>
          <a:ln w="9525">
            <a:solidFill>
              <a:srgbClr val="EEF3F7"/>
            </a:solidFill>
            <a:prstDash val="solid"/>
          </a:ln>
        </p:spPr>
      </p:sp>
      <p:sp>
        <p:nvSpPr>
          <p:cNvPr id="23" name="funnel-v2"/>
          <p:cNvSpPr txBox="1"/>
          <p:nvPr/>
        </p:nvSpPr>
        <p:spPr>
          <a:xfrm>
            <a:off x="4251960" y="2240280"/>
            <a:ext cx="1371600" cy="548640"/>
          </a:xfrm>
          <a:prstGeom prst="rect">
            <a:avLst/>
          </a:prstGeom>
          <a:noFill/>
          <a:ln/>
        </p:spPr>
        <p:txBody>
          <a:bodyPr wrap="square" lIns="0" tIns="0" rIns="0" bIns="0" rtlCol="0" anchor="ctr"/>
          <a:lstStyle/>
          <a:p>
            <a:pPr marL="0" indent="0">
              <a:buNone/>
            </a:pPr>
            <a:r>
              <a:rPr lang="en-US" sz="2600" b="1" dirty="0">
                <a:solidFill>
                  <a:schemeClr val="tx2"/>
                </a:solidFill>
                <a:latin typeface="Cambria" pitchFamily="34" charset="0"/>
                <a:ea typeface="Cambria" pitchFamily="34" charset="-122"/>
                <a:cs typeface="Cambria" pitchFamily="34" charset="-120"/>
              </a:rPr>
              <a:t>24,966</a:t>
            </a:r>
            <a:endParaRPr lang="en-US" sz="2600" dirty="0"/>
          </a:p>
        </p:txBody>
      </p:sp>
      <p:sp>
        <p:nvSpPr>
          <p:cNvPr id="24" name="funnel-l2"/>
          <p:cNvSpPr txBox="1"/>
          <p:nvPr/>
        </p:nvSpPr>
        <p:spPr>
          <a:xfrm>
            <a:off x="4251960" y="2788920"/>
            <a:ext cx="1371600" cy="685800"/>
          </a:xfrm>
          <a:prstGeom prst="rect">
            <a:avLst/>
          </a:prstGeom>
          <a:noFill/>
          <a:ln/>
        </p:spPr>
        <p:txBody>
          <a:bodyPr wrap="square" lIns="0" tIns="0" rIns="0" bIns="0" rtlCol="0" anchor="t"/>
          <a:lstStyle/>
          <a:p>
            <a:pPr marL="0" indent="0">
              <a:buNone/>
            </a:pPr>
            <a:r>
              <a:rPr lang="en-US" sz="1100" dirty="0">
                <a:solidFill>
                  <a:schemeClr val="tx1"/>
                </a:solidFill>
              </a:rPr>
              <a:t>accepted after validation</a:t>
            </a:r>
            <a:endParaRPr lang="en-US" sz="1100" dirty="0"/>
          </a:p>
          <a:p>
            <a:pPr marL="0" indent="0">
              <a:buNone/>
            </a:pPr>
            <a:r>
              <a:rPr lang="en-US" sz="1100" dirty="0">
                <a:solidFill>
                  <a:schemeClr val="tx1"/>
                </a:solidFill>
              </a:rPr>
              <a:t>(25 rejected)</a:t>
            </a:r>
            <a:endParaRPr lang="en-US" sz="1100" dirty="0"/>
          </a:p>
        </p:txBody>
      </p:sp>
      <p:sp>
        <p:nvSpPr>
          <p:cNvPr id="25" name="funnel-a2"/>
          <p:cNvSpPr/>
          <p:nvPr/>
        </p:nvSpPr>
        <p:spPr>
          <a:xfrm>
            <a:off x="5733288" y="2852928"/>
            <a:ext cx="146304" cy="0"/>
          </a:xfrm>
          <a:prstGeom prst="line">
            <a:avLst/>
          </a:prstGeom>
          <a:noFill/>
          <a:ln w="19050">
            <a:solidFill>
              <a:srgbClr val="627D98"/>
            </a:solidFill>
            <a:prstDash val="solid"/>
            <a:tailEnd type="triangle"/>
          </a:ln>
        </p:spPr>
      </p:sp>
      <p:sp>
        <p:nvSpPr>
          <p:cNvPr id="26" name="funnel-3"/>
          <p:cNvSpPr/>
          <p:nvPr/>
        </p:nvSpPr>
        <p:spPr>
          <a:xfrm>
            <a:off x="5897880" y="2148840"/>
            <a:ext cx="1600200" cy="1417320"/>
          </a:xfrm>
          <a:prstGeom prst="roundRect">
            <a:avLst>
              <a:gd name="adj" fmla="val 7742"/>
            </a:avLst>
          </a:prstGeom>
          <a:solidFill>
            <a:srgbClr val="EEF3F7"/>
          </a:solidFill>
          <a:ln w="9525">
            <a:solidFill>
              <a:srgbClr val="EEF3F7"/>
            </a:solidFill>
            <a:prstDash val="solid"/>
          </a:ln>
        </p:spPr>
      </p:sp>
      <p:sp>
        <p:nvSpPr>
          <p:cNvPr id="27" name="funnel-v3"/>
          <p:cNvSpPr txBox="1"/>
          <p:nvPr/>
        </p:nvSpPr>
        <p:spPr>
          <a:xfrm>
            <a:off x="6035040" y="2240280"/>
            <a:ext cx="1371600" cy="548640"/>
          </a:xfrm>
          <a:prstGeom prst="rect">
            <a:avLst/>
          </a:prstGeom>
          <a:noFill/>
          <a:ln/>
        </p:spPr>
        <p:txBody>
          <a:bodyPr wrap="square" lIns="0" tIns="0" rIns="0" bIns="0" rtlCol="0" anchor="ctr"/>
          <a:lstStyle/>
          <a:p>
            <a:pPr marL="0" indent="0">
              <a:buNone/>
            </a:pPr>
            <a:r>
              <a:rPr lang="en-US" sz="2600" b="1" dirty="0">
                <a:solidFill>
                  <a:schemeClr val="tx2"/>
                </a:solidFill>
                <a:latin typeface="Cambria" pitchFamily="34" charset="0"/>
                <a:ea typeface="Cambria" pitchFamily="34" charset="-122"/>
                <a:cs typeface="Cambria" pitchFamily="34" charset="-120"/>
              </a:rPr>
              <a:t>2,128</a:t>
            </a:r>
            <a:endParaRPr lang="en-US" sz="2600" dirty="0"/>
          </a:p>
        </p:txBody>
      </p:sp>
      <p:sp>
        <p:nvSpPr>
          <p:cNvPr id="28" name="funnel-l3"/>
          <p:cNvSpPr txBox="1"/>
          <p:nvPr/>
        </p:nvSpPr>
        <p:spPr>
          <a:xfrm>
            <a:off x="6035040" y="2788920"/>
            <a:ext cx="1371600" cy="685800"/>
          </a:xfrm>
          <a:prstGeom prst="rect">
            <a:avLst/>
          </a:prstGeom>
          <a:noFill/>
          <a:ln/>
        </p:spPr>
        <p:txBody>
          <a:bodyPr wrap="square" lIns="0" tIns="0" rIns="0" bIns="0" rtlCol="0" anchor="t"/>
          <a:lstStyle/>
          <a:p>
            <a:pPr marL="0" indent="0">
              <a:buNone/>
            </a:pPr>
            <a:r>
              <a:rPr lang="en-US" sz="1100" dirty="0">
                <a:solidFill>
                  <a:schemeClr val="tx1"/>
                </a:solidFill>
              </a:rPr>
              <a:t>products · 2,497 questions</a:t>
            </a:r>
            <a:endParaRPr lang="en-US" sz="1100" dirty="0"/>
          </a:p>
          <a:p>
            <a:pPr marL="0" indent="0">
              <a:buNone/>
            </a:pPr>
            <a:r>
              <a:rPr lang="en-US" sz="1100" dirty="0">
                <a:solidFill>
                  <a:schemeClr val="tx1"/>
                </a:solidFill>
              </a:rPr>
              <a:t>8 evidence sources</a:t>
            </a:r>
            <a:endParaRPr lang="en-US" sz="1100" dirty="0"/>
          </a:p>
        </p:txBody>
      </p:sp>
      <p:sp>
        <p:nvSpPr>
          <p:cNvPr id="29" name="flow-h"/>
          <p:cNvSpPr txBox="1"/>
          <p:nvPr/>
        </p:nvSpPr>
        <p:spPr>
          <a:xfrm>
            <a:off x="548640" y="3840480"/>
            <a:ext cx="6858000" cy="320040"/>
          </a:xfrm>
          <a:prstGeom prst="rect">
            <a:avLst/>
          </a:prstGeom>
          <a:noFill/>
          <a:ln/>
        </p:spPr>
        <p:txBody>
          <a:bodyPr wrap="square" lIns="0" tIns="0" rIns="0" bIns="0" rtlCol="0" anchor="ctr"/>
          <a:lstStyle/>
          <a:p>
            <a:pPr marL="0" indent="0">
              <a:buNone/>
            </a:pPr>
            <a:r>
              <a:rPr lang="en-US" sz="1400" b="1" dirty="0">
                <a:solidFill>
                  <a:schemeClr val="tx2"/>
                </a:solidFill>
              </a:rPr>
              <a:t>Data-lake flow</a:t>
            </a:r>
            <a:endParaRPr lang="en-US" sz="1400" dirty="0"/>
          </a:p>
        </p:txBody>
      </p:sp>
      <p:sp>
        <p:nvSpPr>
          <p:cNvPr id="30" name="flow-0"/>
          <p:cNvSpPr/>
          <p:nvPr/>
        </p:nvSpPr>
        <p:spPr>
          <a:xfrm>
            <a:off x="548640" y="4251960"/>
            <a:ext cx="1024128" cy="685800"/>
          </a:xfrm>
          <a:prstGeom prst="roundRect">
            <a:avLst>
              <a:gd name="adj" fmla="val 13333"/>
            </a:avLst>
          </a:prstGeom>
          <a:solidFill>
            <a:schemeClr val="accent1"/>
          </a:solidFill>
          <a:ln/>
        </p:spPr>
        <p:txBody>
          <a:bodyPr wrap="square" lIns="25400" tIns="25400" rIns="25400" bIns="25400" rtlCol="0" anchor="ctr"/>
          <a:lstStyle/>
          <a:p>
            <a:pPr marL="0" indent="0" algn="ctr">
              <a:buNone/>
            </a:pPr>
            <a:r>
              <a:rPr lang="en-US" sz="1100" dirty="0">
                <a:solidFill>
                  <a:schemeClr val="bg1"/>
                </a:solidFill>
              </a:rPr>
              <a:t>ePQA CSVs</a:t>
            </a:r>
            <a:endParaRPr lang="en-US" sz="1100" dirty="0"/>
          </a:p>
        </p:txBody>
      </p:sp>
      <p:sp>
        <p:nvSpPr>
          <p:cNvPr id="31" name="flow-a0"/>
          <p:cNvSpPr/>
          <p:nvPr/>
        </p:nvSpPr>
        <p:spPr>
          <a:xfrm>
            <a:off x="1581912" y="4599432"/>
            <a:ext cx="146304" cy="0"/>
          </a:xfrm>
          <a:prstGeom prst="line">
            <a:avLst/>
          </a:prstGeom>
          <a:noFill/>
          <a:ln w="19050">
            <a:solidFill>
              <a:srgbClr val="627D98"/>
            </a:solidFill>
            <a:prstDash val="solid"/>
            <a:tailEnd type="triangle"/>
          </a:ln>
        </p:spPr>
      </p:sp>
      <p:sp>
        <p:nvSpPr>
          <p:cNvPr id="32" name="flow-1"/>
          <p:cNvSpPr/>
          <p:nvPr/>
        </p:nvSpPr>
        <p:spPr>
          <a:xfrm>
            <a:off x="1737360" y="4251960"/>
            <a:ext cx="1024128" cy="685800"/>
          </a:xfrm>
          <a:prstGeom prst="roundRect">
            <a:avLst>
              <a:gd name="adj" fmla="val 13333"/>
            </a:avLst>
          </a:prstGeom>
          <a:solidFill>
            <a:schemeClr val="bg2"/>
          </a:solidFill>
          <a:ln/>
        </p:spPr>
        <p:txBody>
          <a:bodyPr wrap="square" lIns="25400" tIns="25400" rIns="25400" bIns="25400" rtlCol="0" anchor="ctr"/>
          <a:lstStyle/>
          <a:p>
            <a:pPr marL="0" indent="0" algn="ctr">
              <a:buNone/>
            </a:pPr>
            <a:r>
              <a:rPr lang="en-US" sz="1100" dirty="0">
                <a:solidFill>
                  <a:schemeClr val="tx2"/>
                </a:solidFill>
              </a:rPr>
              <a:t>S3 raw zone</a:t>
            </a:r>
            <a:endParaRPr lang="en-US" sz="1100" dirty="0"/>
          </a:p>
          <a:p>
            <a:pPr marL="0" indent="0" algn="ctr">
              <a:buNone/>
            </a:pPr>
            <a:r>
              <a:rPr lang="en-US" sz="1100" dirty="0">
                <a:solidFill>
                  <a:schemeClr val="tx2"/>
                </a:solidFill>
              </a:rPr>
              <a:t>+ SHA-256</a:t>
            </a:r>
            <a:endParaRPr lang="en-US" sz="1100" dirty="0"/>
          </a:p>
        </p:txBody>
      </p:sp>
      <p:sp>
        <p:nvSpPr>
          <p:cNvPr id="33" name="flow-a1"/>
          <p:cNvSpPr/>
          <p:nvPr/>
        </p:nvSpPr>
        <p:spPr>
          <a:xfrm>
            <a:off x="2770632" y="4599432"/>
            <a:ext cx="146304" cy="0"/>
          </a:xfrm>
          <a:prstGeom prst="line">
            <a:avLst/>
          </a:prstGeom>
          <a:noFill/>
          <a:ln w="19050">
            <a:solidFill>
              <a:srgbClr val="627D98"/>
            </a:solidFill>
            <a:prstDash val="solid"/>
            <a:tailEnd type="triangle"/>
          </a:ln>
        </p:spPr>
      </p:sp>
      <p:sp>
        <p:nvSpPr>
          <p:cNvPr id="34" name="flow-2"/>
          <p:cNvSpPr/>
          <p:nvPr/>
        </p:nvSpPr>
        <p:spPr>
          <a:xfrm>
            <a:off x="2926080" y="4251960"/>
            <a:ext cx="1024128" cy="685800"/>
          </a:xfrm>
          <a:prstGeom prst="roundRect">
            <a:avLst>
              <a:gd name="adj" fmla="val 13333"/>
            </a:avLst>
          </a:prstGeom>
          <a:solidFill>
            <a:schemeClr val="accent1"/>
          </a:solidFill>
          <a:ln/>
        </p:spPr>
        <p:txBody>
          <a:bodyPr wrap="square" lIns="25400" tIns="25400" rIns="25400" bIns="25400" rtlCol="0" anchor="ctr"/>
          <a:lstStyle/>
          <a:p>
            <a:pPr marL="0" indent="0" algn="ctr">
              <a:buNone/>
            </a:pPr>
            <a:r>
              <a:rPr lang="en-US" sz="1100" dirty="0">
                <a:solidFill>
                  <a:schemeClr val="bg1"/>
                </a:solidFill>
              </a:rPr>
              <a:t>Validate &amp;</a:t>
            </a:r>
            <a:endParaRPr lang="en-US" sz="1100" dirty="0"/>
          </a:p>
          <a:p>
            <a:pPr marL="0" indent="0" algn="ctr">
              <a:buNone/>
            </a:pPr>
            <a:r>
              <a:rPr lang="en-US" sz="1100" dirty="0">
                <a:solidFill>
                  <a:schemeClr val="bg1"/>
                </a:solidFill>
              </a:rPr>
              <a:t>normalise</a:t>
            </a:r>
            <a:endParaRPr lang="en-US" sz="1100" dirty="0"/>
          </a:p>
        </p:txBody>
      </p:sp>
      <p:sp>
        <p:nvSpPr>
          <p:cNvPr id="35" name="flow-a2"/>
          <p:cNvSpPr/>
          <p:nvPr/>
        </p:nvSpPr>
        <p:spPr>
          <a:xfrm>
            <a:off x="3959352" y="4599432"/>
            <a:ext cx="146304" cy="0"/>
          </a:xfrm>
          <a:prstGeom prst="line">
            <a:avLst/>
          </a:prstGeom>
          <a:noFill/>
          <a:ln w="19050">
            <a:solidFill>
              <a:srgbClr val="627D98"/>
            </a:solidFill>
            <a:prstDash val="solid"/>
            <a:tailEnd type="triangle"/>
          </a:ln>
        </p:spPr>
      </p:sp>
      <p:sp>
        <p:nvSpPr>
          <p:cNvPr id="36" name="flow-3"/>
          <p:cNvSpPr/>
          <p:nvPr/>
        </p:nvSpPr>
        <p:spPr>
          <a:xfrm>
            <a:off x="4114800" y="4251960"/>
            <a:ext cx="1024128" cy="685800"/>
          </a:xfrm>
          <a:prstGeom prst="roundRect">
            <a:avLst>
              <a:gd name="adj" fmla="val 13333"/>
            </a:avLst>
          </a:prstGeom>
          <a:solidFill>
            <a:schemeClr val="bg2"/>
          </a:solidFill>
          <a:ln/>
        </p:spPr>
        <p:txBody>
          <a:bodyPr wrap="square" lIns="25400" tIns="25400" rIns="25400" bIns="25400" rtlCol="0" anchor="ctr"/>
          <a:lstStyle/>
          <a:p>
            <a:pPr marL="0" indent="0" algn="ctr">
              <a:buNone/>
            </a:pPr>
            <a:r>
              <a:rPr lang="en-US" sz="1100" dirty="0">
                <a:solidFill>
                  <a:schemeClr val="tx2"/>
                </a:solidFill>
              </a:rPr>
              <a:t>S3 curated</a:t>
            </a:r>
            <a:endParaRPr lang="en-US" sz="1100" dirty="0"/>
          </a:p>
          <a:p>
            <a:pPr marL="0" indent="0" algn="ctr">
              <a:buNone/>
            </a:pPr>
            <a:r>
              <a:rPr lang="en-US" sz="1100" dirty="0">
                <a:solidFill>
                  <a:schemeClr val="tx2"/>
                </a:solidFill>
              </a:rPr>
              <a:t>Parquet</a:t>
            </a:r>
            <a:endParaRPr lang="en-US" sz="1100" dirty="0"/>
          </a:p>
        </p:txBody>
      </p:sp>
      <p:sp>
        <p:nvSpPr>
          <p:cNvPr id="37" name="flow-a3"/>
          <p:cNvSpPr/>
          <p:nvPr/>
        </p:nvSpPr>
        <p:spPr>
          <a:xfrm>
            <a:off x="5148072" y="4599432"/>
            <a:ext cx="146304" cy="0"/>
          </a:xfrm>
          <a:prstGeom prst="line">
            <a:avLst/>
          </a:prstGeom>
          <a:noFill/>
          <a:ln w="19050">
            <a:solidFill>
              <a:srgbClr val="627D98"/>
            </a:solidFill>
            <a:prstDash val="solid"/>
            <a:tailEnd type="triangle"/>
          </a:ln>
        </p:spPr>
      </p:sp>
      <p:sp>
        <p:nvSpPr>
          <p:cNvPr id="38" name="flow-4"/>
          <p:cNvSpPr/>
          <p:nvPr/>
        </p:nvSpPr>
        <p:spPr>
          <a:xfrm>
            <a:off x="5303520" y="4251960"/>
            <a:ext cx="1024128" cy="685800"/>
          </a:xfrm>
          <a:prstGeom prst="roundRect">
            <a:avLst>
              <a:gd name="adj" fmla="val 13333"/>
            </a:avLst>
          </a:prstGeom>
          <a:solidFill>
            <a:schemeClr val="accent1"/>
          </a:solidFill>
          <a:ln/>
        </p:spPr>
        <p:txBody>
          <a:bodyPr wrap="square" lIns="25400" tIns="25400" rIns="25400" bIns="25400" rtlCol="0" anchor="ctr"/>
          <a:lstStyle/>
          <a:p>
            <a:pPr marL="0" indent="0" algn="ctr">
              <a:buNone/>
            </a:pPr>
            <a:r>
              <a:rPr lang="en-US" sz="1100" dirty="0">
                <a:solidFill>
                  <a:schemeClr val="bg1"/>
                </a:solidFill>
              </a:rPr>
              <a:t>Glue catalog</a:t>
            </a:r>
            <a:endParaRPr lang="en-US" sz="1100" dirty="0"/>
          </a:p>
          <a:p>
            <a:pPr marL="0" indent="0" algn="ctr">
              <a:buNone/>
            </a:pPr>
            <a:r>
              <a:rPr lang="en-US" sz="1100" dirty="0">
                <a:solidFill>
                  <a:schemeClr val="bg1"/>
                </a:solidFill>
              </a:rPr>
              <a:t>7 tables</a:t>
            </a:r>
            <a:endParaRPr lang="en-US" sz="1100" dirty="0"/>
          </a:p>
        </p:txBody>
      </p:sp>
      <p:sp>
        <p:nvSpPr>
          <p:cNvPr id="39" name="flow-a4"/>
          <p:cNvSpPr/>
          <p:nvPr/>
        </p:nvSpPr>
        <p:spPr>
          <a:xfrm>
            <a:off x="6336792" y="4599432"/>
            <a:ext cx="146304" cy="0"/>
          </a:xfrm>
          <a:prstGeom prst="line">
            <a:avLst/>
          </a:prstGeom>
          <a:noFill/>
          <a:ln w="19050">
            <a:solidFill>
              <a:srgbClr val="627D98"/>
            </a:solidFill>
            <a:prstDash val="solid"/>
            <a:tailEnd type="triangle"/>
          </a:ln>
        </p:spPr>
      </p:sp>
      <p:sp>
        <p:nvSpPr>
          <p:cNvPr id="40" name="flow-5"/>
          <p:cNvSpPr/>
          <p:nvPr/>
        </p:nvSpPr>
        <p:spPr>
          <a:xfrm>
            <a:off x="6492240" y="4251960"/>
            <a:ext cx="1024128" cy="685800"/>
          </a:xfrm>
          <a:prstGeom prst="roundRect">
            <a:avLst>
              <a:gd name="adj" fmla="val 13333"/>
            </a:avLst>
          </a:prstGeom>
          <a:solidFill>
            <a:schemeClr val="bg2"/>
          </a:solidFill>
          <a:ln/>
        </p:spPr>
        <p:txBody>
          <a:bodyPr wrap="square" lIns="25400" tIns="25400" rIns="25400" bIns="25400" rtlCol="0" anchor="ctr"/>
          <a:lstStyle/>
          <a:p>
            <a:pPr marL="0" indent="0" algn="ctr">
              <a:buNone/>
            </a:pPr>
            <a:r>
              <a:rPr lang="en-US" sz="1100" dirty="0">
                <a:solidFill>
                  <a:schemeClr val="tx2"/>
                </a:solidFill>
              </a:rPr>
              <a:t>Athena</a:t>
            </a:r>
            <a:endParaRPr lang="en-US" sz="1100" dirty="0"/>
          </a:p>
          <a:p>
            <a:pPr marL="0" indent="0" algn="ctr">
              <a:buNone/>
            </a:pPr>
            <a:r>
              <a:rPr lang="en-US" sz="1100" dirty="0">
                <a:solidFill>
                  <a:schemeClr val="tx2"/>
                </a:solidFill>
              </a:rPr>
              <a:t>checks</a:t>
            </a:r>
            <a:endParaRPr lang="en-US" sz="1100" dirty="0"/>
          </a:p>
        </p:txBody>
      </p:sp>
      <p:sp>
        <p:nvSpPr>
          <p:cNvPr id="41" name="takeaway"/>
          <p:cNvSpPr txBox="1"/>
          <p:nvPr/>
        </p:nvSpPr>
        <p:spPr>
          <a:xfrm>
            <a:off x="548640" y="5212080"/>
            <a:ext cx="6949440" cy="685800"/>
          </a:xfrm>
          <a:prstGeom prst="rect">
            <a:avLst/>
          </a:prstGeom>
          <a:noFill/>
          <a:ln/>
        </p:spPr>
        <p:txBody>
          <a:bodyPr wrap="square" lIns="0" tIns="0" rIns="0" bIns="0" rtlCol="0" anchor="ctr"/>
          <a:lstStyle/>
          <a:p>
            <a:pPr marL="0" indent="0">
              <a:buNone/>
            </a:pPr>
            <a:r>
              <a:rPr lang="en-US" sz="1400" b="1" dirty="0">
                <a:solidFill>
                  <a:schemeClr val="tx1"/>
                </a:solidFill>
              </a:rPr>
              <a:t>Every run is immutable and auditable: </a:t>
            </a:r>
            <a:r>
              <a:rPr lang="en-US" sz="1400" dirty="0">
                <a:solidFill>
                  <a:schemeClr val="tx1"/>
                </a:solidFill>
              </a:rPr>
              <a:t>raw bytes, curated data and a quality report sit under runs/&lt;run-id&gt;/ and feed the next stage's receipt.</a:t>
            </a:r>
            <a:endParaRPr lang="en-US" sz="1400" dirty="0"/>
          </a:p>
        </p:txBody>
      </p:sp>
      <p:sp>
        <p:nvSpPr>
          <p:cNvPr id="42" name="chart-card"/>
          <p:cNvSpPr/>
          <p:nvPr/>
        </p:nvSpPr>
        <p:spPr>
          <a:xfrm>
            <a:off x="7863840" y="2148840"/>
            <a:ext cx="3776472" cy="3886200"/>
          </a:xfrm>
          <a:prstGeom prst="roundRect">
            <a:avLst>
              <a:gd name="adj" fmla="val 2906"/>
            </a:avLst>
          </a:prstGeom>
          <a:solidFill>
            <a:srgbClr val="FFFFFF"/>
          </a:solidFill>
          <a:ln w="9525">
            <a:solidFill>
              <a:srgbClr val="EEF3F7"/>
            </a:solidFill>
            <a:prstDash val="solid"/>
          </a:ln>
        </p:spPr>
      </p:sp>
      <p:graphicFrame>
        <p:nvGraphicFramePr>
          <p:cNvPr id="43" name="label-chart"/>
          <p:cNvGraphicFramePr/>
          <p:nvPr/>
        </p:nvGraphicFramePr>
        <p:xfrm>
          <a:off x="7955280" y="2240280"/>
          <a:ext cx="3611880" cy="3703320"/>
        </p:xfrm>
        <a:graphic>
          <a:graphicData uri="http://schemas.openxmlformats.org/drawingml/2006/chart">
            <c:chart xmlns:c="http://schemas.openxmlformats.org/drawingml/2006/chart" xmlns:r="http://schemas.openxmlformats.org/officeDocument/2006/relationships" r:id="rId3"/>
          </a:graphicData>
        </a:graphic>
      </p:graphicFrame>
      <p:sp>
        <p:nvSpPr>
          <p:cNvPr id="13"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tepper-line"/>
          <p:cNvSpPr/>
          <p:nvPr/>
        </p:nvSpPr>
        <p:spPr>
          <a:xfrm>
            <a:off x="731520" y="466344"/>
            <a:ext cx="10732313" cy="0"/>
          </a:xfrm>
          <a:prstGeom prst="line">
            <a:avLst/>
          </a:prstGeom>
          <a:noFill/>
          <a:ln w="19050">
            <a:solidFill>
              <a:srgbClr val="BFE3E0"/>
            </a:solidFill>
            <a:prstDash val="solid"/>
          </a:ln>
        </p:spPr>
      </p:sp>
      <p:sp>
        <p:nvSpPr>
          <p:cNvPr id="3" name="step-1"/>
          <p:cNvSpPr/>
          <p:nvPr/>
        </p:nvSpPr>
        <p:spPr>
          <a:xfrm>
            <a:off x="548640" y="292608"/>
            <a:ext cx="1298448" cy="347472"/>
          </a:xfrm>
          <a:prstGeom prst="roundRect">
            <a:avLst>
              <a:gd name="adj" fmla="val 50000"/>
            </a:avLst>
          </a:prstGeom>
          <a:solidFill>
            <a:schemeClr val="accent5"/>
          </a:solidFill>
          <a:ln w="9525">
            <a:solidFill>
              <a:srgbClr val="EEF3F7"/>
            </a:solidFill>
          </a:ln>
        </p:spPr>
        <p:txBody>
          <a:bodyPr wrap="square" lIns="0" tIns="0" rIns="0" bIns="0" rtlCol="0" anchor="ctr"/>
          <a:lstStyle/>
          <a:p>
            <a:pPr marL="0" indent="0" algn="ctr">
              <a:buNone/>
            </a:pPr>
            <a:r>
              <a:rPr lang="en-US" sz="1000" dirty="0">
                <a:solidFill>
                  <a:schemeClr val="tx2"/>
                </a:solidFill>
              </a:rPr>
              <a:t>1  Data collection</a:t>
            </a:r>
            <a:endParaRPr lang="en-US" sz="1000" dirty="0"/>
          </a:p>
        </p:txBody>
      </p:sp>
      <p:sp>
        <p:nvSpPr>
          <p:cNvPr id="4" name="step-2"/>
          <p:cNvSpPr/>
          <p:nvPr/>
        </p:nvSpPr>
        <p:spPr>
          <a:xfrm>
            <a:off x="1948586" y="292608"/>
            <a:ext cx="1298448" cy="347472"/>
          </a:xfrm>
          <a:prstGeom prst="roundRect">
            <a:avLst>
              <a:gd name="adj" fmla="val 50000"/>
            </a:avLst>
          </a:prstGeom>
          <a:solidFill>
            <a:schemeClr val="accent1"/>
          </a:solidFill>
          <a:ln w="9525">
            <a:solidFill>
              <a:srgbClr val="0F7C7A"/>
            </a:solidFill>
          </a:ln>
        </p:spPr>
        <p:txBody>
          <a:bodyPr wrap="square" lIns="0" tIns="0" rIns="0" bIns="0" rtlCol="0" anchor="ctr"/>
          <a:lstStyle/>
          <a:p>
            <a:pPr marL="0" indent="0" algn="ctr">
              <a:buNone/>
            </a:pPr>
            <a:r>
              <a:rPr lang="en-US" sz="1000" b="1" dirty="0">
                <a:solidFill>
                  <a:schemeClr val="bg1"/>
                </a:solidFill>
              </a:rPr>
              <a:t>2  Feature engineering</a:t>
            </a:r>
            <a:endParaRPr lang="en-US" sz="1000" dirty="0"/>
          </a:p>
        </p:txBody>
      </p:sp>
      <p:sp>
        <p:nvSpPr>
          <p:cNvPr id="5" name="step-3"/>
          <p:cNvSpPr/>
          <p:nvPr/>
        </p:nvSpPr>
        <p:spPr>
          <a:xfrm>
            <a:off x="3348533" y="292608"/>
            <a:ext cx="1298448" cy="347472"/>
          </a:xfrm>
          <a:prstGeom prst="roundRect">
            <a:avLst>
              <a:gd name="adj" fmla="val 50000"/>
            </a:avLst>
          </a:prstGeom>
          <a:solidFill>
            <a:schemeClr val="bg2"/>
          </a:solidFill>
          <a:ln w="9525">
            <a:solidFill>
              <a:srgbClr val="EEF3F7"/>
            </a:solidFill>
          </a:ln>
        </p:spPr>
        <p:txBody>
          <a:bodyPr wrap="square" lIns="0" tIns="0" rIns="0" bIns="0" rtlCol="0" anchor="ctr"/>
          <a:lstStyle/>
          <a:p>
            <a:pPr marL="0" indent="0" algn="ctr">
              <a:buNone/>
            </a:pPr>
            <a:r>
              <a:rPr lang="en-US" sz="1000" dirty="0">
                <a:solidFill>
                  <a:schemeClr val="tx2"/>
                </a:solidFill>
              </a:rPr>
              <a:t>3  Feature Store</a:t>
            </a:r>
            <a:endParaRPr lang="en-US" sz="1000" dirty="0"/>
          </a:p>
        </p:txBody>
      </p:sp>
      <p:sp>
        <p:nvSpPr>
          <p:cNvPr id="6" name="step-4"/>
          <p:cNvSpPr/>
          <p:nvPr/>
        </p:nvSpPr>
        <p:spPr>
          <a:xfrm>
            <a:off x="4748479" y="292608"/>
            <a:ext cx="1298448" cy="347472"/>
          </a:xfrm>
          <a:prstGeom prst="roundRect">
            <a:avLst>
              <a:gd name="adj" fmla="val 50000"/>
            </a:avLst>
          </a:prstGeom>
          <a:solidFill>
            <a:schemeClr val="bg2"/>
          </a:solidFill>
          <a:ln w="9525">
            <a:solidFill>
              <a:srgbClr val="EEF3F7"/>
            </a:solidFill>
          </a:ln>
        </p:spPr>
        <p:txBody>
          <a:bodyPr wrap="square" lIns="0" tIns="0" rIns="0" bIns="0" rtlCol="0" anchor="ctr"/>
          <a:lstStyle/>
          <a:p>
            <a:pPr marL="0" indent="0" algn="ctr">
              <a:buNone/>
            </a:pPr>
            <a:r>
              <a:rPr lang="en-US" sz="1000" dirty="0">
                <a:solidFill>
                  <a:schemeClr val="tx2"/>
                </a:solidFill>
              </a:rPr>
              <a:t>4  Model development</a:t>
            </a:r>
            <a:endParaRPr lang="en-US" sz="1000" dirty="0"/>
          </a:p>
        </p:txBody>
      </p:sp>
      <p:sp>
        <p:nvSpPr>
          <p:cNvPr id="7" name="step-5"/>
          <p:cNvSpPr/>
          <p:nvPr/>
        </p:nvSpPr>
        <p:spPr>
          <a:xfrm>
            <a:off x="6148426" y="292608"/>
            <a:ext cx="1298448" cy="347472"/>
          </a:xfrm>
          <a:prstGeom prst="roundRect">
            <a:avLst>
              <a:gd name="adj" fmla="val 50000"/>
            </a:avLst>
          </a:prstGeom>
          <a:solidFill>
            <a:schemeClr val="bg2"/>
          </a:solidFill>
          <a:ln w="9525">
            <a:solidFill>
              <a:srgbClr val="EEF3F7"/>
            </a:solidFill>
          </a:ln>
        </p:spPr>
        <p:txBody>
          <a:bodyPr wrap="square" lIns="0" tIns="0" rIns="0" bIns="0" rtlCol="0" anchor="ctr"/>
          <a:lstStyle/>
          <a:p>
            <a:pPr marL="0" indent="0" algn="ctr">
              <a:buNone/>
            </a:pPr>
            <a:r>
              <a:rPr lang="en-US" sz="1000" dirty="0">
                <a:solidFill>
                  <a:schemeClr val="tx2"/>
                </a:solidFill>
              </a:rPr>
              <a:t>5  Evaluation</a:t>
            </a:r>
            <a:endParaRPr lang="en-US" sz="1000" dirty="0"/>
          </a:p>
        </p:txBody>
      </p:sp>
      <p:sp>
        <p:nvSpPr>
          <p:cNvPr id="8" name="step-6"/>
          <p:cNvSpPr/>
          <p:nvPr/>
        </p:nvSpPr>
        <p:spPr>
          <a:xfrm>
            <a:off x="7548372" y="292608"/>
            <a:ext cx="1298448" cy="347472"/>
          </a:xfrm>
          <a:prstGeom prst="roundRect">
            <a:avLst>
              <a:gd name="adj" fmla="val 50000"/>
            </a:avLst>
          </a:prstGeom>
          <a:solidFill>
            <a:schemeClr val="bg2"/>
          </a:solidFill>
          <a:ln w="9525">
            <a:solidFill>
              <a:srgbClr val="EEF3F7"/>
            </a:solidFill>
          </a:ln>
        </p:spPr>
        <p:txBody>
          <a:bodyPr wrap="square" lIns="0" tIns="0" rIns="0" bIns="0" rtlCol="0" anchor="ctr"/>
          <a:lstStyle/>
          <a:p>
            <a:pPr marL="0" indent="0" algn="ctr">
              <a:buNone/>
            </a:pPr>
            <a:r>
              <a:rPr lang="en-US" sz="1000" dirty="0">
                <a:solidFill>
                  <a:schemeClr val="tx2"/>
                </a:solidFill>
              </a:rPr>
              <a:t>6  Monitoring &amp; CI/CD</a:t>
            </a:r>
            <a:endParaRPr lang="en-US" sz="1000" dirty="0"/>
          </a:p>
        </p:txBody>
      </p:sp>
      <p:sp>
        <p:nvSpPr>
          <p:cNvPr id="9" name="step-7"/>
          <p:cNvSpPr/>
          <p:nvPr/>
        </p:nvSpPr>
        <p:spPr>
          <a:xfrm>
            <a:off x="8948318" y="292608"/>
            <a:ext cx="1298448" cy="347472"/>
          </a:xfrm>
          <a:prstGeom prst="roundRect">
            <a:avLst>
              <a:gd name="adj" fmla="val 50000"/>
            </a:avLst>
          </a:prstGeom>
          <a:solidFill>
            <a:schemeClr val="bg2"/>
          </a:solidFill>
          <a:ln w="9525">
            <a:solidFill>
              <a:srgbClr val="EEF3F7"/>
            </a:solidFill>
          </a:ln>
        </p:spPr>
        <p:txBody>
          <a:bodyPr wrap="square" lIns="0" tIns="0" rIns="0" bIns="0" rtlCol="0" anchor="ctr"/>
          <a:lstStyle/>
          <a:p>
            <a:pPr marL="0" indent="0" algn="ctr">
              <a:buNone/>
            </a:pPr>
            <a:r>
              <a:rPr lang="en-US" sz="1000" dirty="0">
                <a:solidFill>
                  <a:schemeClr val="tx2"/>
                </a:solidFill>
              </a:rPr>
              <a:t>7  Deployment</a:t>
            </a:r>
            <a:endParaRPr lang="en-US" sz="1000" dirty="0"/>
          </a:p>
        </p:txBody>
      </p:sp>
      <p:sp>
        <p:nvSpPr>
          <p:cNvPr id="10" name="step-8"/>
          <p:cNvSpPr/>
          <p:nvPr/>
        </p:nvSpPr>
        <p:spPr>
          <a:xfrm>
            <a:off x="10348265" y="292608"/>
            <a:ext cx="1298448" cy="347472"/>
          </a:xfrm>
          <a:prstGeom prst="roundRect">
            <a:avLst>
              <a:gd name="adj" fmla="val 50000"/>
            </a:avLst>
          </a:prstGeom>
          <a:solidFill>
            <a:schemeClr val="bg2"/>
          </a:solidFill>
          <a:ln w="9525">
            <a:solidFill>
              <a:srgbClr val="EEF3F7"/>
            </a:solidFill>
          </a:ln>
        </p:spPr>
        <p:txBody>
          <a:bodyPr wrap="square" lIns="0" tIns="0" rIns="0" bIns="0" rtlCol="0" anchor="ctr"/>
          <a:lstStyle/>
          <a:p>
            <a:pPr marL="0" indent="0" algn="ctr">
              <a:buNone/>
            </a:pPr>
            <a:r>
              <a:rPr lang="en-US" sz="1000" dirty="0">
                <a:solidFill>
                  <a:schemeClr val="tx2"/>
                </a:solidFill>
              </a:rPr>
              <a:t>8  RAG inference</a:t>
            </a:r>
            <a:endParaRPr lang="en-US" sz="1000" dirty="0"/>
          </a:p>
        </p:txBody>
      </p:sp>
      <p:sp>
        <p:nvSpPr>
          <p:cNvPr id="11" name="Text 1"/>
          <p:cNvSpPr>
            <a:spLocks noGrp="1"/>
          </p:cNvSpPr>
          <p:nvPr>
            <p:ph type="body" idx="101" hasCustomPrompt="1"/>
          </p:nvPr>
        </p:nvSpPr>
        <p:spPr>
          <a:xfrm>
            <a:off x="548640" y="868680"/>
            <a:ext cx="10972800" cy="292608"/>
          </a:xfrm>
          <a:prstGeom prst="rect">
            <a:avLst/>
          </a:prstGeom>
          <a:noFill/>
          <a:ln/>
        </p:spPr>
        <p:txBody>
          <a:bodyPr wrap="square" lIns="0" tIns="0" rIns="0" bIns="0" rtlCol="0" anchor="ctr"/>
          <a:lstStyle/>
          <a:p>
            <a:pPr marL="0" indent="0">
              <a:buNone/>
            </a:pPr>
            <a:r>
              <a:rPr lang="en-US" sz="1200" b="1" dirty="0">
                <a:solidFill>
                  <a:schemeClr val="accent1"/>
                </a:solidFill>
              </a:rPr>
              <a:t>PHASE 2  ·  14 inference-time scalar features per (question, candidate, title) pair</a:t>
            </a:r>
            <a:endParaRPr lang="en-US" sz="1200" dirty="0"/>
          </a:p>
        </p:txBody>
      </p:sp>
      <p:sp>
        <p:nvSpPr>
          <p:cNvPr id="12" name="Text 1"/>
          <p:cNvSpPr>
            <a:spLocks noGrp="1"/>
          </p:cNvSpPr>
          <p:nvPr>
            <p:ph type="title" idx="102" hasCustomPrompt="1"/>
          </p:nvPr>
        </p:nvSpPr>
        <p:spPr>
          <a:xfrm>
            <a:off x="548640" y="1161288"/>
            <a:ext cx="11064240" cy="685800"/>
          </a:xfrm>
          <a:prstGeom prst="rect">
            <a:avLst/>
          </a:prstGeom>
          <a:noFill/>
          <a:ln/>
        </p:spPr>
        <p:txBody>
          <a:bodyPr wrap="square" lIns="0" tIns="0" rIns="0" bIns="0" rtlCol="0" anchor="ctr"/>
          <a:lstStyle/>
          <a:p>
            <a:pPr marL="0" indent="0" algn="l">
              <a:buNone/>
            </a:pPr>
            <a:r>
              <a:rPr lang="en-US" sz="3000" b="1" dirty="0">
                <a:solidFill>
                  <a:schemeClr val="tx2"/>
                </a:solidFill>
                <a:latin typeface="Cambria" pitchFamily="34" charset="0"/>
                <a:ea typeface="Cambria" pitchFamily="34" charset="-122"/>
                <a:cs typeface="Cambria" pitchFamily="34" charset="-120"/>
              </a:rPr>
              <a:t>Feature engineering: cheap, leakage-safe ranking signals</a:t>
            </a:r>
            <a:endParaRPr lang="en-US" sz="3000" dirty="0"/>
          </a:p>
        </p:txBody>
      </p:sp>
      <p:sp>
        <p:nvSpPr>
          <p:cNvPr id="14" name="fg-card-0"/>
          <p:cNvSpPr/>
          <p:nvPr/>
        </p:nvSpPr>
        <p:spPr>
          <a:xfrm>
            <a:off x="548640" y="2148840"/>
            <a:ext cx="2286000" cy="3749040"/>
          </a:xfrm>
          <a:prstGeom prst="roundRect">
            <a:avLst>
              <a:gd name="adj" fmla="val 4800"/>
            </a:avLst>
          </a:prstGeom>
          <a:solidFill>
            <a:srgbClr val="EEF3F7"/>
          </a:solidFill>
          <a:ln w="9525">
            <a:solidFill>
              <a:srgbClr val="EEF3F7"/>
            </a:solidFill>
            <a:prstDash val="solid"/>
          </a:ln>
        </p:spPr>
      </p:sp>
      <p:sp>
        <p:nvSpPr>
          <p:cNvPr id="15" name="fg-0-circle"/>
          <p:cNvSpPr/>
          <p:nvPr/>
        </p:nvSpPr>
        <p:spPr>
          <a:xfrm>
            <a:off x="777240" y="2331720"/>
            <a:ext cx="594360" cy="594360"/>
          </a:xfrm>
          <a:prstGeom prst="ellipse">
            <a:avLst/>
          </a:prstGeom>
          <a:solidFill>
            <a:srgbClr val="0F7C7A"/>
          </a:solidFill>
          <a:ln/>
        </p:spPr>
      </p:sp>
      <p:pic>
        <p:nvPicPr>
          <p:cNvPr id="16" name="fg-0-icon" descr="preencoded.png"/>
          <p:cNvPicPr>
            <a:picLocks noChangeAspect="1"/>
          </p:cNvPicPr>
          <p:nvPr/>
        </p:nvPicPr>
        <p:blipFill>
          <a:blip r:embed="rId3"/>
          <a:stretch>
            <a:fillRect/>
          </a:stretch>
        </p:blipFill>
        <p:spPr>
          <a:xfrm>
            <a:off x="907999" y="2462479"/>
            <a:ext cx="332842" cy="332842"/>
          </a:xfrm>
          <a:prstGeom prst="rect">
            <a:avLst/>
          </a:prstGeom>
        </p:spPr>
      </p:pic>
      <p:sp>
        <p:nvSpPr>
          <p:cNvPr id="17" name="fg-t0"/>
          <p:cNvSpPr txBox="1"/>
          <p:nvPr/>
        </p:nvSpPr>
        <p:spPr>
          <a:xfrm>
            <a:off x="777240" y="3063240"/>
            <a:ext cx="1828800" cy="365760"/>
          </a:xfrm>
          <a:prstGeom prst="rect">
            <a:avLst/>
          </a:prstGeom>
          <a:noFill/>
          <a:ln/>
        </p:spPr>
        <p:txBody>
          <a:bodyPr wrap="square" lIns="0" tIns="0" rIns="0" bIns="0" rtlCol="0" anchor="ctr"/>
          <a:lstStyle/>
          <a:p>
            <a:pPr marL="0" indent="0">
              <a:buNone/>
            </a:pPr>
            <a:r>
              <a:rPr lang="en-US" sz="1800" b="1" dirty="0">
                <a:solidFill>
                  <a:schemeClr val="tx2"/>
                </a:solidFill>
              </a:rPr>
              <a:t>Similarity</a:t>
            </a:r>
            <a:endParaRPr lang="en-US" sz="1800" dirty="0"/>
          </a:p>
        </p:txBody>
      </p:sp>
      <p:sp>
        <p:nvSpPr>
          <p:cNvPr id="18" name="fg-n0"/>
          <p:cNvSpPr txBox="1"/>
          <p:nvPr/>
        </p:nvSpPr>
        <p:spPr>
          <a:xfrm>
            <a:off x="777240" y="3429000"/>
            <a:ext cx="1828800" cy="274320"/>
          </a:xfrm>
          <a:prstGeom prst="rect">
            <a:avLst/>
          </a:prstGeom>
          <a:noFill/>
          <a:ln/>
        </p:spPr>
        <p:txBody>
          <a:bodyPr wrap="square" lIns="0" tIns="0" rIns="0" bIns="0" rtlCol="0" anchor="ctr"/>
          <a:lstStyle/>
          <a:p>
            <a:pPr marL="0" indent="0">
              <a:buNone/>
            </a:pPr>
            <a:r>
              <a:rPr lang="en-US" sz="1200" dirty="0">
                <a:solidFill>
                  <a:schemeClr val="accent4"/>
                </a:solidFill>
              </a:rPr>
              <a:t>4 features</a:t>
            </a:r>
            <a:endParaRPr lang="en-US" sz="1200" dirty="0"/>
          </a:p>
        </p:txBody>
      </p:sp>
      <p:sp>
        <p:nvSpPr>
          <p:cNvPr id="19" name="fg-list0"/>
          <p:cNvSpPr txBox="1"/>
          <p:nvPr/>
        </p:nvSpPr>
        <p:spPr>
          <a:xfrm>
            <a:off x="731520" y="3794760"/>
            <a:ext cx="2103120" cy="2011680"/>
          </a:xfrm>
          <a:prstGeom prst="rect">
            <a:avLst/>
          </a:prstGeom>
          <a:noFill/>
          <a:ln/>
        </p:spPr>
        <p:txBody>
          <a:bodyPr wrap="square" lIns="0" tIns="0" rIns="0" bIns="0" rtlCol="0" anchor="t"/>
          <a:lstStyle/>
          <a:p>
            <a:pPr marL="0" indent="0">
              <a:spcAft>
                <a:spcPts val="600"/>
              </a:spcAft>
              <a:buNone/>
            </a:pPr>
            <a:r>
              <a:rPr lang="en-US" sz="1100" dirty="0">
                <a:solidFill>
                  <a:schemeClr val="tx1"/>
                </a:solidFill>
                <a:latin typeface="Courier New" pitchFamily="34" charset="0"/>
                <a:ea typeface="Courier New" pitchFamily="34" charset="-122"/>
                <a:cs typeface="Courier New" pitchFamily="34" charset="-120"/>
              </a:rPr>
              <a:t>hash_cosine_similarity</a:t>
            </a:r>
            <a:endParaRPr lang="en-US" sz="1100" dirty="0"/>
          </a:p>
          <a:p>
            <a:pPr marL="0" indent="0">
              <a:spcAft>
                <a:spcPts val="600"/>
              </a:spcAft>
              <a:buNone/>
            </a:pPr>
            <a:r>
              <a:rPr lang="en-US" sz="1100" dirty="0">
                <a:solidFill>
                  <a:schemeClr val="tx1"/>
                </a:solidFill>
                <a:latin typeface="Courier New" pitchFamily="34" charset="0"/>
                <a:ea typeface="Courier New" pitchFamily="34" charset="-122"/>
                <a:cs typeface="Courier New" pitchFamily="34" charset="-120"/>
              </a:rPr>
              <a:t>token_jaccard</a:t>
            </a:r>
            <a:endParaRPr lang="en-US" sz="1100" dirty="0"/>
          </a:p>
          <a:p>
            <a:pPr marL="0" indent="0">
              <a:spcAft>
                <a:spcPts val="600"/>
              </a:spcAft>
              <a:buNone/>
            </a:pPr>
            <a:r>
              <a:rPr lang="en-US" sz="1100" dirty="0">
                <a:solidFill>
                  <a:schemeClr val="tx1"/>
                </a:solidFill>
                <a:latin typeface="Courier New" pitchFamily="34" charset="0"/>
                <a:ea typeface="Courier New" pitchFamily="34" charset="-122"/>
                <a:cs typeface="Courier New" pitchFamily="34" charset="-120"/>
              </a:rPr>
              <a:t>token_overlap_count</a:t>
            </a:r>
            <a:endParaRPr lang="en-US" sz="1100" dirty="0"/>
          </a:p>
          <a:p>
            <a:pPr marL="0" indent="0">
              <a:spcAft>
                <a:spcPts val="600"/>
              </a:spcAft>
              <a:buNone/>
            </a:pPr>
            <a:r>
              <a:rPr lang="en-US" sz="1100" dirty="0">
                <a:solidFill>
                  <a:schemeClr val="tx1"/>
                </a:solidFill>
                <a:latin typeface="Courier New" pitchFamily="34" charset="0"/>
                <a:ea typeface="Courier New" pitchFamily="34" charset="-122"/>
                <a:cs typeface="Courier New" pitchFamily="34" charset="-120"/>
              </a:rPr>
              <a:t>number_overlap_count</a:t>
            </a:r>
            <a:endParaRPr lang="en-US" sz="1100" dirty="0"/>
          </a:p>
        </p:txBody>
      </p:sp>
      <p:sp>
        <p:nvSpPr>
          <p:cNvPr id="20" name="fg-card-1"/>
          <p:cNvSpPr/>
          <p:nvPr/>
        </p:nvSpPr>
        <p:spPr>
          <a:xfrm>
            <a:off x="3063240" y="2148840"/>
            <a:ext cx="2286000" cy="3749040"/>
          </a:xfrm>
          <a:prstGeom prst="roundRect">
            <a:avLst>
              <a:gd name="adj" fmla="val 4800"/>
            </a:avLst>
          </a:prstGeom>
          <a:solidFill>
            <a:srgbClr val="EEF3F7"/>
          </a:solidFill>
          <a:ln w="9525">
            <a:solidFill>
              <a:srgbClr val="EEF3F7"/>
            </a:solidFill>
            <a:prstDash val="solid"/>
          </a:ln>
        </p:spPr>
      </p:sp>
      <p:sp>
        <p:nvSpPr>
          <p:cNvPr id="21" name="fg-1-circle"/>
          <p:cNvSpPr/>
          <p:nvPr/>
        </p:nvSpPr>
        <p:spPr>
          <a:xfrm>
            <a:off x="3291840" y="2331720"/>
            <a:ext cx="594360" cy="594360"/>
          </a:xfrm>
          <a:prstGeom prst="ellipse">
            <a:avLst/>
          </a:prstGeom>
          <a:solidFill>
            <a:srgbClr val="627D98"/>
          </a:solidFill>
          <a:ln/>
        </p:spPr>
      </p:sp>
      <p:pic>
        <p:nvPicPr>
          <p:cNvPr id="22" name="fg-1-icon" descr="preencoded.png"/>
          <p:cNvPicPr>
            <a:picLocks noChangeAspect="1"/>
          </p:cNvPicPr>
          <p:nvPr/>
        </p:nvPicPr>
        <p:blipFill>
          <a:blip r:embed="rId4"/>
          <a:stretch>
            <a:fillRect/>
          </a:stretch>
        </p:blipFill>
        <p:spPr>
          <a:xfrm>
            <a:off x="3422599" y="2462479"/>
            <a:ext cx="332842" cy="332842"/>
          </a:xfrm>
          <a:prstGeom prst="rect">
            <a:avLst/>
          </a:prstGeom>
        </p:spPr>
      </p:pic>
      <p:sp>
        <p:nvSpPr>
          <p:cNvPr id="23" name="fg-t1"/>
          <p:cNvSpPr txBox="1"/>
          <p:nvPr/>
        </p:nvSpPr>
        <p:spPr>
          <a:xfrm>
            <a:off x="3291840" y="3063240"/>
            <a:ext cx="1828800" cy="365760"/>
          </a:xfrm>
          <a:prstGeom prst="rect">
            <a:avLst/>
          </a:prstGeom>
          <a:noFill/>
          <a:ln/>
        </p:spPr>
        <p:txBody>
          <a:bodyPr wrap="square" lIns="0" tIns="0" rIns="0" bIns="0" rtlCol="0" anchor="ctr"/>
          <a:lstStyle/>
          <a:p>
            <a:pPr marL="0" indent="0">
              <a:buNone/>
            </a:pPr>
            <a:r>
              <a:rPr lang="en-US" sz="1800" b="1" dirty="0">
                <a:solidFill>
                  <a:schemeClr val="tx2"/>
                </a:solidFill>
              </a:rPr>
              <a:t>Length</a:t>
            </a:r>
            <a:endParaRPr lang="en-US" sz="1800" dirty="0"/>
          </a:p>
        </p:txBody>
      </p:sp>
      <p:sp>
        <p:nvSpPr>
          <p:cNvPr id="24" name="fg-n1"/>
          <p:cNvSpPr txBox="1"/>
          <p:nvPr/>
        </p:nvSpPr>
        <p:spPr>
          <a:xfrm>
            <a:off x="3291840" y="3429000"/>
            <a:ext cx="1828800" cy="274320"/>
          </a:xfrm>
          <a:prstGeom prst="rect">
            <a:avLst/>
          </a:prstGeom>
          <a:noFill/>
          <a:ln/>
        </p:spPr>
        <p:txBody>
          <a:bodyPr wrap="square" lIns="0" tIns="0" rIns="0" bIns="0" rtlCol="0" anchor="ctr"/>
          <a:lstStyle/>
          <a:p>
            <a:pPr marL="0" indent="0">
              <a:buNone/>
            </a:pPr>
            <a:r>
              <a:rPr lang="en-US" sz="1200" dirty="0">
                <a:solidFill>
                  <a:schemeClr val="accent4"/>
                </a:solidFill>
              </a:rPr>
              <a:t>6 features</a:t>
            </a:r>
            <a:endParaRPr lang="en-US" sz="1200" dirty="0"/>
          </a:p>
        </p:txBody>
      </p:sp>
      <p:sp>
        <p:nvSpPr>
          <p:cNvPr id="25" name="fg-list1"/>
          <p:cNvSpPr txBox="1"/>
          <p:nvPr/>
        </p:nvSpPr>
        <p:spPr>
          <a:xfrm>
            <a:off x="3246120" y="3794760"/>
            <a:ext cx="2103120" cy="2011680"/>
          </a:xfrm>
          <a:prstGeom prst="rect">
            <a:avLst/>
          </a:prstGeom>
          <a:noFill/>
          <a:ln/>
        </p:spPr>
        <p:txBody>
          <a:bodyPr wrap="square" lIns="0" tIns="0" rIns="0" bIns="0" rtlCol="0" anchor="t"/>
          <a:lstStyle/>
          <a:p>
            <a:pPr marL="0" indent="0">
              <a:spcAft>
                <a:spcPts val="600"/>
              </a:spcAft>
              <a:buNone/>
            </a:pPr>
            <a:r>
              <a:rPr lang="en-US" sz="1100" dirty="0">
                <a:solidFill>
                  <a:schemeClr val="tx1"/>
                </a:solidFill>
                <a:latin typeface="Courier New" pitchFamily="34" charset="0"/>
                <a:ea typeface="Courier New" pitchFamily="34" charset="-122"/>
                <a:cs typeface="Courier New" pitchFamily="34" charset="-120"/>
              </a:rPr>
              <a:t>question_char_count</a:t>
            </a:r>
            <a:endParaRPr lang="en-US" sz="1100" dirty="0"/>
          </a:p>
          <a:p>
            <a:pPr marL="0" indent="0">
              <a:spcAft>
                <a:spcPts val="600"/>
              </a:spcAft>
              <a:buNone/>
            </a:pPr>
            <a:r>
              <a:rPr lang="en-US" sz="1100" dirty="0">
                <a:solidFill>
                  <a:schemeClr val="tx1"/>
                </a:solidFill>
                <a:latin typeface="Courier New" pitchFamily="34" charset="0"/>
                <a:ea typeface="Courier New" pitchFamily="34" charset="-122"/>
                <a:cs typeface="Courier New" pitchFamily="34" charset="-120"/>
              </a:rPr>
              <a:t>candidate_char_count</a:t>
            </a:r>
            <a:endParaRPr lang="en-US" sz="1100" dirty="0"/>
          </a:p>
          <a:p>
            <a:pPr marL="0" indent="0">
              <a:spcAft>
                <a:spcPts val="600"/>
              </a:spcAft>
              <a:buNone/>
            </a:pPr>
            <a:r>
              <a:rPr lang="en-US" sz="1100" dirty="0">
                <a:solidFill>
                  <a:schemeClr val="tx1"/>
                </a:solidFill>
                <a:latin typeface="Courier New" pitchFamily="34" charset="0"/>
                <a:ea typeface="Courier New" pitchFamily="34" charset="-122"/>
                <a:cs typeface="Courier New" pitchFamily="34" charset="-120"/>
              </a:rPr>
              <a:t>title_char_count</a:t>
            </a:r>
            <a:endParaRPr lang="en-US" sz="1100" dirty="0"/>
          </a:p>
          <a:p>
            <a:pPr marL="0" indent="0">
              <a:spcAft>
                <a:spcPts val="600"/>
              </a:spcAft>
              <a:buNone/>
            </a:pPr>
            <a:r>
              <a:rPr lang="en-US" sz="1100" dirty="0">
                <a:solidFill>
                  <a:schemeClr val="tx1"/>
                </a:solidFill>
                <a:latin typeface="Courier New" pitchFamily="34" charset="0"/>
                <a:ea typeface="Courier New" pitchFamily="34" charset="-122"/>
                <a:cs typeface="Courier New" pitchFamily="34" charset="-120"/>
              </a:rPr>
              <a:t>question_word_count</a:t>
            </a:r>
            <a:endParaRPr lang="en-US" sz="1100" dirty="0"/>
          </a:p>
          <a:p>
            <a:pPr marL="0" indent="0">
              <a:spcAft>
                <a:spcPts val="600"/>
              </a:spcAft>
              <a:buNone/>
            </a:pPr>
            <a:r>
              <a:rPr lang="en-US" sz="1100" dirty="0">
                <a:solidFill>
                  <a:schemeClr val="tx1"/>
                </a:solidFill>
                <a:latin typeface="Courier New" pitchFamily="34" charset="0"/>
                <a:ea typeface="Courier New" pitchFamily="34" charset="-122"/>
                <a:cs typeface="Courier New" pitchFamily="34" charset="-120"/>
              </a:rPr>
              <a:t>candidate_word_count</a:t>
            </a:r>
            <a:endParaRPr lang="en-US" sz="1100" dirty="0"/>
          </a:p>
          <a:p>
            <a:pPr marL="0" indent="0">
              <a:spcAft>
                <a:spcPts val="600"/>
              </a:spcAft>
              <a:buNone/>
            </a:pPr>
            <a:r>
              <a:rPr lang="en-US" sz="1100" dirty="0">
                <a:solidFill>
                  <a:schemeClr val="tx1"/>
                </a:solidFill>
                <a:latin typeface="Courier New" pitchFamily="34" charset="0"/>
                <a:ea typeface="Courier New" pitchFamily="34" charset="-122"/>
                <a:cs typeface="Courier New" pitchFamily="34" charset="-120"/>
              </a:rPr>
              <a:t>title_word_count</a:t>
            </a:r>
            <a:endParaRPr lang="en-US" sz="1100" dirty="0"/>
          </a:p>
        </p:txBody>
      </p:sp>
      <p:sp>
        <p:nvSpPr>
          <p:cNvPr id="26" name="fg-card-2"/>
          <p:cNvSpPr/>
          <p:nvPr/>
        </p:nvSpPr>
        <p:spPr>
          <a:xfrm>
            <a:off x="5577840" y="2148840"/>
            <a:ext cx="2286000" cy="3749040"/>
          </a:xfrm>
          <a:prstGeom prst="roundRect">
            <a:avLst>
              <a:gd name="adj" fmla="val 4800"/>
            </a:avLst>
          </a:prstGeom>
          <a:solidFill>
            <a:srgbClr val="EEF3F7"/>
          </a:solidFill>
          <a:ln w="9525">
            <a:solidFill>
              <a:srgbClr val="EEF3F7"/>
            </a:solidFill>
            <a:prstDash val="solid"/>
          </a:ln>
        </p:spPr>
      </p:sp>
      <p:sp>
        <p:nvSpPr>
          <p:cNvPr id="27" name="fg-2-circle"/>
          <p:cNvSpPr/>
          <p:nvPr/>
        </p:nvSpPr>
        <p:spPr>
          <a:xfrm>
            <a:off x="5806440" y="2331720"/>
            <a:ext cx="594360" cy="594360"/>
          </a:xfrm>
          <a:prstGeom prst="ellipse">
            <a:avLst/>
          </a:prstGeom>
          <a:solidFill>
            <a:srgbClr val="E8A33D"/>
          </a:solidFill>
          <a:ln/>
        </p:spPr>
      </p:sp>
      <p:pic>
        <p:nvPicPr>
          <p:cNvPr id="28" name="fg-2-icon" descr="preencoded.png"/>
          <p:cNvPicPr>
            <a:picLocks noChangeAspect="1"/>
          </p:cNvPicPr>
          <p:nvPr/>
        </p:nvPicPr>
        <p:blipFill>
          <a:blip r:embed="rId5"/>
          <a:stretch>
            <a:fillRect/>
          </a:stretch>
        </p:blipFill>
        <p:spPr>
          <a:xfrm>
            <a:off x="5937199" y="2462479"/>
            <a:ext cx="332842" cy="332842"/>
          </a:xfrm>
          <a:prstGeom prst="rect">
            <a:avLst/>
          </a:prstGeom>
        </p:spPr>
      </p:pic>
      <p:sp>
        <p:nvSpPr>
          <p:cNvPr id="29" name="fg-t2"/>
          <p:cNvSpPr txBox="1"/>
          <p:nvPr/>
        </p:nvSpPr>
        <p:spPr>
          <a:xfrm>
            <a:off x="5806440" y="3063240"/>
            <a:ext cx="1828800" cy="365760"/>
          </a:xfrm>
          <a:prstGeom prst="rect">
            <a:avLst/>
          </a:prstGeom>
          <a:noFill/>
          <a:ln/>
        </p:spPr>
        <p:txBody>
          <a:bodyPr wrap="square" lIns="0" tIns="0" rIns="0" bIns="0" rtlCol="0" anchor="ctr"/>
          <a:lstStyle/>
          <a:p>
            <a:pPr marL="0" indent="0">
              <a:buNone/>
            </a:pPr>
            <a:r>
              <a:rPr lang="en-US" sz="1800" b="1" dirty="0">
                <a:solidFill>
                  <a:schemeClr val="tx2"/>
                </a:solidFill>
              </a:rPr>
              <a:t>Flags</a:t>
            </a:r>
            <a:endParaRPr lang="en-US" sz="1800" dirty="0"/>
          </a:p>
        </p:txBody>
      </p:sp>
      <p:sp>
        <p:nvSpPr>
          <p:cNvPr id="30" name="fg-n2"/>
          <p:cNvSpPr txBox="1"/>
          <p:nvPr/>
        </p:nvSpPr>
        <p:spPr>
          <a:xfrm>
            <a:off x="5806440" y="3429000"/>
            <a:ext cx="1828800" cy="274320"/>
          </a:xfrm>
          <a:prstGeom prst="rect">
            <a:avLst/>
          </a:prstGeom>
          <a:noFill/>
          <a:ln/>
        </p:spPr>
        <p:txBody>
          <a:bodyPr wrap="square" lIns="0" tIns="0" rIns="0" bIns="0" rtlCol="0" anchor="ctr"/>
          <a:lstStyle/>
          <a:p>
            <a:pPr marL="0" indent="0">
              <a:buNone/>
            </a:pPr>
            <a:r>
              <a:rPr lang="en-US" sz="1200" dirty="0">
                <a:solidFill>
                  <a:schemeClr val="accent4"/>
                </a:solidFill>
              </a:rPr>
              <a:t>4 features</a:t>
            </a:r>
            <a:endParaRPr lang="en-US" sz="1200" dirty="0"/>
          </a:p>
        </p:txBody>
      </p:sp>
      <p:sp>
        <p:nvSpPr>
          <p:cNvPr id="31" name="fg-list2"/>
          <p:cNvSpPr txBox="1"/>
          <p:nvPr/>
        </p:nvSpPr>
        <p:spPr>
          <a:xfrm>
            <a:off x="5760720" y="3794760"/>
            <a:ext cx="2103120" cy="2011680"/>
          </a:xfrm>
          <a:prstGeom prst="rect">
            <a:avLst/>
          </a:prstGeom>
          <a:noFill/>
          <a:ln/>
        </p:spPr>
        <p:txBody>
          <a:bodyPr wrap="square" lIns="0" tIns="0" rIns="0" bIns="0" rtlCol="0" anchor="t"/>
          <a:lstStyle/>
          <a:p>
            <a:pPr marL="0" indent="0">
              <a:spcAft>
                <a:spcPts val="600"/>
              </a:spcAft>
              <a:buNone/>
            </a:pPr>
            <a:r>
              <a:rPr lang="en-US" sz="1100" dirty="0">
                <a:solidFill>
                  <a:schemeClr val="tx1"/>
                </a:solidFill>
                <a:latin typeface="Courier New" pitchFamily="34" charset="0"/>
                <a:ea typeface="Courier New" pitchFamily="34" charset="-122"/>
                <a:cs typeface="Courier New" pitchFamily="34" charset="-120"/>
              </a:rPr>
              <a:t>question_has_number</a:t>
            </a:r>
            <a:endParaRPr lang="en-US" sz="1100" dirty="0"/>
          </a:p>
          <a:p>
            <a:pPr marL="0" indent="0">
              <a:spcAft>
                <a:spcPts val="600"/>
              </a:spcAft>
              <a:buNone/>
            </a:pPr>
            <a:r>
              <a:rPr lang="en-US" sz="1100" dirty="0">
                <a:solidFill>
                  <a:schemeClr val="tx1"/>
                </a:solidFill>
                <a:latin typeface="Courier New" pitchFamily="34" charset="0"/>
                <a:ea typeface="Courier New" pitchFamily="34" charset="-122"/>
                <a:cs typeface="Courier New" pitchFamily="34" charset="-120"/>
              </a:rPr>
              <a:t>candidate_has_number</a:t>
            </a:r>
            <a:endParaRPr lang="en-US" sz="1100" dirty="0"/>
          </a:p>
          <a:p>
            <a:pPr marL="0" indent="0">
              <a:spcAft>
                <a:spcPts val="600"/>
              </a:spcAft>
              <a:buNone/>
            </a:pPr>
            <a:r>
              <a:rPr lang="en-US" sz="1100" dirty="0">
                <a:solidFill>
                  <a:schemeClr val="tx1"/>
                </a:solidFill>
                <a:latin typeface="Courier New" pitchFamily="34" charset="0"/>
                <a:ea typeface="Courier New" pitchFamily="34" charset="-122"/>
                <a:cs typeface="Courier New" pitchFamily="34" charset="-120"/>
              </a:rPr>
              <a:t>candidate_in_title</a:t>
            </a:r>
            <a:endParaRPr lang="en-US" sz="1100" dirty="0"/>
          </a:p>
          <a:p>
            <a:pPr marL="0" indent="0">
              <a:spcAft>
                <a:spcPts val="600"/>
              </a:spcAft>
              <a:buNone/>
            </a:pPr>
            <a:r>
              <a:rPr lang="en-US" sz="1100" dirty="0">
                <a:solidFill>
                  <a:schemeClr val="tx1"/>
                </a:solidFill>
                <a:latin typeface="Courier New" pitchFamily="34" charset="0"/>
                <a:ea typeface="Courier New" pitchFamily="34" charset="-122"/>
                <a:cs typeface="Courier New" pitchFamily="34" charset="-120"/>
              </a:rPr>
              <a:t>missing_title</a:t>
            </a:r>
            <a:endParaRPr lang="en-US" sz="1100" dirty="0"/>
          </a:p>
        </p:txBody>
      </p:sp>
      <p:sp>
        <p:nvSpPr>
          <p:cNvPr id="32" name="guards-h"/>
          <p:cNvSpPr txBox="1"/>
          <p:nvPr/>
        </p:nvSpPr>
        <p:spPr>
          <a:xfrm>
            <a:off x="8275320" y="2148840"/>
            <a:ext cx="3383280" cy="365760"/>
          </a:xfrm>
          <a:prstGeom prst="rect">
            <a:avLst/>
          </a:prstGeom>
          <a:noFill/>
          <a:ln/>
        </p:spPr>
        <p:txBody>
          <a:bodyPr wrap="square" lIns="0" tIns="0" rIns="0" bIns="0" rtlCol="0" anchor="ctr"/>
          <a:lstStyle/>
          <a:p>
            <a:pPr marL="0" indent="0">
              <a:buNone/>
            </a:pPr>
            <a:r>
              <a:rPr lang="en-US" sz="1800" b="1" dirty="0">
                <a:solidFill>
                  <a:schemeClr val="tx2"/>
                </a:solidFill>
              </a:rPr>
              <a:t>Leakage guards</a:t>
            </a:r>
            <a:endParaRPr lang="en-US" sz="1800" dirty="0"/>
          </a:p>
        </p:txBody>
      </p:sp>
      <p:sp>
        <p:nvSpPr>
          <p:cNvPr id="33" name="guard-0-circle"/>
          <p:cNvSpPr/>
          <p:nvPr/>
        </p:nvSpPr>
        <p:spPr>
          <a:xfrm>
            <a:off x="8275320" y="2651760"/>
            <a:ext cx="438912" cy="438912"/>
          </a:xfrm>
          <a:prstGeom prst="ellipse">
            <a:avLst/>
          </a:prstGeom>
          <a:solidFill>
            <a:srgbClr val="0F7C7A"/>
          </a:solidFill>
          <a:ln/>
        </p:spPr>
      </p:sp>
      <p:pic>
        <p:nvPicPr>
          <p:cNvPr id="34" name="guard-0-icon" descr="preencoded.png"/>
          <p:cNvPicPr>
            <a:picLocks noChangeAspect="1"/>
          </p:cNvPicPr>
          <p:nvPr/>
        </p:nvPicPr>
        <p:blipFill>
          <a:blip r:embed="rId6"/>
          <a:stretch>
            <a:fillRect/>
          </a:stretch>
        </p:blipFill>
        <p:spPr>
          <a:xfrm>
            <a:off x="8371881" y="2748321"/>
            <a:ext cx="245791" cy="245791"/>
          </a:xfrm>
          <a:prstGeom prst="rect">
            <a:avLst/>
          </a:prstGeom>
        </p:spPr>
      </p:pic>
      <p:sp>
        <p:nvSpPr>
          <p:cNvPr id="35" name="guard-t0"/>
          <p:cNvSpPr txBox="1"/>
          <p:nvPr/>
        </p:nvSpPr>
        <p:spPr>
          <a:xfrm>
            <a:off x="8823960" y="2578608"/>
            <a:ext cx="2834640" cy="731520"/>
          </a:xfrm>
          <a:prstGeom prst="rect">
            <a:avLst/>
          </a:prstGeom>
          <a:noFill/>
          <a:ln/>
        </p:spPr>
        <p:txBody>
          <a:bodyPr wrap="square" lIns="0" tIns="0" rIns="0" bIns="0" rtlCol="0" anchor="t"/>
          <a:lstStyle/>
          <a:p>
            <a:pPr marL="0" indent="0">
              <a:buNone/>
            </a:pPr>
            <a:r>
              <a:rPr lang="en-US" sz="1300" b="1" dirty="0">
                <a:solidFill>
                  <a:schemeClr val="tx1"/>
                </a:solidFill>
              </a:rPr>
              <a:t>Stateless HashingVectorizer</a:t>
            </a:r>
            <a:endParaRPr lang="en-US" sz="1300" dirty="0"/>
          </a:p>
          <a:p>
            <a:pPr marL="0" indent="0">
              <a:buNone/>
            </a:pPr>
            <a:r>
              <a:rPr lang="en-US" sz="1300" dirty="0">
                <a:solidFill>
                  <a:srgbClr val="627D98"/>
                </a:solidFill>
              </a:rPr>
              <a:t>no vocabulary or IDF fitted on any split</a:t>
            </a:r>
            <a:endParaRPr lang="en-US" sz="1300" dirty="0"/>
          </a:p>
        </p:txBody>
      </p:sp>
      <p:sp>
        <p:nvSpPr>
          <p:cNvPr id="36" name="guard-1-circle"/>
          <p:cNvSpPr/>
          <p:nvPr/>
        </p:nvSpPr>
        <p:spPr>
          <a:xfrm>
            <a:off x="8275320" y="3474720"/>
            <a:ext cx="438912" cy="438912"/>
          </a:xfrm>
          <a:prstGeom prst="ellipse">
            <a:avLst/>
          </a:prstGeom>
          <a:solidFill>
            <a:srgbClr val="0F7C7A"/>
          </a:solidFill>
          <a:ln/>
        </p:spPr>
      </p:sp>
      <p:pic>
        <p:nvPicPr>
          <p:cNvPr id="37" name="guard-1-icon" descr="preencoded.png"/>
          <p:cNvPicPr>
            <a:picLocks noChangeAspect="1"/>
          </p:cNvPicPr>
          <p:nvPr/>
        </p:nvPicPr>
        <p:blipFill>
          <a:blip r:embed="rId6"/>
          <a:stretch>
            <a:fillRect/>
          </a:stretch>
        </p:blipFill>
        <p:spPr>
          <a:xfrm>
            <a:off x="8371881" y="3571281"/>
            <a:ext cx="245791" cy="245791"/>
          </a:xfrm>
          <a:prstGeom prst="rect">
            <a:avLst/>
          </a:prstGeom>
        </p:spPr>
      </p:pic>
      <p:sp>
        <p:nvSpPr>
          <p:cNvPr id="38" name="guard-t1"/>
          <p:cNvSpPr txBox="1"/>
          <p:nvPr/>
        </p:nvSpPr>
        <p:spPr>
          <a:xfrm>
            <a:off x="8823960" y="3401568"/>
            <a:ext cx="2834640" cy="731520"/>
          </a:xfrm>
          <a:prstGeom prst="rect">
            <a:avLst/>
          </a:prstGeom>
          <a:noFill/>
          <a:ln/>
        </p:spPr>
        <p:txBody>
          <a:bodyPr wrap="square" lIns="0" tIns="0" rIns="0" bIns="0" rtlCol="0" anchor="t"/>
          <a:lstStyle/>
          <a:p>
            <a:pPr marL="0" indent="0">
              <a:buNone/>
            </a:pPr>
            <a:r>
              <a:rPr lang="en-US" sz="1300" b="1" dirty="0">
                <a:solidFill>
                  <a:schemeClr val="tx1"/>
                </a:solidFill>
              </a:rPr>
              <a:t>Gold-answer fields excluded</a:t>
            </a:r>
            <a:endParaRPr lang="en-US" sz="1300" dirty="0"/>
          </a:p>
          <a:p>
            <a:pPr marL="0" indent="0">
              <a:buNone/>
            </a:pPr>
            <a:r>
              <a:rPr lang="en-US" sz="1300" dirty="0">
                <a:solidFill>
                  <a:srgbClr val="627D98"/>
                </a:solidFill>
              </a:rPr>
              <a:t>answer length / missing_answer never reach inference</a:t>
            </a:r>
            <a:endParaRPr lang="en-US" sz="1300" dirty="0"/>
          </a:p>
        </p:txBody>
      </p:sp>
      <p:sp>
        <p:nvSpPr>
          <p:cNvPr id="39" name="guard-2-circle"/>
          <p:cNvSpPr/>
          <p:nvPr/>
        </p:nvSpPr>
        <p:spPr>
          <a:xfrm>
            <a:off x="8275320" y="4297680"/>
            <a:ext cx="438912" cy="438912"/>
          </a:xfrm>
          <a:prstGeom prst="ellipse">
            <a:avLst/>
          </a:prstGeom>
          <a:solidFill>
            <a:srgbClr val="0F7C7A"/>
          </a:solidFill>
          <a:ln/>
        </p:spPr>
      </p:sp>
      <p:pic>
        <p:nvPicPr>
          <p:cNvPr id="40" name="guard-2-icon" descr="preencoded.png"/>
          <p:cNvPicPr>
            <a:picLocks noChangeAspect="1"/>
          </p:cNvPicPr>
          <p:nvPr/>
        </p:nvPicPr>
        <p:blipFill>
          <a:blip r:embed="rId6"/>
          <a:stretch>
            <a:fillRect/>
          </a:stretch>
        </p:blipFill>
        <p:spPr>
          <a:xfrm>
            <a:off x="8371881" y="4394241"/>
            <a:ext cx="245791" cy="245791"/>
          </a:xfrm>
          <a:prstGeom prst="rect">
            <a:avLst/>
          </a:prstGeom>
        </p:spPr>
      </p:pic>
      <p:sp>
        <p:nvSpPr>
          <p:cNvPr id="41" name="guard-t2"/>
          <p:cNvSpPr txBox="1"/>
          <p:nvPr/>
        </p:nvSpPr>
        <p:spPr>
          <a:xfrm>
            <a:off x="8823960" y="4224528"/>
            <a:ext cx="2834640" cy="731520"/>
          </a:xfrm>
          <a:prstGeom prst="rect">
            <a:avLst/>
          </a:prstGeom>
          <a:noFill/>
          <a:ln/>
        </p:spPr>
        <p:txBody>
          <a:bodyPr wrap="square" lIns="0" tIns="0" rIns="0" bIns="0" rtlCol="0" anchor="t"/>
          <a:lstStyle/>
          <a:p>
            <a:pPr marL="0" indent="0">
              <a:buNone/>
            </a:pPr>
            <a:r>
              <a:rPr lang="en-US" sz="1300" b="1" dirty="0">
                <a:solidFill>
                  <a:schemeClr val="tx1"/>
                </a:solidFill>
              </a:rPr>
              <a:t>Deterministic record_id</a:t>
            </a:r>
            <a:endParaRPr lang="en-US" sz="1300" dirty="0"/>
          </a:p>
          <a:p>
            <a:pPr marL="0" indent="0">
              <a:buNone/>
            </a:pPr>
            <a:r>
              <a:rPr lang="en-US" sz="1300" dirty="0">
                <a:solidFill>
                  <a:srgbClr val="627D98"/>
                </a:solidFill>
              </a:rPr>
              <a:t>sha256(split, qid, pair, asin, candidate)</a:t>
            </a:r>
            <a:endParaRPr lang="en-US" sz="1300" dirty="0"/>
          </a:p>
        </p:txBody>
      </p:sp>
      <p:sp>
        <p:nvSpPr>
          <p:cNvPr id="42" name="guard-3-circle"/>
          <p:cNvSpPr/>
          <p:nvPr/>
        </p:nvSpPr>
        <p:spPr>
          <a:xfrm>
            <a:off x="8275320" y="5120640"/>
            <a:ext cx="438912" cy="438912"/>
          </a:xfrm>
          <a:prstGeom prst="ellipse">
            <a:avLst/>
          </a:prstGeom>
          <a:solidFill>
            <a:srgbClr val="0F7C7A"/>
          </a:solidFill>
          <a:ln/>
        </p:spPr>
      </p:sp>
      <p:pic>
        <p:nvPicPr>
          <p:cNvPr id="43" name="guard-3-icon" descr="preencoded.png"/>
          <p:cNvPicPr>
            <a:picLocks noChangeAspect="1"/>
          </p:cNvPicPr>
          <p:nvPr/>
        </p:nvPicPr>
        <p:blipFill>
          <a:blip r:embed="rId6"/>
          <a:stretch>
            <a:fillRect/>
          </a:stretch>
        </p:blipFill>
        <p:spPr>
          <a:xfrm>
            <a:off x="8371881" y="5217201"/>
            <a:ext cx="245791" cy="245791"/>
          </a:xfrm>
          <a:prstGeom prst="rect">
            <a:avLst/>
          </a:prstGeom>
        </p:spPr>
      </p:pic>
      <p:sp>
        <p:nvSpPr>
          <p:cNvPr id="44" name="guard-t3"/>
          <p:cNvSpPr txBox="1"/>
          <p:nvPr/>
        </p:nvSpPr>
        <p:spPr>
          <a:xfrm>
            <a:off x="8823960" y="5047488"/>
            <a:ext cx="2834640" cy="731520"/>
          </a:xfrm>
          <a:prstGeom prst="rect">
            <a:avLst/>
          </a:prstGeom>
          <a:noFill/>
          <a:ln/>
        </p:spPr>
        <p:txBody>
          <a:bodyPr wrap="square" lIns="0" tIns="0" rIns="0" bIns="0" rtlCol="0" anchor="t"/>
          <a:lstStyle/>
          <a:p>
            <a:pPr marL="0" indent="0">
              <a:buNone/>
            </a:pPr>
            <a:r>
              <a:rPr lang="en-US" sz="1300" b="1" dirty="0">
                <a:solidFill>
                  <a:schemeClr val="tx1"/>
                </a:solidFill>
              </a:rPr>
              <a:t>One ordered schema</a:t>
            </a:r>
            <a:endParaRPr lang="en-US" sz="1300" dirty="0"/>
          </a:p>
          <a:p>
            <a:pPr marL="0" indent="0">
              <a:buNone/>
            </a:pPr>
            <a:r>
              <a:rPr lang="en-US" sz="1300" dirty="0">
                <a:solidFill>
                  <a:srgbClr val="627D98"/>
                </a:solidFill>
              </a:rPr>
              <a:t>same 14 columns and order in training and serving</a:t>
            </a:r>
            <a:endParaRPr lang="en-US" sz="1300" dirty="0"/>
          </a:p>
        </p:txBody>
      </p:sp>
      <p:sp>
        <p:nvSpPr>
          <p:cNvPr id="13"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tepper-line"/>
          <p:cNvSpPr/>
          <p:nvPr/>
        </p:nvSpPr>
        <p:spPr>
          <a:xfrm>
            <a:off x="731520" y="466344"/>
            <a:ext cx="10732313" cy="0"/>
          </a:xfrm>
          <a:prstGeom prst="line">
            <a:avLst/>
          </a:prstGeom>
          <a:noFill/>
          <a:ln w="19050">
            <a:solidFill>
              <a:srgbClr val="BFE3E0"/>
            </a:solidFill>
            <a:prstDash val="solid"/>
          </a:ln>
        </p:spPr>
      </p:sp>
      <p:sp>
        <p:nvSpPr>
          <p:cNvPr id="3" name="step-1"/>
          <p:cNvSpPr/>
          <p:nvPr/>
        </p:nvSpPr>
        <p:spPr>
          <a:xfrm>
            <a:off x="548640" y="292608"/>
            <a:ext cx="1298448" cy="347472"/>
          </a:xfrm>
          <a:prstGeom prst="roundRect">
            <a:avLst>
              <a:gd name="adj" fmla="val 50000"/>
            </a:avLst>
          </a:prstGeom>
          <a:solidFill>
            <a:schemeClr val="accent5"/>
          </a:solidFill>
          <a:ln w="9525">
            <a:solidFill>
              <a:srgbClr val="EEF3F7"/>
            </a:solidFill>
          </a:ln>
        </p:spPr>
        <p:txBody>
          <a:bodyPr wrap="square" lIns="0" tIns="0" rIns="0" bIns="0" rtlCol="0" anchor="ctr"/>
          <a:lstStyle/>
          <a:p>
            <a:pPr marL="0" indent="0" algn="ctr">
              <a:buNone/>
            </a:pPr>
            <a:r>
              <a:rPr lang="en-US" sz="1000" dirty="0">
                <a:solidFill>
                  <a:schemeClr val="tx2"/>
                </a:solidFill>
              </a:rPr>
              <a:t>1  Data collection</a:t>
            </a:r>
            <a:endParaRPr lang="en-US" sz="1000" dirty="0"/>
          </a:p>
        </p:txBody>
      </p:sp>
      <p:sp>
        <p:nvSpPr>
          <p:cNvPr id="4" name="step-2"/>
          <p:cNvSpPr/>
          <p:nvPr/>
        </p:nvSpPr>
        <p:spPr>
          <a:xfrm>
            <a:off x="1948586" y="292608"/>
            <a:ext cx="1298448" cy="347472"/>
          </a:xfrm>
          <a:prstGeom prst="roundRect">
            <a:avLst>
              <a:gd name="adj" fmla="val 50000"/>
            </a:avLst>
          </a:prstGeom>
          <a:solidFill>
            <a:schemeClr val="accent5"/>
          </a:solidFill>
          <a:ln w="9525">
            <a:solidFill>
              <a:srgbClr val="EEF3F7"/>
            </a:solidFill>
          </a:ln>
        </p:spPr>
        <p:txBody>
          <a:bodyPr wrap="square" lIns="0" tIns="0" rIns="0" bIns="0" rtlCol="0" anchor="ctr"/>
          <a:lstStyle/>
          <a:p>
            <a:pPr marL="0" indent="0" algn="ctr">
              <a:buNone/>
            </a:pPr>
            <a:r>
              <a:rPr lang="en-US" sz="1000" dirty="0">
                <a:solidFill>
                  <a:schemeClr val="tx2"/>
                </a:solidFill>
              </a:rPr>
              <a:t>2  Feature engineering</a:t>
            </a:r>
            <a:endParaRPr lang="en-US" sz="1000" dirty="0"/>
          </a:p>
        </p:txBody>
      </p:sp>
      <p:sp>
        <p:nvSpPr>
          <p:cNvPr id="5" name="step-3"/>
          <p:cNvSpPr/>
          <p:nvPr/>
        </p:nvSpPr>
        <p:spPr>
          <a:xfrm>
            <a:off x="3348533" y="292608"/>
            <a:ext cx="1298448" cy="347472"/>
          </a:xfrm>
          <a:prstGeom prst="roundRect">
            <a:avLst>
              <a:gd name="adj" fmla="val 50000"/>
            </a:avLst>
          </a:prstGeom>
          <a:solidFill>
            <a:schemeClr val="accent1"/>
          </a:solidFill>
          <a:ln w="9525">
            <a:solidFill>
              <a:srgbClr val="0F7C7A"/>
            </a:solidFill>
          </a:ln>
        </p:spPr>
        <p:txBody>
          <a:bodyPr wrap="square" lIns="0" tIns="0" rIns="0" bIns="0" rtlCol="0" anchor="ctr"/>
          <a:lstStyle/>
          <a:p>
            <a:pPr marL="0" indent="0" algn="ctr">
              <a:buNone/>
            </a:pPr>
            <a:r>
              <a:rPr lang="en-US" sz="1000" b="1" dirty="0">
                <a:solidFill>
                  <a:schemeClr val="bg1"/>
                </a:solidFill>
              </a:rPr>
              <a:t>3  Feature Store</a:t>
            </a:r>
            <a:endParaRPr lang="en-US" sz="1000" dirty="0"/>
          </a:p>
        </p:txBody>
      </p:sp>
      <p:sp>
        <p:nvSpPr>
          <p:cNvPr id="6" name="step-4"/>
          <p:cNvSpPr/>
          <p:nvPr/>
        </p:nvSpPr>
        <p:spPr>
          <a:xfrm>
            <a:off x="4748479" y="292608"/>
            <a:ext cx="1298448" cy="347472"/>
          </a:xfrm>
          <a:prstGeom prst="roundRect">
            <a:avLst>
              <a:gd name="adj" fmla="val 50000"/>
            </a:avLst>
          </a:prstGeom>
          <a:solidFill>
            <a:schemeClr val="bg2"/>
          </a:solidFill>
          <a:ln w="9525">
            <a:solidFill>
              <a:srgbClr val="EEF3F7"/>
            </a:solidFill>
          </a:ln>
        </p:spPr>
        <p:txBody>
          <a:bodyPr wrap="square" lIns="0" tIns="0" rIns="0" bIns="0" rtlCol="0" anchor="ctr"/>
          <a:lstStyle/>
          <a:p>
            <a:pPr marL="0" indent="0" algn="ctr">
              <a:buNone/>
            </a:pPr>
            <a:r>
              <a:rPr lang="en-US" sz="1000" dirty="0">
                <a:solidFill>
                  <a:schemeClr val="tx2"/>
                </a:solidFill>
              </a:rPr>
              <a:t>4  Model development</a:t>
            </a:r>
            <a:endParaRPr lang="en-US" sz="1000" dirty="0"/>
          </a:p>
        </p:txBody>
      </p:sp>
      <p:sp>
        <p:nvSpPr>
          <p:cNvPr id="7" name="step-5"/>
          <p:cNvSpPr/>
          <p:nvPr/>
        </p:nvSpPr>
        <p:spPr>
          <a:xfrm>
            <a:off x="6148426" y="292608"/>
            <a:ext cx="1298448" cy="347472"/>
          </a:xfrm>
          <a:prstGeom prst="roundRect">
            <a:avLst>
              <a:gd name="adj" fmla="val 50000"/>
            </a:avLst>
          </a:prstGeom>
          <a:solidFill>
            <a:schemeClr val="bg2"/>
          </a:solidFill>
          <a:ln w="9525">
            <a:solidFill>
              <a:srgbClr val="EEF3F7"/>
            </a:solidFill>
          </a:ln>
        </p:spPr>
        <p:txBody>
          <a:bodyPr wrap="square" lIns="0" tIns="0" rIns="0" bIns="0" rtlCol="0" anchor="ctr"/>
          <a:lstStyle/>
          <a:p>
            <a:pPr marL="0" indent="0" algn="ctr">
              <a:buNone/>
            </a:pPr>
            <a:r>
              <a:rPr lang="en-US" sz="1000" dirty="0">
                <a:solidFill>
                  <a:schemeClr val="tx2"/>
                </a:solidFill>
              </a:rPr>
              <a:t>5  Evaluation</a:t>
            </a:r>
            <a:endParaRPr lang="en-US" sz="1000" dirty="0"/>
          </a:p>
        </p:txBody>
      </p:sp>
      <p:sp>
        <p:nvSpPr>
          <p:cNvPr id="8" name="step-6"/>
          <p:cNvSpPr/>
          <p:nvPr/>
        </p:nvSpPr>
        <p:spPr>
          <a:xfrm>
            <a:off x="7548372" y="292608"/>
            <a:ext cx="1298448" cy="347472"/>
          </a:xfrm>
          <a:prstGeom prst="roundRect">
            <a:avLst>
              <a:gd name="adj" fmla="val 50000"/>
            </a:avLst>
          </a:prstGeom>
          <a:solidFill>
            <a:schemeClr val="bg2"/>
          </a:solidFill>
          <a:ln w="9525">
            <a:solidFill>
              <a:srgbClr val="EEF3F7"/>
            </a:solidFill>
          </a:ln>
        </p:spPr>
        <p:txBody>
          <a:bodyPr wrap="square" lIns="0" tIns="0" rIns="0" bIns="0" rtlCol="0" anchor="ctr"/>
          <a:lstStyle/>
          <a:p>
            <a:pPr marL="0" indent="0" algn="ctr">
              <a:buNone/>
            </a:pPr>
            <a:r>
              <a:rPr lang="en-US" sz="1000" dirty="0">
                <a:solidFill>
                  <a:schemeClr val="tx2"/>
                </a:solidFill>
              </a:rPr>
              <a:t>6  Monitoring &amp; CI/CD</a:t>
            </a:r>
            <a:endParaRPr lang="en-US" sz="1000" dirty="0"/>
          </a:p>
        </p:txBody>
      </p:sp>
      <p:sp>
        <p:nvSpPr>
          <p:cNvPr id="9" name="step-7"/>
          <p:cNvSpPr/>
          <p:nvPr/>
        </p:nvSpPr>
        <p:spPr>
          <a:xfrm>
            <a:off x="8948318" y="292608"/>
            <a:ext cx="1298448" cy="347472"/>
          </a:xfrm>
          <a:prstGeom prst="roundRect">
            <a:avLst>
              <a:gd name="adj" fmla="val 50000"/>
            </a:avLst>
          </a:prstGeom>
          <a:solidFill>
            <a:schemeClr val="bg2"/>
          </a:solidFill>
          <a:ln w="9525">
            <a:solidFill>
              <a:srgbClr val="EEF3F7"/>
            </a:solidFill>
          </a:ln>
        </p:spPr>
        <p:txBody>
          <a:bodyPr wrap="square" lIns="0" tIns="0" rIns="0" bIns="0" rtlCol="0" anchor="ctr"/>
          <a:lstStyle/>
          <a:p>
            <a:pPr marL="0" indent="0" algn="ctr">
              <a:buNone/>
            </a:pPr>
            <a:r>
              <a:rPr lang="en-US" sz="1000" dirty="0">
                <a:solidFill>
                  <a:schemeClr val="tx2"/>
                </a:solidFill>
              </a:rPr>
              <a:t>7  Deployment</a:t>
            </a:r>
            <a:endParaRPr lang="en-US" sz="1000" dirty="0"/>
          </a:p>
        </p:txBody>
      </p:sp>
      <p:sp>
        <p:nvSpPr>
          <p:cNvPr id="10" name="step-8"/>
          <p:cNvSpPr/>
          <p:nvPr/>
        </p:nvSpPr>
        <p:spPr>
          <a:xfrm>
            <a:off x="10348265" y="292608"/>
            <a:ext cx="1298448" cy="347472"/>
          </a:xfrm>
          <a:prstGeom prst="roundRect">
            <a:avLst>
              <a:gd name="adj" fmla="val 50000"/>
            </a:avLst>
          </a:prstGeom>
          <a:solidFill>
            <a:schemeClr val="bg2"/>
          </a:solidFill>
          <a:ln w="9525">
            <a:solidFill>
              <a:srgbClr val="EEF3F7"/>
            </a:solidFill>
          </a:ln>
        </p:spPr>
        <p:txBody>
          <a:bodyPr wrap="square" lIns="0" tIns="0" rIns="0" bIns="0" rtlCol="0" anchor="ctr"/>
          <a:lstStyle/>
          <a:p>
            <a:pPr marL="0" indent="0" algn="ctr">
              <a:buNone/>
            </a:pPr>
            <a:r>
              <a:rPr lang="en-US" sz="1000" dirty="0">
                <a:solidFill>
                  <a:schemeClr val="tx2"/>
                </a:solidFill>
              </a:rPr>
              <a:t>8  RAG inference</a:t>
            </a:r>
            <a:endParaRPr lang="en-US" sz="1000" dirty="0"/>
          </a:p>
        </p:txBody>
      </p:sp>
      <p:sp>
        <p:nvSpPr>
          <p:cNvPr id="11" name="Text 1"/>
          <p:cNvSpPr>
            <a:spLocks noGrp="1"/>
          </p:cNvSpPr>
          <p:nvPr>
            <p:ph type="body" idx="101" hasCustomPrompt="1"/>
          </p:nvPr>
        </p:nvSpPr>
        <p:spPr>
          <a:xfrm>
            <a:off x="548640" y="868680"/>
            <a:ext cx="10972800" cy="292608"/>
          </a:xfrm>
          <a:prstGeom prst="rect">
            <a:avLst/>
          </a:prstGeom>
          <a:noFill/>
          <a:ln/>
        </p:spPr>
        <p:txBody>
          <a:bodyPr wrap="square" lIns="0" tIns="0" rIns="0" bIns="0" rtlCol="0" anchor="ctr"/>
          <a:lstStyle/>
          <a:p>
            <a:pPr marL="0" indent="0">
              <a:buNone/>
            </a:pPr>
            <a:r>
              <a:rPr lang="en-US" sz="1200" b="1" dirty="0">
                <a:solidFill>
                  <a:schemeClr val="accent1"/>
                </a:solidFill>
              </a:rPr>
              <a:t>PHASE 3  ·  SageMaker Feature Store (offline) + product-grouped splits</a:t>
            </a:r>
            <a:endParaRPr lang="en-US" sz="1200" dirty="0"/>
          </a:p>
        </p:txBody>
      </p:sp>
      <p:sp>
        <p:nvSpPr>
          <p:cNvPr id="12" name="Text 1"/>
          <p:cNvSpPr>
            <a:spLocks noGrp="1"/>
          </p:cNvSpPr>
          <p:nvPr>
            <p:ph type="title" idx="102" hasCustomPrompt="1"/>
          </p:nvPr>
        </p:nvSpPr>
        <p:spPr>
          <a:xfrm>
            <a:off x="548640" y="1161288"/>
            <a:ext cx="11064240" cy="685800"/>
          </a:xfrm>
          <a:prstGeom prst="rect">
            <a:avLst/>
          </a:prstGeom>
          <a:noFill/>
          <a:ln/>
        </p:spPr>
        <p:txBody>
          <a:bodyPr wrap="square" lIns="0" tIns="0" rIns="0" bIns="0" rtlCol="0" anchor="ctr"/>
          <a:lstStyle/>
          <a:p>
            <a:pPr marL="0" indent="0" algn="l">
              <a:buNone/>
            </a:pPr>
            <a:r>
              <a:rPr lang="en-US" sz="3000" b="1" dirty="0">
                <a:solidFill>
                  <a:schemeClr val="tx2"/>
                </a:solidFill>
                <a:latin typeface="Cambria" pitchFamily="34" charset="0"/>
                <a:ea typeface="Cambria" pitchFamily="34" charset="-122"/>
                <a:cs typeface="Cambria" pitchFamily="34" charset="-120"/>
              </a:rPr>
              <a:t>Feature Store and splits: reusable features, no leakage</a:t>
            </a:r>
            <a:endParaRPr lang="en-US" sz="3000" dirty="0"/>
          </a:p>
        </p:txBody>
      </p:sp>
      <p:sp>
        <p:nvSpPr>
          <p:cNvPr id="14" name="fs-card"/>
          <p:cNvSpPr/>
          <p:nvPr/>
        </p:nvSpPr>
        <p:spPr>
          <a:xfrm>
            <a:off x="548640" y="2148840"/>
            <a:ext cx="5120640" cy="3794760"/>
          </a:xfrm>
          <a:prstGeom prst="roundRect">
            <a:avLst>
              <a:gd name="adj" fmla="val 2892"/>
            </a:avLst>
          </a:prstGeom>
          <a:solidFill>
            <a:srgbClr val="EEF3F7"/>
          </a:solidFill>
          <a:ln w="9525">
            <a:solidFill>
              <a:srgbClr val="EEF3F7"/>
            </a:solidFill>
            <a:prstDash val="solid"/>
          </a:ln>
        </p:spPr>
      </p:sp>
      <p:sp>
        <p:nvSpPr>
          <p:cNvPr id="15" name="fs-circle"/>
          <p:cNvSpPr/>
          <p:nvPr/>
        </p:nvSpPr>
        <p:spPr>
          <a:xfrm>
            <a:off x="777240" y="2331720"/>
            <a:ext cx="594360" cy="594360"/>
          </a:xfrm>
          <a:prstGeom prst="ellipse">
            <a:avLst/>
          </a:prstGeom>
          <a:solidFill>
            <a:srgbClr val="0F7C7A"/>
          </a:solidFill>
          <a:ln/>
        </p:spPr>
      </p:sp>
      <p:pic>
        <p:nvPicPr>
          <p:cNvPr id="16" name="fs-icon" descr="preencoded.png"/>
          <p:cNvPicPr>
            <a:picLocks noChangeAspect="1"/>
          </p:cNvPicPr>
          <p:nvPr/>
        </p:nvPicPr>
        <p:blipFill>
          <a:blip r:embed="rId3"/>
          <a:stretch>
            <a:fillRect/>
          </a:stretch>
        </p:blipFill>
        <p:spPr>
          <a:xfrm>
            <a:off x="907999" y="2462479"/>
            <a:ext cx="332842" cy="332842"/>
          </a:xfrm>
          <a:prstGeom prst="rect">
            <a:avLst/>
          </a:prstGeom>
        </p:spPr>
      </p:pic>
      <p:sp>
        <p:nvSpPr>
          <p:cNvPr id="17" name="fs-t"/>
          <p:cNvSpPr txBox="1"/>
          <p:nvPr/>
        </p:nvSpPr>
        <p:spPr>
          <a:xfrm>
            <a:off x="1508760" y="2377440"/>
            <a:ext cx="4023360" cy="502920"/>
          </a:xfrm>
          <a:prstGeom prst="rect">
            <a:avLst/>
          </a:prstGeom>
          <a:noFill/>
          <a:ln/>
        </p:spPr>
        <p:txBody>
          <a:bodyPr wrap="square" lIns="0" tIns="0" rIns="0" bIns="0" rtlCol="0" anchor="ctr"/>
          <a:lstStyle/>
          <a:p>
            <a:pPr marL="0" indent="0">
              <a:buNone/>
            </a:pPr>
            <a:r>
              <a:rPr lang="en-US" sz="1800" b="1" dirty="0">
                <a:solidFill>
                  <a:schemeClr val="tx2"/>
                </a:solidFill>
              </a:rPr>
              <a:t>Offline feature group</a:t>
            </a:r>
            <a:endParaRPr lang="en-US" sz="1800" dirty="0"/>
          </a:p>
        </p:txBody>
      </p:sp>
      <p:graphicFrame>
        <p:nvGraphicFramePr>
          <p:cNvPr id="13" name="fs-table"/>
          <p:cNvGraphicFramePr>
            <a:graphicFrameLocks noGrp="1"/>
          </p:cNvGraphicFramePr>
          <p:nvPr>
            <p:extLst>
              <p:ext uri="{D42A27DB-BD31-4B8C-83A1-F6EECF244321}">
                <p14:modId xmlns:p14="http://schemas.microsoft.com/office/powerpoint/2010/main" val="1579011935"/>
              </p:ext>
            </p:extLst>
          </p:nvPr>
        </p:nvGraphicFramePr>
        <p:xfrm>
          <a:off x="777240" y="3108960"/>
          <a:ext cx="4709160" cy="2334768"/>
        </p:xfrm>
        <a:graphic>
          <a:graphicData uri="http://schemas.openxmlformats.org/drawingml/2006/table">
            <a:tbl>
              <a:tblPr/>
              <a:tblGrid>
                <a:gridCol w="1691640">
                  <a:extLst>
                    <a:ext uri="{9D8B030D-6E8A-4147-A177-3AD203B41FA5}">
                      <a16:colId xmlns:a16="http://schemas.microsoft.com/office/drawing/2014/main" val="20000"/>
                    </a:ext>
                  </a:extLst>
                </a:gridCol>
                <a:gridCol w="3017520">
                  <a:extLst>
                    <a:ext uri="{9D8B030D-6E8A-4147-A177-3AD203B41FA5}">
                      <a16:colId xmlns:a16="http://schemas.microsoft.com/office/drawing/2014/main" val="20001"/>
                    </a:ext>
                  </a:extLst>
                </a:gridCol>
              </a:tblGrid>
              <a:tr h="457200">
                <a:tc>
                  <a:txBody>
                    <a:bodyPr/>
                    <a:lstStyle/>
                    <a:p>
                      <a:pPr marL="0" indent="0">
                        <a:buNone/>
                      </a:pPr>
                      <a:r>
                        <a:rPr lang="en-US" sz="1300" b="1" dirty="0">
                          <a:solidFill>
                            <a:srgbClr val="102A43"/>
                          </a:solidFill>
                          <a:latin typeface="Calibri" pitchFamily="34" charset="0"/>
                          <a:ea typeface="Calibri" pitchFamily="34" charset="-122"/>
                          <a:cs typeface="Calibri" pitchFamily="34" charset="-120"/>
                        </a:rPr>
                        <a:t>Records ingested</a:t>
                      </a:r>
                      <a:endParaRPr lang="en-US" sz="1300" dirty="0">
                        <a:latin typeface="Calibri" charset="0"/>
                        <a:ea typeface="Calibri" charset="0"/>
                        <a:cs typeface="Calibri" charset="0"/>
                      </a:endParaRPr>
                    </a:p>
                  </a:txBody>
                  <a:tcPr marL="54864" marR="54864" marT="54864" marB="54864">
                    <a:lnL w="6350" cap="flat" cmpd="sng" algn="ctr">
                      <a:solidFill>
                        <a:srgbClr val="D5DEE7"/>
                      </a:solidFill>
                      <a:prstDash val="solid"/>
                      <a:round/>
                      <a:headEnd type="none" w="med" len="med"/>
                      <a:tailEnd type="none" w="med" len="med"/>
                    </a:lnL>
                    <a:lnR w="6350" cap="flat" cmpd="sng" algn="ctr">
                      <a:solidFill>
                        <a:srgbClr val="D5DEE7"/>
                      </a:solidFill>
                      <a:prstDash val="solid"/>
                      <a:round/>
                      <a:headEnd type="none" w="med" len="med"/>
                      <a:tailEnd type="none" w="med" len="med"/>
                    </a:lnR>
                    <a:lnT w="6350" cap="flat" cmpd="sng" algn="ctr">
                      <a:solidFill>
                        <a:srgbClr val="D5DEE7"/>
                      </a:solidFill>
                      <a:prstDash val="solid"/>
                      <a:round/>
                      <a:headEnd type="none" w="med" len="med"/>
                      <a:tailEnd type="none" w="med" len="med"/>
                    </a:lnT>
                    <a:lnB w="6350" cap="flat" cmpd="sng" algn="ctr">
                      <a:solidFill>
                        <a:srgbClr val="D5DEE7"/>
                      </a:solidFill>
                      <a:prstDash val="solid"/>
                      <a:round/>
                      <a:headEnd type="none" w="med" len="med"/>
                      <a:tailEnd type="none" w="med" len="med"/>
                    </a:lnB>
                    <a:solidFill>
                      <a:srgbClr val="FFFFFF"/>
                    </a:solidFill>
                  </a:tcPr>
                </a:tc>
                <a:tc>
                  <a:txBody>
                    <a:bodyPr/>
                    <a:lstStyle/>
                    <a:p>
                      <a:pPr marL="0" indent="0">
                        <a:buNone/>
                      </a:pPr>
                      <a:r>
                        <a:rPr lang="en-US" sz="1300" dirty="0">
                          <a:solidFill>
                            <a:srgbClr val="1B2430"/>
                          </a:solidFill>
                          <a:latin typeface="Calibri" pitchFamily="34" charset="0"/>
                          <a:ea typeface="Calibri" pitchFamily="34" charset="-122"/>
                          <a:cs typeface="Calibri" pitchFamily="34" charset="-120"/>
                        </a:rPr>
                        <a:t>24,966 via PutRecord</a:t>
                      </a:r>
                      <a:endParaRPr lang="en-US" sz="1300" dirty="0">
                        <a:latin typeface="Calibri" charset="0"/>
                        <a:ea typeface="Calibri" charset="0"/>
                        <a:cs typeface="Calibri" charset="0"/>
                      </a:endParaRPr>
                    </a:p>
                  </a:txBody>
                  <a:tcPr marL="54864" marR="54864" marT="54864" marB="54864">
                    <a:lnL w="6350" cap="flat" cmpd="sng" algn="ctr">
                      <a:solidFill>
                        <a:srgbClr val="D5DEE7"/>
                      </a:solidFill>
                      <a:prstDash val="solid"/>
                      <a:round/>
                      <a:headEnd type="none" w="med" len="med"/>
                      <a:tailEnd type="none" w="med" len="med"/>
                    </a:lnL>
                    <a:lnR w="6350" cap="flat" cmpd="sng" algn="ctr">
                      <a:solidFill>
                        <a:srgbClr val="D5DEE7"/>
                      </a:solidFill>
                      <a:prstDash val="solid"/>
                      <a:round/>
                      <a:headEnd type="none" w="med" len="med"/>
                      <a:tailEnd type="none" w="med" len="med"/>
                    </a:lnR>
                    <a:lnT w="6350" cap="flat" cmpd="sng" algn="ctr">
                      <a:solidFill>
                        <a:srgbClr val="D5DEE7"/>
                      </a:solidFill>
                      <a:prstDash val="solid"/>
                      <a:round/>
                      <a:headEnd type="none" w="med" len="med"/>
                      <a:tailEnd type="none" w="med" len="med"/>
                    </a:lnT>
                    <a:lnB w="6350" cap="flat" cmpd="sng" algn="ctr">
                      <a:solidFill>
                        <a:srgbClr val="D5DEE7"/>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457200">
                <a:tc>
                  <a:txBody>
                    <a:bodyPr/>
                    <a:lstStyle/>
                    <a:p>
                      <a:pPr marL="0" indent="0">
                        <a:buNone/>
                      </a:pPr>
                      <a:r>
                        <a:rPr lang="en-US" sz="1300" b="1" dirty="0">
                          <a:solidFill>
                            <a:srgbClr val="102A43"/>
                          </a:solidFill>
                          <a:latin typeface="Calibri" pitchFamily="34" charset="0"/>
                          <a:ea typeface="Calibri" pitchFamily="34" charset="-122"/>
                          <a:cs typeface="Calibri" pitchFamily="34" charset="-120"/>
                        </a:rPr>
                        <a:t>Record key / time</a:t>
                      </a:r>
                      <a:endParaRPr lang="en-US" sz="1300" dirty="0">
                        <a:latin typeface="Calibri" charset="0"/>
                        <a:ea typeface="Calibri" charset="0"/>
                        <a:cs typeface="Calibri" charset="0"/>
                      </a:endParaRPr>
                    </a:p>
                  </a:txBody>
                  <a:tcPr marL="54864" marR="54864" marT="54864" marB="54864">
                    <a:lnL w="6350" cap="flat" cmpd="sng" algn="ctr">
                      <a:solidFill>
                        <a:srgbClr val="D5DEE7"/>
                      </a:solidFill>
                      <a:prstDash val="solid"/>
                      <a:round/>
                      <a:headEnd type="none" w="med" len="med"/>
                      <a:tailEnd type="none" w="med" len="med"/>
                    </a:lnL>
                    <a:lnR w="6350" cap="flat" cmpd="sng" algn="ctr">
                      <a:solidFill>
                        <a:srgbClr val="D5DEE7"/>
                      </a:solidFill>
                      <a:prstDash val="solid"/>
                      <a:round/>
                      <a:headEnd type="none" w="med" len="med"/>
                      <a:tailEnd type="none" w="med" len="med"/>
                    </a:lnR>
                    <a:lnT w="6350" cap="flat" cmpd="sng" algn="ctr">
                      <a:solidFill>
                        <a:srgbClr val="D5DEE7"/>
                      </a:solidFill>
                      <a:prstDash val="solid"/>
                      <a:round/>
                      <a:headEnd type="none" w="med" len="med"/>
                      <a:tailEnd type="none" w="med" len="med"/>
                    </a:lnT>
                    <a:lnB w="6350" cap="flat" cmpd="sng" algn="ctr">
                      <a:solidFill>
                        <a:srgbClr val="D5DEE7"/>
                      </a:solidFill>
                      <a:prstDash val="solid"/>
                      <a:round/>
                      <a:headEnd type="none" w="med" len="med"/>
                      <a:tailEnd type="none" w="med" len="med"/>
                    </a:lnB>
                    <a:solidFill>
                      <a:srgbClr val="FFFFFF"/>
                    </a:solidFill>
                  </a:tcPr>
                </a:tc>
                <a:tc>
                  <a:txBody>
                    <a:bodyPr/>
                    <a:lstStyle/>
                    <a:p>
                      <a:pPr marL="0" indent="0">
                        <a:buNone/>
                      </a:pPr>
                      <a:r>
                        <a:rPr lang="en-US" sz="1300" dirty="0">
                          <a:solidFill>
                            <a:srgbClr val="1B2430"/>
                          </a:solidFill>
                          <a:latin typeface="Calibri" pitchFamily="34" charset="0"/>
                          <a:ea typeface="Calibri" pitchFamily="34" charset="-122"/>
                          <a:cs typeface="Calibri" pitchFamily="34" charset="-120"/>
                        </a:rPr>
                        <a:t>record_id · event_time</a:t>
                      </a:r>
                      <a:endParaRPr lang="en-US" sz="1300" dirty="0">
                        <a:latin typeface="Calibri" charset="0"/>
                        <a:ea typeface="Calibri" charset="0"/>
                        <a:cs typeface="Calibri" charset="0"/>
                      </a:endParaRPr>
                    </a:p>
                  </a:txBody>
                  <a:tcPr marL="54864" marR="54864" marT="54864" marB="54864">
                    <a:lnL w="6350" cap="flat" cmpd="sng" algn="ctr">
                      <a:solidFill>
                        <a:srgbClr val="D5DEE7"/>
                      </a:solidFill>
                      <a:prstDash val="solid"/>
                      <a:round/>
                      <a:headEnd type="none" w="med" len="med"/>
                      <a:tailEnd type="none" w="med" len="med"/>
                    </a:lnL>
                    <a:lnR w="6350" cap="flat" cmpd="sng" algn="ctr">
                      <a:solidFill>
                        <a:srgbClr val="D5DEE7"/>
                      </a:solidFill>
                      <a:prstDash val="solid"/>
                      <a:round/>
                      <a:headEnd type="none" w="med" len="med"/>
                      <a:tailEnd type="none" w="med" len="med"/>
                    </a:lnR>
                    <a:lnT w="6350" cap="flat" cmpd="sng" algn="ctr">
                      <a:solidFill>
                        <a:srgbClr val="D5DEE7"/>
                      </a:solidFill>
                      <a:prstDash val="solid"/>
                      <a:round/>
                      <a:headEnd type="none" w="med" len="med"/>
                      <a:tailEnd type="none" w="med" len="med"/>
                    </a:lnT>
                    <a:lnB w="6350" cap="flat" cmpd="sng" algn="ctr">
                      <a:solidFill>
                        <a:srgbClr val="D5DEE7"/>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57200">
                <a:tc>
                  <a:txBody>
                    <a:bodyPr/>
                    <a:lstStyle/>
                    <a:p>
                      <a:pPr marL="0" indent="0">
                        <a:buNone/>
                      </a:pPr>
                      <a:r>
                        <a:rPr lang="en-US" sz="1300" b="1" dirty="0">
                          <a:solidFill>
                            <a:srgbClr val="102A43"/>
                          </a:solidFill>
                          <a:latin typeface="Calibri" pitchFamily="34" charset="0"/>
                          <a:ea typeface="Calibri" pitchFamily="34" charset="-122"/>
                          <a:cs typeface="Calibri" pitchFamily="34" charset="-120"/>
                        </a:rPr>
                        <a:t>Storage</a:t>
                      </a:r>
                      <a:endParaRPr lang="en-US" sz="1300" dirty="0">
                        <a:latin typeface="Calibri" charset="0"/>
                        <a:ea typeface="Calibri" charset="0"/>
                        <a:cs typeface="Calibri" charset="0"/>
                      </a:endParaRPr>
                    </a:p>
                  </a:txBody>
                  <a:tcPr marL="54864" marR="54864" marT="54864" marB="54864">
                    <a:lnL w="6350" cap="flat" cmpd="sng" algn="ctr">
                      <a:solidFill>
                        <a:srgbClr val="D5DEE7"/>
                      </a:solidFill>
                      <a:prstDash val="solid"/>
                      <a:round/>
                      <a:headEnd type="none" w="med" len="med"/>
                      <a:tailEnd type="none" w="med" len="med"/>
                    </a:lnL>
                    <a:lnR w="6350" cap="flat" cmpd="sng" algn="ctr">
                      <a:solidFill>
                        <a:srgbClr val="D5DEE7"/>
                      </a:solidFill>
                      <a:prstDash val="solid"/>
                      <a:round/>
                      <a:headEnd type="none" w="med" len="med"/>
                      <a:tailEnd type="none" w="med" len="med"/>
                    </a:lnR>
                    <a:lnT w="6350" cap="flat" cmpd="sng" algn="ctr">
                      <a:solidFill>
                        <a:srgbClr val="D5DEE7"/>
                      </a:solidFill>
                      <a:prstDash val="solid"/>
                      <a:round/>
                      <a:headEnd type="none" w="med" len="med"/>
                      <a:tailEnd type="none" w="med" len="med"/>
                    </a:lnT>
                    <a:lnB w="6350" cap="flat" cmpd="sng" algn="ctr">
                      <a:solidFill>
                        <a:srgbClr val="D5DEE7"/>
                      </a:solidFill>
                      <a:prstDash val="solid"/>
                      <a:round/>
                      <a:headEnd type="none" w="med" len="med"/>
                      <a:tailEnd type="none" w="med" len="med"/>
                    </a:lnB>
                    <a:solidFill>
                      <a:srgbClr val="FFFFFF"/>
                    </a:solidFill>
                  </a:tcPr>
                </a:tc>
                <a:tc>
                  <a:txBody>
                    <a:bodyPr/>
                    <a:lstStyle/>
                    <a:p>
                      <a:pPr marL="0" indent="0">
                        <a:buNone/>
                      </a:pPr>
                      <a:r>
                        <a:rPr lang="en-US" sz="1300" dirty="0">
                          <a:solidFill>
                            <a:srgbClr val="1B2430"/>
                          </a:solidFill>
                          <a:latin typeface="Calibri" pitchFamily="34" charset="0"/>
                          <a:ea typeface="Calibri" pitchFamily="34" charset="-122"/>
                          <a:cs typeface="Calibri" pitchFamily="34" charset="-120"/>
                        </a:rPr>
                        <a:t>S3 offline store, online store disabled</a:t>
                      </a:r>
                      <a:endParaRPr lang="en-US" sz="1300" dirty="0">
                        <a:latin typeface="Calibri" charset="0"/>
                        <a:ea typeface="Calibri" charset="0"/>
                        <a:cs typeface="Calibri" charset="0"/>
                      </a:endParaRPr>
                    </a:p>
                  </a:txBody>
                  <a:tcPr marL="54864" marR="54864" marT="54864" marB="54864">
                    <a:lnL w="6350" cap="flat" cmpd="sng" algn="ctr">
                      <a:solidFill>
                        <a:srgbClr val="D5DEE7"/>
                      </a:solidFill>
                      <a:prstDash val="solid"/>
                      <a:round/>
                      <a:headEnd type="none" w="med" len="med"/>
                      <a:tailEnd type="none" w="med" len="med"/>
                    </a:lnL>
                    <a:lnR w="6350" cap="flat" cmpd="sng" algn="ctr">
                      <a:solidFill>
                        <a:srgbClr val="D5DEE7"/>
                      </a:solidFill>
                      <a:prstDash val="solid"/>
                      <a:round/>
                      <a:headEnd type="none" w="med" len="med"/>
                      <a:tailEnd type="none" w="med" len="med"/>
                    </a:lnR>
                    <a:lnT w="6350" cap="flat" cmpd="sng" algn="ctr">
                      <a:solidFill>
                        <a:srgbClr val="D5DEE7"/>
                      </a:solidFill>
                      <a:prstDash val="solid"/>
                      <a:round/>
                      <a:headEnd type="none" w="med" len="med"/>
                      <a:tailEnd type="none" w="med" len="med"/>
                    </a:lnT>
                    <a:lnB w="6350" cap="flat" cmpd="sng" algn="ctr">
                      <a:solidFill>
                        <a:srgbClr val="D5DEE7"/>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57200">
                <a:tc>
                  <a:txBody>
                    <a:bodyPr/>
                    <a:lstStyle/>
                    <a:p>
                      <a:pPr marL="0" indent="0">
                        <a:buNone/>
                      </a:pPr>
                      <a:r>
                        <a:rPr lang="en-US" sz="1300" b="1" dirty="0">
                          <a:solidFill>
                            <a:srgbClr val="102A43"/>
                          </a:solidFill>
                          <a:latin typeface="Calibri" pitchFamily="34" charset="0"/>
                          <a:ea typeface="Calibri" pitchFamily="34" charset="-122"/>
                          <a:cs typeface="Calibri" pitchFamily="34" charset="-120"/>
                        </a:rPr>
                        <a:t>Catalog</a:t>
                      </a:r>
                      <a:endParaRPr lang="en-US" sz="1300" dirty="0">
                        <a:latin typeface="Calibri" charset="0"/>
                        <a:ea typeface="Calibri" charset="0"/>
                        <a:cs typeface="Calibri" charset="0"/>
                      </a:endParaRPr>
                    </a:p>
                  </a:txBody>
                  <a:tcPr marL="54864" marR="54864" marT="54864" marB="54864">
                    <a:lnL w="6350" cap="flat" cmpd="sng" algn="ctr">
                      <a:solidFill>
                        <a:srgbClr val="D5DEE7"/>
                      </a:solidFill>
                      <a:prstDash val="solid"/>
                      <a:round/>
                      <a:headEnd type="none" w="med" len="med"/>
                      <a:tailEnd type="none" w="med" len="med"/>
                    </a:lnL>
                    <a:lnR w="6350" cap="flat" cmpd="sng" algn="ctr">
                      <a:solidFill>
                        <a:srgbClr val="D5DEE7"/>
                      </a:solidFill>
                      <a:prstDash val="solid"/>
                      <a:round/>
                      <a:headEnd type="none" w="med" len="med"/>
                      <a:tailEnd type="none" w="med" len="med"/>
                    </a:lnR>
                    <a:lnT w="6350" cap="flat" cmpd="sng" algn="ctr">
                      <a:solidFill>
                        <a:srgbClr val="D5DEE7"/>
                      </a:solidFill>
                      <a:prstDash val="solid"/>
                      <a:round/>
                      <a:headEnd type="none" w="med" len="med"/>
                      <a:tailEnd type="none" w="med" len="med"/>
                    </a:lnT>
                    <a:lnB w="6350" cap="flat" cmpd="sng" algn="ctr">
                      <a:solidFill>
                        <a:srgbClr val="D5DEE7"/>
                      </a:solidFill>
                      <a:prstDash val="solid"/>
                      <a:round/>
                      <a:headEnd type="none" w="med" len="med"/>
                      <a:tailEnd type="none" w="med" len="med"/>
                    </a:lnB>
                    <a:solidFill>
                      <a:srgbClr val="FFFFFF"/>
                    </a:solidFill>
                  </a:tcPr>
                </a:tc>
                <a:tc>
                  <a:txBody>
                    <a:bodyPr/>
                    <a:lstStyle/>
                    <a:p>
                      <a:pPr marL="0" indent="0">
                        <a:buNone/>
                      </a:pPr>
                      <a:r>
                        <a:rPr lang="en-US" sz="1300" dirty="0">
                          <a:solidFill>
                            <a:srgbClr val="1B2430"/>
                          </a:solidFill>
                          <a:latin typeface="Calibri" pitchFamily="34" charset="0"/>
                          <a:ea typeface="Calibri" pitchFamily="34" charset="-122"/>
                          <a:cs typeface="Calibri" pitchFamily="34" charset="-120"/>
                        </a:rPr>
                        <a:t>auto Glue table, queried with Athena</a:t>
                      </a:r>
                      <a:endParaRPr lang="en-US" sz="1300" dirty="0">
                        <a:latin typeface="Calibri" charset="0"/>
                        <a:ea typeface="Calibri" charset="0"/>
                        <a:cs typeface="Calibri" charset="0"/>
                      </a:endParaRPr>
                    </a:p>
                  </a:txBody>
                  <a:tcPr marL="54864" marR="54864" marT="54864" marB="54864">
                    <a:lnL w="6350" cap="flat" cmpd="sng" algn="ctr">
                      <a:solidFill>
                        <a:srgbClr val="D5DEE7"/>
                      </a:solidFill>
                      <a:prstDash val="solid"/>
                      <a:round/>
                      <a:headEnd type="none" w="med" len="med"/>
                      <a:tailEnd type="none" w="med" len="med"/>
                    </a:lnL>
                    <a:lnR w="6350" cap="flat" cmpd="sng" algn="ctr">
                      <a:solidFill>
                        <a:srgbClr val="D5DEE7"/>
                      </a:solidFill>
                      <a:prstDash val="solid"/>
                      <a:round/>
                      <a:headEnd type="none" w="med" len="med"/>
                      <a:tailEnd type="none" w="med" len="med"/>
                    </a:lnR>
                    <a:lnT w="6350" cap="flat" cmpd="sng" algn="ctr">
                      <a:solidFill>
                        <a:srgbClr val="D5DEE7"/>
                      </a:solidFill>
                      <a:prstDash val="solid"/>
                      <a:round/>
                      <a:headEnd type="none" w="med" len="med"/>
                      <a:tailEnd type="none" w="med" len="med"/>
                    </a:lnT>
                    <a:lnB w="6350" cap="flat" cmpd="sng" algn="ctr">
                      <a:solidFill>
                        <a:srgbClr val="D5DEE7"/>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57200">
                <a:tc>
                  <a:txBody>
                    <a:bodyPr/>
                    <a:lstStyle/>
                    <a:p>
                      <a:pPr marL="0" indent="0">
                        <a:buNone/>
                      </a:pPr>
                      <a:r>
                        <a:rPr lang="en-US" sz="1300" b="1" dirty="0">
                          <a:solidFill>
                            <a:srgbClr val="102A43"/>
                          </a:solidFill>
                          <a:latin typeface="Calibri" pitchFamily="34" charset="0"/>
                          <a:ea typeface="Calibri" pitchFamily="34" charset="-122"/>
                          <a:cs typeface="Calibri" pitchFamily="34" charset="-120"/>
                        </a:rPr>
                        <a:t>Cleanup</a:t>
                      </a:r>
                      <a:endParaRPr lang="en-US" sz="1300" dirty="0">
                        <a:latin typeface="Calibri" charset="0"/>
                        <a:ea typeface="Calibri" charset="0"/>
                        <a:cs typeface="Calibri" charset="0"/>
                      </a:endParaRPr>
                    </a:p>
                  </a:txBody>
                  <a:tcPr marL="54864" marR="54864" marT="54864" marB="54864">
                    <a:lnL w="6350" cap="flat" cmpd="sng" algn="ctr">
                      <a:solidFill>
                        <a:srgbClr val="D5DEE7"/>
                      </a:solidFill>
                      <a:prstDash val="solid"/>
                      <a:round/>
                      <a:headEnd type="none" w="med" len="med"/>
                      <a:tailEnd type="none" w="med" len="med"/>
                    </a:lnL>
                    <a:lnR w="6350" cap="flat" cmpd="sng" algn="ctr">
                      <a:solidFill>
                        <a:srgbClr val="D5DEE7"/>
                      </a:solidFill>
                      <a:prstDash val="solid"/>
                      <a:round/>
                      <a:headEnd type="none" w="med" len="med"/>
                      <a:tailEnd type="none" w="med" len="med"/>
                    </a:lnR>
                    <a:lnT w="6350" cap="flat" cmpd="sng" algn="ctr">
                      <a:solidFill>
                        <a:srgbClr val="D5DEE7"/>
                      </a:solidFill>
                      <a:prstDash val="solid"/>
                      <a:round/>
                      <a:headEnd type="none" w="med" len="med"/>
                      <a:tailEnd type="none" w="med" len="med"/>
                    </a:lnT>
                    <a:lnB w="6350" cap="flat" cmpd="sng" algn="ctr">
                      <a:solidFill>
                        <a:srgbClr val="D5DEE7"/>
                      </a:solidFill>
                      <a:prstDash val="solid"/>
                      <a:round/>
                      <a:headEnd type="none" w="med" len="med"/>
                      <a:tailEnd type="none" w="med" len="med"/>
                    </a:lnB>
                    <a:solidFill>
                      <a:srgbClr val="FFFFFF"/>
                    </a:solidFill>
                  </a:tcPr>
                </a:tc>
                <a:tc>
                  <a:txBody>
                    <a:bodyPr/>
                    <a:lstStyle/>
                    <a:p>
                      <a:pPr marL="0" indent="0">
                        <a:buNone/>
                      </a:pPr>
                      <a:r>
                        <a:rPr lang="en-US" sz="1300" dirty="0">
                          <a:solidFill>
                            <a:srgbClr val="1B2430"/>
                          </a:solidFill>
                          <a:latin typeface="Calibri" pitchFamily="34" charset="0"/>
                          <a:ea typeface="Calibri" pitchFamily="34" charset="-122"/>
                          <a:cs typeface="Calibri" pitchFamily="34" charset="-120"/>
                        </a:rPr>
                        <a:t>DELETE_FEATURE_GROUP keeps S3 evidence</a:t>
                      </a:r>
                      <a:endParaRPr lang="en-US" sz="1300" dirty="0">
                        <a:latin typeface="Calibri" charset="0"/>
                        <a:ea typeface="Calibri" charset="0"/>
                        <a:cs typeface="Calibri" charset="0"/>
                      </a:endParaRPr>
                    </a:p>
                  </a:txBody>
                  <a:tcPr marL="54864" marR="54864" marT="54864" marB="54864">
                    <a:lnL w="6350" cap="flat" cmpd="sng" algn="ctr">
                      <a:solidFill>
                        <a:srgbClr val="D5DEE7"/>
                      </a:solidFill>
                      <a:prstDash val="solid"/>
                      <a:round/>
                      <a:headEnd type="none" w="med" len="med"/>
                      <a:tailEnd type="none" w="med" len="med"/>
                    </a:lnL>
                    <a:lnR w="6350" cap="flat" cmpd="sng" algn="ctr">
                      <a:solidFill>
                        <a:srgbClr val="D5DEE7"/>
                      </a:solidFill>
                      <a:prstDash val="solid"/>
                      <a:round/>
                      <a:headEnd type="none" w="med" len="med"/>
                      <a:tailEnd type="none" w="med" len="med"/>
                    </a:lnR>
                    <a:lnT w="6350" cap="flat" cmpd="sng" algn="ctr">
                      <a:solidFill>
                        <a:srgbClr val="D5DEE7"/>
                      </a:solidFill>
                      <a:prstDash val="solid"/>
                      <a:round/>
                      <a:headEnd type="none" w="med" len="med"/>
                      <a:tailEnd type="none" w="med" len="med"/>
                    </a:lnT>
                    <a:lnB w="6350" cap="flat" cmpd="sng" algn="ctr">
                      <a:solidFill>
                        <a:srgbClr val="D5DEE7"/>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graphicFrame>
        <p:nvGraphicFramePr>
          <p:cNvPr id="19" name="split-chart"/>
          <p:cNvGraphicFramePr/>
          <p:nvPr/>
        </p:nvGraphicFramePr>
        <p:xfrm>
          <a:off x="6035040" y="2103120"/>
          <a:ext cx="5577840" cy="2880360"/>
        </p:xfrm>
        <a:graphic>
          <a:graphicData uri="http://schemas.openxmlformats.org/drawingml/2006/chart">
            <c:chart xmlns:c="http://schemas.openxmlformats.org/drawingml/2006/chart" xmlns:r="http://schemas.openxmlformats.org/officeDocument/2006/relationships" r:id="rId4"/>
          </a:graphicData>
        </a:graphic>
      </p:graphicFrame>
      <p:sp>
        <p:nvSpPr>
          <p:cNvPr id="20" name="disjoint-circle"/>
          <p:cNvSpPr/>
          <p:nvPr/>
        </p:nvSpPr>
        <p:spPr>
          <a:xfrm>
            <a:off x="6126480" y="5212080"/>
            <a:ext cx="502920" cy="502920"/>
          </a:xfrm>
          <a:prstGeom prst="ellipse">
            <a:avLst/>
          </a:prstGeom>
          <a:solidFill>
            <a:srgbClr val="0F7C7A"/>
          </a:solidFill>
          <a:ln/>
        </p:spPr>
      </p:sp>
      <p:pic>
        <p:nvPicPr>
          <p:cNvPr id="21" name="disjoint-icon" descr="preencoded.png"/>
          <p:cNvPicPr>
            <a:picLocks noChangeAspect="1"/>
          </p:cNvPicPr>
          <p:nvPr/>
        </p:nvPicPr>
        <p:blipFill>
          <a:blip r:embed="rId5"/>
          <a:stretch>
            <a:fillRect/>
          </a:stretch>
        </p:blipFill>
        <p:spPr>
          <a:xfrm>
            <a:off x="6237122" y="5322722"/>
            <a:ext cx="281635" cy="281635"/>
          </a:xfrm>
          <a:prstGeom prst="rect">
            <a:avLst/>
          </a:prstGeom>
        </p:spPr>
      </p:pic>
      <p:sp>
        <p:nvSpPr>
          <p:cNvPr id="22" name="disjoint-t"/>
          <p:cNvSpPr txBox="1"/>
          <p:nvPr/>
        </p:nvSpPr>
        <p:spPr>
          <a:xfrm>
            <a:off x="6766560" y="5120640"/>
            <a:ext cx="4846320" cy="731520"/>
          </a:xfrm>
          <a:prstGeom prst="rect">
            <a:avLst/>
          </a:prstGeom>
          <a:noFill/>
          <a:ln/>
        </p:spPr>
        <p:txBody>
          <a:bodyPr wrap="square" lIns="0" tIns="0" rIns="0" bIns="0" rtlCol="0" anchor="ctr"/>
          <a:lstStyle/>
          <a:p>
            <a:pPr marL="0" indent="0">
              <a:buNone/>
            </a:pPr>
            <a:r>
              <a:rPr lang="en-US" sz="1300" b="1" dirty="0">
                <a:solidFill>
                  <a:schemeClr val="tx1"/>
                </a:solidFill>
              </a:rPr>
              <a:t>Leakage check passed: </a:t>
            </a:r>
            <a:r>
              <a:rPr lang="en-US" sz="1300" dirty="0">
                <a:solidFill>
                  <a:schemeClr val="tx1"/>
                </a:solidFill>
              </a:rPr>
              <a:t>850 / 213 / 213 / 852 products, all four group sets disjoint. split_manifest.json + run_summary.json written as the stage receipt.</a:t>
            </a:r>
            <a:endParaRPr lang="en-US" sz="13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tepper-line"/>
          <p:cNvSpPr/>
          <p:nvPr/>
        </p:nvSpPr>
        <p:spPr>
          <a:xfrm>
            <a:off x="731520" y="466344"/>
            <a:ext cx="10732313" cy="0"/>
          </a:xfrm>
          <a:prstGeom prst="line">
            <a:avLst/>
          </a:prstGeom>
          <a:noFill/>
          <a:ln w="19050">
            <a:solidFill>
              <a:srgbClr val="BFE3E0"/>
            </a:solidFill>
            <a:prstDash val="solid"/>
          </a:ln>
        </p:spPr>
      </p:sp>
      <p:sp>
        <p:nvSpPr>
          <p:cNvPr id="3" name="step-1"/>
          <p:cNvSpPr/>
          <p:nvPr/>
        </p:nvSpPr>
        <p:spPr>
          <a:xfrm>
            <a:off x="548640" y="292608"/>
            <a:ext cx="1298448" cy="347472"/>
          </a:xfrm>
          <a:prstGeom prst="roundRect">
            <a:avLst>
              <a:gd name="adj" fmla="val 50000"/>
            </a:avLst>
          </a:prstGeom>
          <a:solidFill>
            <a:schemeClr val="accent5"/>
          </a:solidFill>
          <a:ln w="9525">
            <a:solidFill>
              <a:srgbClr val="EEF3F7"/>
            </a:solidFill>
          </a:ln>
        </p:spPr>
        <p:txBody>
          <a:bodyPr wrap="square" lIns="0" tIns="0" rIns="0" bIns="0" rtlCol="0" anchor="ctr"/>
          <a:lstStyle/>
          <a:p>
            <a:pPr marL="0" indent="0" algn="ctr">
              <a:buNone/>
            </a:pPr>
            <a:r>
              <a:rPr lang="en-US" sz="1000" dirty="0">
                <a:solidFill>
                  <a:schemeClr val="tx2"/>
                </a:solidFill>
              </a:rPr>
              <a:t>1  Data collection</a:t>
            </a:r>
            <a:endParaRPr lang="en-US" sz="1000" dirty="0"/>
          </a:p>
        </p:txBody>
      </p:sp>
      <p:sp>
        <p:nvSpPr>
          <p:cNvPr id="4" name="step-2"/>
          <p:cNvSpPr/>
          <p:nvPr/>
        </p:nvSpPr>
        <p:spPr>
          <a:xfrm>
            <a:off x="1948586" y="292608"/>
            <a:ext cx="1298448" cy="347472"/>
          </a:xfrm>
          <a:prstGeom prst="roundRect">
            <a:avLst>
              <a:gd name="adj" fmla="val 50000"/>
            </a:avLst>
          </a:prstGeom>
          <a:solidFill>
            <a:schemeClr val="accent5"/>
          </a:solidFill>
          <a:ln w="9525">
            <a:solidFill>
              <a:srgbClr val="EEF3F7"/>
            </a:solidFill>
          </a:ln>
        </p:spPr>
        <p:txBody>
          <a:bodyPr wrap="square" lIns="0" tIns="0" rIns="0" bIns="0" rtlCol="0" anchor="ctr"/>
          <a:lstStyle/>
          <a:p>
            <a:pPr marL="0" indent="0" algn="ctr">
              <a:buNone/>
            </a:pPr>
            <a:r>
              <a:rPr lang="en-US" sz="1000" dirty="0">
                <a:solidFill>
                  <a:schemeClr val="tx2"/>
                </a:solidFill>
              </a:rPr>
              <a:t>2  Feature engineering</a:t>
            </a:r>
            <a:endParaRPr lang="en-US" sz="1000" dirty="0"/>
          </a:p>
        </p:txBody>
      </p:sp>
      <p:sp>
        <p:nvSpPr>
          <p:cNvPr id="5" name="step-3"/>
          <p:cNvSpPr/>
          <p:nvPr/>
        </p:nvSpPr>
        <p:spPr>
          <a:xfrm>
            <a:off x="3348533" y="292608"/>
            <a:ext cx="1298448" cy="347472"/>
          </a:xfrm>
          <a:prstGeom prst="roundRect">
            <a:avLst>
              <a:gd name="adj" fmla="val 50000"/>
            </a:avLst>
          </a:prstGeom>
          <a:solidFill>
            <a:schemeClr val="accent5"/>
          </a:solidFill>
          <a:ln w="9525">
            <a:solidFill>
              <a:srgbClr val="EEF3F7"/>
            </a:solidFill>
          </a:ln>
        </p:spPr>
        <p:txBody>
          <a:bodyPr wrap="square" lIns="0" tIns="0" rIns="0" bIns="0" rtlCol="0" anchor="ctr"/>
          <a:lstStyle/>
          <a:p>
            <a:pPr marL="0" indent="0" algn="ctr">
              <a:buNone/>
            </a:pPr>
            <a:r>
              <a:rPr lang="en-US" sz="1000" dirty="0">
                <a:solidFill>
                  <a:schemeClr val="tx2"/>
                </a:solidFill>
              </a:rPr>
              <a:t>3  Feature Store</a:t>
            </a:r>
            <a:endParaRPr lang="en-US" sz="1000" dirty="0"/>
          </a:p>
        </p:txBody>
      </p:sp>
      <p:sp>
        <p:nvSpPr>
          <p:cNvPr id="6" name="step-4"/>
          <p:cNvSpPr/>
          <p:nvPr/>
        </p:nvSpPr>
        <p:spPr>
          <a:xfrm>
            <a:off x="4748479" y="292608"/>
            <a:ext cx="1298448" cy="347472"/>
          </a:xfrm>
          <a:prstGeom prst="roundRect">
            <a:avLst>
              <a:gd name="adj" fmla="val 50000"/>
            </a:avLst>
          </a:prstGeom>
          <a:solidFill>
            <a:schemeClr val="accent1"/>
          </a:solidFill>
          <a:ln w="9525">
            <a:solidFill>
              <a:srgbClr val="0F7C7A"/>
            </a:solidFill>
          </a:ln>
        </p:spPr>
        <p:txBody>
          <a:bodyPr wrap="square" lIns="0" tIns="0" rIns="0" bIns="0" rtlCol="0" anchor="ctr"/>
          <a:lstStyle/>
          <a:p>
            <a:pPr marL="0" indent="0" algn="ctr">
              <a:buNone/>
            </a:pPr>
            <a:r>
              <a:rPr lang="en-US" sz="1000" b="1" dirty="0">
                <a:solidFill>
                  <a:schemeClr val="bg1"/>
                </a:solidFill>
              </a:rPr>
              <a:t>4  Model development</a:t>
            </a:r>
            <a:endParaRPr lang="en-US" sz="1000" dirty="0"/>
          </a:p>
        </p:txBody>
      </p:sp>
      <p:sp>
        <p:nvSpPr>
          <p:cNvPr id="7" name="step-5"/>
          <p:cNvSpPr/>
          <p:nvPr/>
        </p:nvSpPr>
        <p:spPr>
          <a:xfrm>
            <a:off x="6148426" y="292608"/>
            <a:ext cx="1298448" cy="347472"/>
          </a:xfrm>
          <a:prstGeom prst="roundRect">
            <a:avLst>
              <a:gd name="adj" fmla="val 50000"/>
            </a:avLst>
          </a:prstGeom>
          <a:solidFill>
            <a:schemeClr val="bg2"/>
          </a:solidFill>
          <a:ln w="9525">
            <a:solidFill>
              <a:srgbClr val="EEF3F7"/>
            </a:solidFill>
          </a:ln>
        </p:spPr>
        <p:txBody>
          <a:bodyPr wrap="square" lIns="0" tIns="0" rIns="0" bIns="0" rtlCol="0" anchor="ctr"/>
          <a:lstStyle/>
          <a:p>
            <a:pPr marL="0" indent="0" algn="ctr">
              <a:buNone/>
            </a:pPr>
            <a:r>
              <a:rPr lang="en-US" sz="1000" dirty="0">
                <a:solidFill>
                  <a:schemeClr val="tx2"/>
                </a:solidFill>
              </a:rPr>
              <a:t>5  Evaluation</a:t>
            </a:r>
            <a:endParaRPr lang="en-US" sz="1000" dirty="0"/>
          </a:p>
        </p:txBody>
      </p:sp>
      <p:sp>
        <p:nvSpPr>
          <p:cNvPr id="8" name="step-6"/>
          <p:cNvSpPr/>
          <p:nvPr/>
        </p:nvSpPr>
        <p:spPr>
          <a:xfrm>
            <a:off x="7548372" y="292608"/>
            <a:ext cx="1298448" cy="347472"/>
          </a:xfrm>
          <a:prstGeom prst="roundRect">
            <a:avLst>
              <a:gd name="adj" fmla="val 50000"/>
            </a:avLst>
          </a:prstGeom>
          <a:solidFill>
            <a:schemeClr val="bg2"/>
          </a:solidFill>
          <a:ln w="9525">
            <a:solidFill>
              <a:srgbClr val="EEF3F7"/>
            </a:solidFill>
          </a:ln>
        </p:spPr>
        <p:txBody>
          <a:bodyPr wrap="square" lIns="0" tIns="0" rIns="0" bIns="0" rtlCol="0" anchor="ctr"/>
          <a:lstStyle/>
          <a:p>
            <a:pPr marL="0" indent="0" algn="ctr">
              <a:buNone/>
            </a:pPr>
            <a:r>
              <a:rPr lang="en-US" sz="1000" dirty="0">
                <a:solidFill>
                  <a:schemeClr val="tx2"/>
                </a:solidFill>
              </a:rPr>
              <a:t>6  Monitoring &amp; CI/CD</a:t>
            </a:r>
            <a:endParaRPr lang="en-US" sz="1000" dirty="0"/>
          </a:p>
        </p:txBody>
      </p:sp>
      <p:sp>
        <p:nvSpPr>
          <p:cNvPr id="9" name="step-7"/>
          <p:cNvSpPr/>
          <p:nvPr/>
        </p:nvSpPr>
        <p:spPr>
          <a:xfrm>
            <a:off x="8948318" y="292608"/>
            <a:ext cx="1298448" cy="347472"/>
          </a:xfrm>
          <a:prstGeom prst="roundRect">
            <a:avLst>
              <a:gd name="adj" fmla="val 50000"/>
            </a:avLst>
          </a:prstGeom>
          <a:solidFill>
            <a:schemeClr val="bg2"/>
          </a:solidFill>
          <a:ln w="9525">
            <a:solidFill>
              <a:srgbClr val="EEF3F7"/>
            </a:solidFill>
          </a:ln>
        </p:spPr>
        <p:txBody>
          <a:bodyPr wrap="square" lIns="0" tIns="0" rIns="0" bIns="0" rtlCol="0" anchor="ctr"/>
          <a:lstStyle/>
          <a:p>
            <a:pPr marL="0" indent="0" algn="ctr">
              <a:buNone/>
            </a:pPr>
            <a:r>
              <a:rPr lang="en-US" sz="1000" dirty="0">
                <a:solidFill>
                  <a:schemeClr val="tx2"/>
                </a:solidFill>
              </a:rPr>
              <a:t>7  Deployment</a:t>
            </a:r>
            <a:endParaRPr lang="en-US" sz="1000" dirty="0"/>
          </a:p>
        </p:txBody>
      </p:sp>
      <p:sp>
        <p:nvSpPr>
          <p:cNvPr id="10" name="step-8"/>
          <p:cNvSpPr/>
          <p:nvPr/>
        </p:nvSpPr>
        <p:spPr>
          <a:xfrm>
            <a:off x="10348265" y="292608"/>
            <a:ext cx="1298448" cy="347472"/>
          </a:xfrm>
          <a:prstGeom prst="roundRect">
            <a:avLst>
              <a:gd name="adj" fmla="val 50000"/>
            </a:avLst>
          </a:prstGeom>
          <a:solidFill>
            <a:schemeClr val="bg2"/>
          </a:solidFill>
          <a:ln w="9525">
            <a:solidFill>
              <a:srgbClr val="EEF3F7"/>
            </a:solidFill>
          </a:ln>
        </p:spPr>
        <p:txBody>
          <a:bodyPr wrap="square" lIns="0" tIns="0" rIns="0" bIns="0" rtlCol="0" anchor="ctr"/>
          <a:lstStyle/>
          <a:p>
            <a:pPr marL="0" indent="0" algn="ctr">
              <a:buNone/>
            </a:pPr>
            <a:r>
              <a:rPr lang="en-US" sz="1000" dirty="0">
                <a:solidFill>
                  <a:schemeClr val="tx2"/>
                </a:solidFill>
              </a:rPr>
              <a:t>8  RAG inference</a:t>
            </a:r>
            <a:endParaRPr lang="en-US" sz="1000" dirty="0"/>
          </a:p>
        </p:txBody>
      </p:sp>
      <p:sp>
        <p:nvSpPr>
          <p:cNvPr id="11" name="Text 1"/>
          <p:cNvSpPr>
            <a:spLocks noGrp="1"/>
          </p:cNvSpPr>
          <p:nvPr>
            <p:ph type="body" idx="101" hasCustomPrompt="1"/>
          </p:nvPr>
        </p:nvSpPr>
        <p:spPr>
          <a:xfrm>
            <a:off x="548640" y="868680"/>
            <a:ext cx="10972800" cy="292608"/>
          </a:xfrm>
          <a:prstGeom prst="rect">
            <a:avLst/>
          </a:prstGeom>
          <a:noFill/>
          <a:ln/>
        </p:spPr>
        <p:txBody>
          <a:bodyPr wrap="square" lIns="0" tIns="0" rIns="0" bIns="0" rtlCol="0" anchor="ctr"/>
          <a:lstStyle/>
          <a:p>
            <a:pPr marL="0" indent="0">
              <a:buNone/>
            </a:pPr>
            <a:r>
              <a:rPr lang="en-US" sz="1200" b="1" dirty="0">
                <a:solidFill>
                  <a:schemeClr val="accent1"/>
                </a:solidFill>
              </a:rPr>
              <a:t>PHASE 4  ·  AAI540_SageMaker_Model_Development_Deployment.ipynb  ·  src/train.py</a:t>
            </a:r>
            <a:endParaRPr lang="en-US" sz="1200" dirty="0"/>
          </a:p>
        </p:txBody>
      </p:sp>
      <p:sp>
        <p:nvSpPr>
          <p:cNvPr id="12" name="Text 1"/>
          <p:cNvSpPr>
            <a:spLocks noGrp="1"/>
          </p:cNvSpPr>
          <p:nvPr>
            <p:ph type="title" idx="102" hasCustomPrompt="1"/>
          </p:nvPr>
        </p:nvSpPr>
        <p:spPr>
          <a:xfrm>
            <a:off x="548640" y="1161288"/>
            <a:ext cx="11064240" cy="685800"/>
          </a:xfrm>
          <a:prstGeom prst="rect">
            <a:avLst/>
          </a:prstGeom>
          <a:noFill/>
          <a:ln/>
        </p:spPr>
        <p:txBody>
          <a:bodyPr wrap="square" lIns="0" tIns="0" rIns="0" bIns="0" rtlCol="0" anchor="ctr"/>
          <a:lstStyle/>
          <a:p>
            <a:pPr marL="0" indent="0" algn="l">
              <a:buNone/>
            </a:pPr>
            <a:r>
              <a:rPr lang="en-US" sz="3000" b="1" dirty="0">
                <a:solidFill>
                  <a:schemeClr val="tx2"/>
                </a:solidFill>
                <a:latin typeface="Cambria" pitchFamily="34" charset="0"/>
                <a:ea typeface="Cambria" pitchFamily="34" charset="-122"/>
                <a:cs typeface="Cambria" pitchFamily="34" charset="-120"/>
              </a:rPr>
              <a:t>Model development: a benchmark and a ranker on SageMaker</a:t>
            </a:r>
            <a:endParaRPr lang="en-US" sz="3000" dirty="0"/>
          </a:p>
        </p:txBody>
      </p:sp>
      <p:sp>
        <p:nvSpPr>
          <p:cNvPr id="14" name="m-card-0"/>
          <p:cNvSpPr/>
          <p:nvPr/>
        </p:nvSpPr>
        <p:spPr>
          <a:xfrm>
            <a:off x="548640" y="2148840"/>
            <a:ext cx="3657600" cy="2606040"/>
          </a:xfrm>
          <a:prstGeom prst="roundRect">
            <a:avLst>
              <a:gd name="adj" fmla="val 4211"/>
            </a:avLst>
          </a:prstGeom>
          <a:solidFill>
            <a:srgbClr val="EEF3F7"/>
          </a:solidFill>
          <a:ln w="9525">
            <a:solidFill>
              <a:srgbClr val="EEF3F7"/>
            </a:solidFill>
            <a:prstDash val="solid"/>
          </a:ln>
        </p:spPr>
      </p:sp>
      <p:sp>
        <p:nvSpPr>
          <p:cNvPr id="15" name="m-0-circle"/>
          <p:cNvSpPr/>
          <p:nvPr/>
        </p:nvSpPr>
        <p:spPr>
          <a:xfrm>
            <a:off x="777240" y="2331720"/>
            <a:ext cx="594360" cy="594360"/>
          </a:xfrm>
          <a:prstGeom prst="ellipse">
            <a:avLst/>
          </a:prstGeom>
          <a:solidFill>
            <a:srgbClr val="627D98"/>
          </a:solidFill>
          <a:ln/>
        </p:spPr>
      </p:sp>
      <p:pic>
        <p:nvPicPr>
          <p:cNvPr id="16" name="m-0-icon" descr="preencoded.png"/>
          <p:cNvPicPr>
            <a:picLocks noChangeAspect="1"/>
          </p:cNvPicPr>
          <p:nvPr/>
        </p:nvPicPr>
        <p:blipFill>
          <a:blip r:embed="rId3"/>
          <a:stretch>
            <a:fillRect/>
          </a:stretch>
        </p:blipFill>
        <p:spPr>
          <a:xfrm>
            <a:off x="907999" y="2462479"/>
            <a:ext cx="332842" cy="332842"/>
          </a:xfrm>
          <a:prstGeom prst="rect">
            <a:avLst/>
          </a:prstGeom>
        </p:spPr>
      </p:pic>
      <p:sp>
        <p:nvSpPr>
          <p:cNvPr id="17" name="m-t0"/>
          <p:cNvSpPr txBox="1"/>
          <p:nvPr/>
        </p:nvSpPr>
        <p:spPr>
          <a:xfrm>
            <a:off x="1508760" y="2286000"/>
            <a:ext cx="2606040" cy="731520"/>
          </a:xfrm>
          <a:prstGeom prst="rect">
            <a:avLst/>
          </a:prstGeom>
          <a:noFill/>
          <a:ln/>
        </p:spPr>
        <p:txBody>
          <a:bodyPr wrap="square" lIns="0" tIns="0" rIns="0" bIns="0" rtlCol="0" anchor="ctr"/>
          <a:lstStyle/>
          <a:p>
            <a:pPr marL="0" indent="0">
              <a:buNone/>
            </a:pPr>
            <a:r>
              <a:rPr lang="en-US" sz="1800" b="1" dirty="0">
                <a:solidFill>
                  <a:srgbClr val="102A43"/>
                </a:solidFill>
              </a:rPr>
              <a:t>Benchmark</a:t>
            </a:r>
            <a:endParaRPr lang="en-US" sz="1800" dirty="0"/>
          </a:p>
          <a:p>
            <a:pPr marL="0" indent="0">
              <a:buNone/>
            </a:pPr>
            <a:r>
              <a:rPr lang="en-US" sz="1300" dirty="0">
                <a:solidFill>
                  <a:srgbClr val="627D98"/>
                </a:solidFill>
              </a:rPr>
              <a:t>Depth-2 decision tree</a:t>
            </a:r>
            <a:endParaRPr lang="en-US" sz="1800" dirty="0"/>
          </a:p>
        </p:txBody>
      </p:sp>
      <p:sp>
        <p:nvSpPr>
          <p:cNvPr id="18" name="m-l0"/>
          <p:cNvSpPr txBox="1"/>
          <p:nvPr/>
        </p:nvSpPr>
        <p:spPr>
          <a:xfrm>
            <a:off x="777240" y="3154680"/>
            <a:ext cx="3291840" cy="146304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2 features: hash_cosine_similarity, token_jaccard</a:t>
            </a:r>
            <a:endParaRPr lang="en-US" sz="1400" dirty="0"/>
          </a:p>
          <a:p>
            <a:pPr marL="342900" indent="-342900">
              <a:spcAft>
                <a:spcPts val="600"/>
              </a:spcAft>
              <a:buSzPct val="100000"/>
              <a:buChar char="•"/>
            </a:pPr>
            <a:r>
              <a:rPr lang="en-US" sz="1400" dirty="0">
                <a:solidFill>
                  <a:schemeClr val="tx1"/>
                </a:solidFill>
              </a:rPr>
              <a:t>Interpretable, capacity-limited</a:t>
            </a:r>
            <a:endParaRPr lang="en-US" sz="1400" dirty="0"/>
          </a:p>
          <a:p>
            <a:pPr marL="342900" indent="-342900">
              <a:spcAft>
                <a:spcPts val="600"/>
              </a:spcAft>
              <a:buSzPct val="100000"/>
              <a:buChar char="•"/>
            </a:pPr>
            <a:r>
              <a:rPr lang="en-US" sz="1400" dirty="0">
                <a:solidFill>
                  <a:schemeClr val="tx1"/>
                </a:solidFill>
              </a:rPr>
              <a:t>Defines the minimum bar to beat</a:t>
            </a:r>
            <a:endParaRPr lang="en-US" sz="1400" dirty="0"/>
          </a:p>
        </p:txBody>
      </p:sp>
      <p:sp>
        <p:nvSpPr>
          <p:cNvPr id="19" name="m-card-1"/>
          <p:cNvSpPr/>
          <p:nvPr/>
        </p:nvSpPr>
        <p:spPr>
          <a:xfrm>
            <a:off x="4526280" y="2148840"/>
            <a:ext cx="3657600" cy="2606040"/>
          </a:xfrm>
          <a:prstGeom prst="roundRect">
            <a:avLst>
              <a:gd name="adj" fmla="val 4211"/>
            </a:avLst>
          </a:prstGeom>
          <a:solidFill>
            <a:srgbClr val="EEF3F7"/>
          </a:solidFill>
          <a:ln w="9525">
            <a:solidFill>
              <a:srgbClr val="EEF3F7"/>
            </a:solidFill>
            <a:prstDash val="solid"/>
          </a:ln>
        </p:spPr>
      </p:sp>
      <p:sp>
        <p:nvSpPr>
          <p:cNvPr id="20" name="m-1-circle"/>
          <p:cNvSpPr/>
          <p:nvPr/>
        </p:nvSpPr>
        <p:spPr>
          <a:xfrm>
            <a:off x="4754880" y="2331720"/>
            <a:ext cx="594360" cy="594360"/>
          </a:xfrm>
          <a:prstGeom prst="ellipse">
            <a:avLst/>
          </a:prstGeom>
          <a:solidFill>
            <a:srgbClr val="0F7C7A"/>
          </a:solidFill>
          <a:ln/>
        </p:spPr>
      </p:sp>
      <p:pic>
        <p:nvPicPr>
          <p:cNvPr id="21" name="m-1-icon" descr="preencoded.png"/>
          <p:cNvPicPr>
            <a:picLocks noChangeAspect="1"/>
          </p:cNvPicPr>
          <p:nvPr/>
        </p:nvPicPr>
        <p:blipFill>
          <a:blip r:embed="rId4"/>
          <a:stretch>
            <a:fillRect/>
          </a:stretch>
        </p:blipFill>
        <p:spPr>
          <a:xfrm>
            <a:off x="4885639" y="2462479"/>
            <a:ext cx="332842" cy="332842"/>
          </a:xfrm>
          <a:prstGeom prst="rect">
            <a:avLst/>
          </a:prstGeom>
        </p:spPr>
      </p:pic>
      <p:sp>
        <p:nvSpPr>
          <p:cNvPr id="22" name="m-t1"/>
          <p:cNvSpPr txBox="1"/>
          <p:nvPr/>
        </p:nvSpPr>
        <p:spPr>
          <a:xfrm>
            <a:off x="5486400" y="2286000"/>
            <a:ext cx="2606040" cy="731520"/>
          </a:xfrm>
          <a:prstGeom prst="rect">
            <a:avLst/>
          </a:prstGeom>
          <a:noFill/>
          <a:ln/>
        </p:spPr>
        <p:txBody>
          <a:bodyPr wrap="square" lIns="0" tIns="0" rIns="0" bIns="0" rtlCol="0" anchor="ctr"/>
          <a:lstStyle/>
          <a:p>
            <a:pPr marL="0" indent="0">
              <a:buNone/>
            </a:pPr>
            <a:r>
              <a:rPr lang="en-US" sz="1800" b="1" dirty="0">
                <a:solidFill>
                  <a:srgbClr val="102A43"/>
                </a:solidFill>
              </a:rPr>
              <a:t>Candidate (iteration 1)</a:t>
            </a:r>
            <a:endParaRPr lang="en-US" sz="1800" dirty="0"/>
          </a:p>
          <a:p>
            <a:pPr marL="0" indent="0">
              <a:buNone/>
            </a:pPr>
            <a:r>
              <a:rPr lang="en-US" sz="1300" dirty="0">
                <a:solidFill>
                  <a:srgbClr val="627D98"/>
                </a:solidFill>
              </a:rPr>
              <a:t>Class-balanced Random Forest</a:t>
            </a:r>
            <a:endParaRPr lang="en-US" sz="1800" dirty="0"/>
          </a:p>
        </p:txBody>
      </p:sp>
      <p:sp>
        <p:nvSpPr>
          <p:cNvPr id="23" name="m-l1"/>
          <p:cNvSpPr txBox="1"/>
          <p:nvPr/>
        </p:nvSpPr>
        <p:spPr>
          <a:xfrm>
            <a:off x="4754880" y="3154680"/>
            <a:ext cx="3291840" cy="146304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All 14 scalar features, fixed order</a:t>
            </a:r>
            <a:endParaRPr lang="en-US" sz="1400" dirty="0"/>
          </a:p>
          <a:p>
            <a:pPr marL="342900" indent="-342900">
              <a:spcAft>
                <a:spcPts val="600"/>
              </a:spcAft>
              <a:buSzPct val="100000"/>
              <a:buChar char="•"/>
            </a:pPr>
            <a:r>
              <a:rPr lang="en-US" sz="1400" dirty="0">
                <a:solidFill>
                  <a:schemeClr val="tx1"/>
                </a:solidFill>
              </a:rPr>
              <a:t>Handles 66 / 15 / 20 % label imbalance</a:t>
            </a:r>
            <a:endParaRPr lang="en-US" sz="1400" dirty="0"/>
          </a:p>
          <a:p>
            <a:pPr marL="342900" indent="-342900">
              <a:spcAft>
                <a:spcPts val="600"/>
              </a:spcAft>
              <a:buSzPct val="100000"/>
              <a:buChar char="•"/>
            </a:pPr>
            <a:r>
              <a:rPr lang="en-US" sz="1400" dirty="0">
                <a:solidFill>
                  <a:schemeClr val="tx1"/>
                </a:solidFill>
              </a:rPr>
              <a:t>Deterministic seed, packaged with schema</a:t>
            </a:r>
            <a:endParaRPr lang="en-US" sz="1400" dirty="0"/>
          </a:p>
        </p:txBody>
      </p:sp>
      <p:sp>
        <p:nvSpPr>
          <p:cNvPr id="24" name="m-arrow"/>
          <p:cNvSpPr/>
          <p:nvPr/>
        </p:nvSpPr>
        <p:spPr>
          <a:xfrm>
            <a:off x="4224528" y="3429000"/>
            <a:ext cx="283464" cy="0"/>
          </a:xfrm>
          <a:prstGeom prst="line">
            <a:avLst/>
          </a:prstGeom>
          <a:noFill/>
          <a:ln w="19050">
            <a:solidFill>
              <a:srgbClr val="0F7C7A"/>
            </a:solidFill>
            <a:prstDash val="solid"/>
            <a:tailEnd type="triangle"/>
          </a:ln>
        </p:spPr>
      </p:sp>
      <p:sp>
        <p:nvSpPr>
          <p:cNvPr id="25" name="sm-card"/>
          <p:cNvSpPr/>
          <p:nvPr/>
        </p:nvSpPr>
        <p:spPr>
          <a:xfrm>
            <a:off x="8503920" y="2148840"/>
            <a:ext cx="3136392" cy="2606040"/>
          </a:xfrm>
          <a:prstGeom prst="roundRect">
            <a:avLst>
              <a:gd name="adj" fmla="val 4211"/>
            </a:avLst>
          </a:prstGeom>
          <a:solidFill>
            <a:srgbClr val="102A43"/>
          </a:solidFill>
          <a:ln w="9525">
            <a:solidFill>
              <a:srgbClr val="EEF3F7"/>
            </a:solidFill>
            <a:prstDash val="solid"/>
          </a:ln>
        </p:spPr>
      </p:sp>
      <p:sp>
        <p:nvSpPr>
          <p:cNvPr id="26" name="sm-t"/>
          <p:cNvSpPr txBox="1"/>
          <p:nvPr/>
        </p:nvSpPr>
        <p:spPr>
          <a:xfrm>
            <a:off x="8732520" y="2331720"/>
            <a:ext cx="2743200" cy="2240280"/>
          </a:xfrm>
          <a:prstGeom prst="rect">
            <a:avLst/>
          </a:prstGeom>
          <a:noFill/>
          <a:ln/>
        </p:spPr>
        <p:txBody>
          <a:bodyPr wrap="square" lIns="0" tIns="0" rIns="0" bIns="0" rtlCol="0" anchor="t"/>
          <a:lstStyle/>
          <a:p>
            <a:pPr marL="0" indent="0">
              <a:spcAft>
                <a:spcPts val="800"/>
              </a:spcAft>
              <a:buNone/>
            </a:pPr>
            <a:r>
              <a:rPr lang="en-US" sz="1800" b="1" dirty="0">
                <a:solidFill>
                  <a:schemeClr val="bg1"/>
                </a:solidFill>
              </a:rPr>
              <a:t>SageMaker Training</a:t>
            </a:r>
            <a:endParaRPr lang="en-US" sz="1800" dirty="0"/>
          </a:p>
          <a:p>
            <a:pPr marL="0" indent="0">
              <a:spcAft>
                <a:spcPts val="800"/>
              </a:spcAft>
              <a:buNone/>
            </a:pPr>
            <a:r>
              <a:rPr lang="en-US" sz="1300" dirty="0">
                <a:solidFill>
                  <a:schemeClr val="bg1"/>
                </a:solidFill>
              </a:rPr>
              <a:t>Scikit-learn container 1.4-2</a:t>
            </a:r>
            <a:endParaRPr lang="en-US" sz="1800" dirty="0"/>
          </a:p>
          <a:p>
            <a:pPr marL="0" indent="0">
              <a:spcAft>
                <a:spcPts val="800"/>
              </a:spcAft>
              <a:buNone/>
            </a:pPr>
            <a:r>
              <a:rPr lang="en-US" sz="1300" dirty="0">
                <a:solidFill>
                  <a:schemeClr val="bg1"/>
                </a:solidFill>
              </a:rPr>
              <a:t>Small CPU instances, terminate on completion</a:t>
            </a:r>
            <a:endParaRPr lang="en-US" sz="1800" dirty="0"/>
          </a:p>
          <a:p>
            <a:pPr marL="0" indent="0">
              <a:spcAft>
                <a:spcPts val="800"/>
              </a:spcAft>
              <a:buNone/>
            </a:pPr>
            <a:r>
              <a:rPr lang="en-US" sz="1300" dirty="0">
                <a:solidFill>
                  <a:schemeClr val="bg1"/>
                </a:solidFill>
              </a:rPr>
              <a:t>Artifacts: model.tar.gz per run</a:t>
            </a:r>
            <a:endParaRPr lang="en-US" sz="1800" dirty="0"/>
          </a:p>
        </p:txBody>
      </p:sp>
      <p:sp>
        <p:nvSpPr>
          <p:cNvPr id="27" name="g-h"/>
          <p:cNvSpPr txBox="1"/>
          <p:nvPr/>
        </p:nvSpPr>
        <p:spPr>
          <a:xfrm>
            <a:off x="548640" y="5029200"/>
            <a:ext cx="7315200" cy="320040"/>
          </a:xfrm>
          <a:prstGeom prst="rect">
            <a:avLst/>
          </a:prstGeom>
          <a:noFill/>
          <a:ln/>
        </p:spPr>
        <p:txBody>
          <a:bodyPr wrap="square" lIns="0" tIns="0" rIns="0" bIns="0" rtlCol="0" anchor="ctr"/>
          <a:lstStyle/>
          <a:p>
            <a:pPr marL="0" indent="0">
              <a:buNone/>
            </a:pPr>
            <a:r>
              <a:rPr lang="en-US" sz="1400" b="1" dirty="0">
                <a:solidFill>
                  <a:schemeClr val="tx2"/>
                </a:solidFill>
              </a:rPr>
              <a:t>Pre-fit guardrails inside train.py</a:t>
            </a:r>
            <a:endParaRPr lang="en-US" sz="1400" dirty="0"/>
          </a:p>
        </p:txBody>
      </p:sp>
      <p:sp>
        <p:nvSpPr>
          <p:cNvPr id="28" name="g-chip-0"/>
          <p:cNvSpPr/>
          <p:nvPr/>
        </p:nvSpPr>
        <p:spPr>
          <a:xfrm>
            <a:off x="548640" y="5468112"/>
            <a:ext cx="1719072" cy="365760"/>
          </a:xfrm>
          <a:prstGeom prst="roundRect">
            <a:avLst>
              <a:gd name="adj" fmla="val 42500"/>
            </a:avLst>
          </a:prstGeom>
          <a:solidFill>
            <a:schemeClr val="bg2"/>
          </a:solidFill>
          <a:ln/>
        </p:spPr>
        <p:txBody>
          <a:bodyPr wrap="square" lIns="0" tIns="0" rIns="0" bIns="0" rtlCol="0" anchor="ctr"/>
          <a:lstStyle/>
          <a:p>
            <a:pPr marL="0" indent="0" algn="ctr">
              <a:buNone/>
            </a:pPr>
            <a:r>
              <a:rPr lang="en-US" sz="1200" dirty="0">
                <a:solidFill>
                  <a:schemeClr val="tx2"/>
                </a:solidFill>
              </a:rPr>
              <a:t>Schema check</a:t>
            </a:r>
            <a:endParaRPr lang="en-US" sz="1200" dirty="0"/>
          </a:p>
        </p:txBody>
      </p:sp>
      <p:sp>
        <p:nvSpPr>
          <p:cNvPr id="29" name="g-chip-1"/>
          <p:cNvSpPr/>
          <p:nvPr/>
        </p:nvSpPr>
        <p:spPr>
          <a:xfrm>
            <a:off x="2404872" y="5468112"/>
            <a:ext cx="1719072" cy="365760"/>
          </a:xfrm>
          <a:prstGeom prst="roundRect">
            <a:avLst>
              <a:gd name="adj" fmla="val 42500"/>
            </a:avLst>
          </a:prstGeom>
          <a:solidFill>
            <a:schemeClr val="bg2"/>
          </a:solidFill>
          <a:ln/>
        </p:spPr>
        <p:txBody>
          <a:bodyPr wrap="square" lIns="0" tIns="0" rIns="0" bIns="0" rtlCol="0" anchor="ctr"/>
          <a:lstStyle/>
          <a:p>
            <a:pPr marL="0" indent="0" algn="ctr">
              <a:buNone/>
            </a:pPr>
            <a:r>
              <a:rPr lang="en-US" sz="1200" dirty="0">
                <a:solidFill>
                  <a:schemeClr val="tx2"/>
                </a:solidFill>
              </a:rPr>
              <a:t>Label domain {0,1,2}</a:t>
            </a:r>
            <a:endParaRPr lang="en-US" sz="1200" dirty="0"/>
          </a:p>
        </p:txBody>
      </p:sp>
      <p:sp>
        <p:nvSpPr>
          <p:cNvPr id="30" name="g-chip-2"/>
          <p:cNvSpPr/>
          <p:nvPr/>
        </p:nvSpPr>
        <p:spPr>
          <a:xfrm>
            <a:off x="4261104" y="5468112"/>
            <a:ext cx="1719072" cy="365760"/>
          </a:xfrm>
          <a:prstGeom prst="roundRect">
            <a:avLst>
              <a:gd name="adj" fmla="val 42500"/>
            </a:avLst>
          </a:prstGeom>
          <a:solidFill>
            <a:schemeClr val="bg2"/>
          </a:solidFill>
          <a:ln/>
        </p:spPr>
        <p:txBody>
          <a:bodyPr wrap="square" lIns="0" tIns="0" rIns="0" bIns="0" rtlCol="0" anchor="ctr"/>
          <a:lstStyle/>
          <a:p>
            <a:pPr marL="0" indent="0" algn="ctr">
              <a:buNone/>
            </a:pPr>
            <a:r>
              <a:rPr lang="en-US" sz="1200" dirty="0">
                <a:solidFill>
                  <a:schemeClr val="tx2"/>
                </a:solidFill>
              </a:rPr>
              <a:t>Null policy</a:t>
            </a:r>
            <a:endParaRPr lang="en-US" sz="1200" dirty="0"/>
          </a:p>
        </p:txBody>
      </p:sp>
      <p:sp>
        <p:nvSpPr>
          <p:cNvPr id="31" name="g-chip-3"/>
          <p:cNvSpPr/>
          <p:nvPr/>
        </p:nvSpPr>
        <p:spPr>
          <a:xfrm>
            <a:off x="6117336" y="5468112"/>
            <a:ext cx="1719072" cy="365760"/>
          </a:xfrm>
          <a:prstGeom prst="roundRect">
            <a:avLst>
              <a:gd name="adj" fmla="val 42500"/>
            </a:avLst>
          </a:prstGeom>
          <a:solidFill>
            <a:schemeClr val="bg2"/>
          </a:solidFill>
          <a:ln/>
        </p:spPr>
        <p:txBody>
          <a:bodyPr wrap="square" lIns="0" tIns="0" rIns="0" bIns="0" rtlCol="0" anchor="ctr"/>
          <a:lstStyle/>
          <a:p>
            <a:pPr marL="0" indent="0" algn="ctr">
              <a:buNone/>
            </a:pPr>
            <a:r>
              <a:rPr lang="en-US" sz="1200" dirty="0">
                <a:solidFill>
                  <a:schemeClr val="tx2"/>
                </a:solidFill>
              </a:rPr>
              <a:t>Unique records</a:t>
            </a:r>
            <a:endParaRPr lang="en-US" sz="1200" dirty="0"/>
          </a:p>
        </p:txBody>
      </p:sp>
      <p:sp>
        <p:nvSpPr>
          <p:cNvPr id="32" name="g-chip-4"/>
          <p:cNvSpPr/>
          <p:nvPr/>
        </p:nvSpPr>
        <p:spPr>
          <a:xfrm>
            <a:off x="7973568" y="5468112"/>
            <a:ext cx="1719072" cy="365760"/>
          </a:xfrm>
          <a:prstGeom prst="roundRect">
            <a:avLst>
              <a:gd name="adj" fmla="val 42500"/>
            </a:avLst>
          </a:prstGeom>
          <a:solidFill>
            <a:schemeClr val="bg2"/>
          </a:solidFill>
          <a:ln/>
        </p:spPr>
        <p:txBody>
          <a:bodyPr wrap="square" lIns="0" tIns="0" rIns="0" bIns="0" rtlCol="0" anchor="ctr"/>
          <a:lstStyle/>
          <a:p>
            <a:pPr marL="0" indent="0" algn="ctr">
              <a:buNone/>
            </a:pPr>
            <a:r>
              <a:rPr lang="en-US" sz="1200" dirty="0">
                <a:solidFill>
                  <a:schemeClr val="tx2"/>
                </a:solidFill>
              </a:rPr>
              <a:t>Group separation</a:t>
            </a:r>
            <a:endParaRPr lang="en-US" sz="1200" dirty="0"/>
          </a:p>
        </p:txBody>
      </p:sp>
      <p:sp>
        <p:nvSpPr>
          <p:cNvPr id="33" name="g-chip-5"/>
          <p:cNvSpPr/>
          <p:nvPr/>
        </p:nvSpPr>
        <p:spPr>
          <a:xfrm>
            <a:off x="9829800" y="5468112"/>
            <a:ext cx="1719072" cy="365760"/>
          </a:xfrm>
          <a:prstGeom prst="roundRect">
            <a:avLst>
              <a:gd name="adj" fmla="val 42500"/>
            </a:avLst>
          </a:prstGeom>
          <a:solidFill>
            <a:schemeClr val="accent5"/>
          </a:solidFill>
          <a:ln/>
        </p:spPr>
        <p:txBody>
          <a:bodyPr wrap="square" lIns="0" tIns="0" rIns="0" bIns="0" rtlCol="0" anchor="ctr"/>
          <a:lstStyle/>
          <a:p>
            <a:pPr marL="0" indent="0" algn="ctr">
              <a:buNone/>
            </a:pPr>
            <a:r>
              <a:rPr lang="en-US" sz="1200" dirty="0">
                <a:solidFill>
                  <a:schemeClr val="tx2"/>
                </a:solidFill>
              </a:rPr>
              <a:t>Schema packaged</a:t>
            </a:r>
            <a:endParaRPr lang="en-US" sz="1200" dirty="0"/>
          </a:p>
        </p:txBody>
      </p:sp>
      <p:sp>
        <p:nvSpPr>
          <p:cNvPr id="13"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tepper-line"/>
          <p:cNvSpPr/>
          <p:nvPr/>
        </p:nvSpPr>
        <p:spPr>
          <a:xfrm>
            <a:off x="731520" y="466344"/>
            <a:ext cx="10732313" cy="0"/>
          </a:xfrm>
          <a:prstGeom prst="line">
            <a:avLst/>
          </a:prstGeom>
          <a:noFill/>
          <a:ln w="19050">
            <a:solidFill>
              <a:srgbClr val="BFE3E0"/>
            </a:solidFill>
            <a:prstDash val="solid"/>
          </a:ln>
        </p:spPr>
      </p:sp>
      <p:sp>
        <p:nvSpPr>
          <p:cNvPr id="3" name="step-1"/>
          <p:cNvSpPr/>
          <p:nvPr/>
        </p:nvSpPr>
        <p:spPr>
          <a:xfrm>
            <a:off x="548640" y="292608"/>
            <a:ext cx="1298448" cy="347472"/>
          </a:xfrm>
          <a:prstGeom prst="roundRect">
            <a:avLst>
              <a:gd name="adj" fmla="val 50000"/>
            </a:avLst>
          </a:prstGeom>
          <a:solidFill>
            <a:schemeClr val="accent5"/>
          </a:solidFill>
          <a:ln w="9525">
            <a:solidFill>
              <a:srgbClr val="EEF3F7"/>
            </a:solidFill>
          </a:ln>
        </p:spPr>
        <p:txBody>
          <a:bodyPr wrap="square" lIns="0" tIns="0" rIns="0" bIns="0" rtlCol="0" anchor="ctr"/>
          <a:lstStyle/>
          <a:p>
            <a:pPr marL="0" indent="0" algn="ctr">
              <a:buNone/>
            </a:pPr>
            <a:r>
              <a:rPr lang="en-US" sz="1000" dirty="0">
                <a:solidFill>
                  <a:schemeClr val="tx2"/>
                </a:solidFill>
              </a:rPr>
              <a:t>1  Data collection</a:t>
            </a:r>
            <a:endParaRPr lang="en-US" sz="1000" dirty="0"/>
          </a:p>
        </p:txBody>
      </p:sp>
      <p:sp>
        <p:nvSpPr>
          <p:cNvPr id="4" name="step-2"/>
          <p:cNvSpPr/>
          <p:nvPr/>
        </p:nvSpPr>
        <p:spPr>
          <a:xfrm>
            <a:off x="1948586" y="292608"/>
            <a:ext cx="1298448" cy="347472"/>
          </a:xfrm>
          <a:prstGeom prst="roundRect">
            <a:avLst>
              <a:gd name="adj" fmla="val 50000"/>
            </a:avLst>
          </a:prstGeom>
          <a:solidFill>
            <a:schemeClr val="accent5"/>
          </a:solidFill>
          <a:ln w="9525">
            <a:solidFill>
              <a:srgbClr val="EEF3F7"/>
            </a:solidFill>
          </a:ln>
        </p:spPr>
        <p:txBody>
          <a:bodyPr wrap="square" lIns="0" tIns="0" rIns="0" bIns="0" rtlCol="0" anchor="ctr"/>
          <a:lstStyle/>
          <a:p>
            <a:pPr marL="0" indent="0" algn="ctr">
              <a:buNone/>
            </a:pPr>
            <a:r>
              <a:rPr lang="en-US" sz="1000" dirty="0">
                <a:solidFill>
                  <a:schemeClr val="tx2"/>
                </a:solidFill>
              </a:rPr>
              <a:t>2  Feature engineering</a:t>
            </a:r>
            <a:endParaRPr lang="en-US" sz="1000" dirty="0"/>
          </a:p>
        </p:txBody>
      </p:sp>
      <p:sp>
        <p:nvSpPr>
          <p:cNvPr id="5" name="step-3"/>
          <p:cNvSpPr/>
          <p:nvPr/>
        </p:nvSpPr>
        <p:spPr>
          <a:xfrm>
            <a:off x="3348533" y="292608"/>
            <a:ext cx="1298448" cy="347472"/>
          </a:xfrm>
          <a:prstGeom prst="roundRect">
            <a:avLst>
              <a:gd name="adj" fmla="val 50000"/>
            </a:avLst>
          </a:prstGeom>
          <a:solidFill>
            <a:schemeClr val="accent5"/>
          </a:solidFill>
          <a:ln w="9525">
            <a:solidFill>
              <a:srgbClr val="EEF3F7"/>
            </a:solidFill>
          </a:ln>
        </p:spPr>
        <p:txBody>
          <a:bodyPr wrap="square" lIns="0" tIns="0" rIns="0" bIns="0" rtlCol="0" anchor="ctr"/>
          <a:lstStyle/>
          <a:p>
            <a:pPr marL="0" indent="0" algn="ctr">
              <a:buNone/>
            </a:pPr>
            <a:r>
              <a:rPr lang="en-US" sz="1000" dirty="0">
                <a:solidFill>
                  <a:schemeClr val="tx2"/>
                </a:solidFill>
              </a:rPr>
              <a:t>3  Feature Store</a:t>
            </a:r>
            <a:endParaRPr lang="en-US" sz="1000" dirty="0"/>
          </a:p>
        </p:txBody>
      </p:sp>
      <p:sp>
        <p:nvSpPr>
          <p:cNvPr id="6" name="step-4"/>
          <p:cNvSpPr/>
          <p:nvPr/>
        </p:nvSpPr>
        <p:spPr>
          <a:xfrm>
            <a:off x="4748479" y="292608"/>
            <a:ext cx="1298448" cy="347472"/>
          </a:xfrm>
          <a:prstGeom prst="roundRect">
            <a:avLst>
              <a:gd name="adj" fmla="val 50000"/>
            </a:avLst>
          </a:prstGeom>
          <a:solidFill>
            <a:schemeClr val="accent5"/>
          </a:solidFill>
          <a:ln w="9525">
            <a:solidFill>
              <a:srgbClr val="EEF3F7"/>
            </a:solidFill>
          </a:ln>
        </p:spPr>
        <p:txBody>
          <a:bodyPr wrap="square" lIns="0" tIns="0" rIns="0" bIns="0" rtlCol="0" anchor="ctr"/>
          <a:lstStyle/>
          <a:p>
            <a:pPr marL="0" indent="0" algn="ctr">
              <a:buNone/>
            </a:pPr>
            <a:r>
              <a:rPr lang="en-US" sz="1000" dirty="0">
                <a:solidFill>
                  <a:schemeClr val="tx2"/>
                </a:solidFill>
              </a:rPr>
              <a:t>4  Model development</a:t>
            </a:r>
            <a:endParaRPr lang="en-US" sz="1000" dirty="0"/>
          </a:p>
        </p:txBody>
      </p:sp>
      <p:sp>
        <p:nvSpPr>
          <p:cNvPr id="7" name="step-5"/>
          <p:cNvSpPr/>
          <p:nvPr/>
        </p:nvSpPr>
        <p:spPr>
          <a:xfrm>
            <a:off x="6148426" y="292608"/>
            <a:ext cx="1298448" cy="347472"/>
          </a:xfrm>
          <a:prstGeom prst="roundRect">
            <a:avLst>
              <a:gd name="adj" fmla="val 50000"/>
            </a:avLst>
          </a:prstGeom>
          <a:solidFill>
            <a:schemeClr val="accent1"/>
          </a:solidFill>
          <a:ln w="9525">
            <a:solidFill>
              <a:srgbClr val="0F7C7A"/>
            </a:solidFill>
          </a:ln>
        </p:spPr>
        <p:txBody>
          <a:bodyPr wrap="square" lIns="0" tIns="0" rIns="0" bIns="0" rtlCol="0" anchor="ctr"/>
          <a:lstStyle/>
          <a:p>
            <a:pPr marL="0" indent="0" algn="ctr">
              <a:buNone/>
            </a:pPr>
            <a:r>
              <a:rPr lang="en-US" sz="1000" b="1" dirty="0">
                <a:solidFill>
                  <a:schemeClr val="bg1"/>
                </a:solidFill>
              </a:rPr>
              <a:t>5  Evaluation</a:t>
            </a:r>
            <a:endParaRPr lang="en-US" sz="1000" dirty="0"/>
          </a:p>
        </p:txBody>
      </p:sp>
      <p:sp>
        <p:nvSpPr>
          <p:cNvPr id="8" name="step-6"/>
          <p:cNvSpPr/>
          <p:nvPr/>
        </p:nvSpPr>
        <p:spPr>
          <a:xfrm>
            <a:off x="7548372" y="292608"/>
            <a:ext cx="1298448" cy="347472"/>
          </a:xfrm>
          <a:prstGeom prst="roundRect">
            <a:avLst>
              <a:gd name="adj" fmla="val 50000"/>
            </a:avLst>
          </a:prstGeom>
          <a:solidFill>
            <a:schemeClr val="bg2"/>
          </a:solidFill>
          <a:ln w="9525">
            <a:solidFill>
              <a:srgbClr val="EEF3F7"/>
            </a:solidFill>
          </a:ln>
        </p:spPr>
        <p:txBody>
          <a:bodyPr wrap="square" lIns="0" tIns="0" rIns="0" bIns="0" rtlCol="0" anchor="ctr"/>
          <a:lstStyle/>
          <a:p>
            <a:pPr marL="0" indent="0" algn="ctr">
              <a:buNone/>
            </a:pPr>
            <a:r>
              <a:rPr lang="en-US" sz="1000" dirty="0">
                <a:solidFill>
                  <a:schemeClr val="tx2"/>
                </a:solidFill>
              </a:rPr>
              <a:t>6  Monitoring &amp; CI/CD</a:t>
            </a:r>
            <a:endParaRPr lang="en-US" sz="1000" dirty="0"/>
          </a:p>
        </p:txBody>
      </p:sp>
      <p:sp>
        <p:nvSpPr>
          <p:cNvPr id="9" name="step-7"/>
          <p:cNvSpPr/>
          <p:nvPr/>
        </p:nvSpPr>
        <p:spPr>
          <a:xfrm>
            <a:off x="8948318" y="292608"/>
            <a:ext cx="1298448" cy="347472"/>
          </a:xfrm>
          <a:prstGeom prst="roundRect">
            <a:avLst>
              <a:gd name="adj" fmla="val 50000"/>
            </a:avLst>
          </a:prstGeom>
          <a:solidFill>
            <a:schemeClr val="bg2"/>
          </a:solidFill>
          <a:ln w="9525">
            <a:solidFill>
              <a:srgbClr val="EEF3F7"/>
            </a:solidFill>
          </a:ln>
        </p:spPr>
        <p:txBody>
          <a:bodyPr wrap="square" lIns="0" tIns="0" rIns="0" bIns="0" rtlCol="0" anchor="ctr"/>
          <a:lstStyle/>
          <a:p>
            <a:pPr marL="0" indent="0" algn="ctr">
              <a:buNone/>
            </a:pPr>
            <a:r>
              <a:rPr lang="en-US" sz="1000" dirty="0">
                <a:solidFill>
                  <a:schemeClr val="tx2"/>
                </a:solidFill>
              </a:rPr>
              <a:t>7  Deployment</a:t>
            </a:r>
            <a:endParaRPr lang="en-US" sz="1000" dirty="0"/>
          </a:p>
        </p:txBody>
      </p:sp>
      <p:sp>
        <p:nvSpPr>
          <p:cNvPr id="10" name="step-8"/>
          <p:cNvSpPr/>
          <p:nvPr/>
        </p:nvSpPr>
        <p:spPr>
          <a:xfrm>
            <a:off x="10348265" y="292608"/>
            <a:ext cx="1298448" cy="347472"/>
          </a:xfrm>
          <a:prstGeom prst="roundRect">
            <a:avLst>
              <a:gd name="adj" fmla="val 50000"/>
            </a:avLst>
          </a:prstGeom>
          <a:solidFill>
            <a:schemeClr val="bg2"/>
          </a:solidFill>
          <a:ln w="9525">
            <a:solidFill>
              <a:srgbClr val="EEF3F7"/>
            </a:solidFill>
          </a:ln>
        </p:spPr>
        <p:txBody>
          <a:bodyPr wrap="square" lIns="0" tIns="0" rIns="0" bIns="0" rtlCol="0" anchor="ctr"/>
          <a:lstStyle/>
          <a:p>
            <a:pPr marL="0" indent="0" algn="ctr">
              <a:buNone/>
            </a:pPr>
            <a:r>
              <a:rPr lang="en-US" sz="1000" dirty="0">
                <a:solidFill>
                  <a:schemeClr val="tx2"/>
                </a:solidFill>
              </a:rPr>
              <a:t>8  RAG inference</a:t>
            </a:r>
            <a:endParaRPr lang="en-US" sz="1000" dirty="0"/>
          </a:p>
        </p:txBody>
      </p:sp>
      <p:sp>
        <p:nvSpPr>
          <p:cNvPr id="11" name="Text 1"/>
          <p:cNvSpPr>
            <a:spLocks noGrp="1"/>
          </p:cNvSpPr>
          <p:nvPr>
            <p:ph type="body" idx="101" hasCustomPrompt="1"/>
          </p:nvPr>
        </p:nvSpPr>
        <p:spPr>
          <a:xfrm>
            <a:off x="548640" y="868680"/>
            <a:ext cx="10972800" cy="292608"/>
          </a:xfrm>
          <a:prstGeom prst="rect">
            <a:avLst/>
          </a:prstGeom>
          <a:noFill/>
          <a:ln/>
        </p:spPr>
        <p:txBody>
          <a:bodyPr wrap="square" lIns="0" tIns="0" rIns="0" bIns="0" rtlCol="0" anchor="ctr"/>
          <a:lstStyle/>
          <a:p>
            <a:pPr marL="0" indent="0">
              <a:buNone/>
            </a:pPr>
            <a:r>
              <a:rPr lang="en-US" sz="1200" b="1" dirty="0">
                <a:solidFill>
                  <a:schemeClr val="accent1"/>
                </a:solidFill>
              </a:rPr>
              <a:t>PHASE 5  ·  Frozen artifacts scored on the untouched product-grouped test split (2,465 rows)</a:t>
            </a:r>
            <a:endParaRPr lang="en-US" sz="1200" dirty="0"/>
          </a:p>
        </p:txBody>
      </p:sp>
      <p:sp>
        <p:nvSpPr>
          <p:cNvPr id="12" name="Text 1"/>
          <p:cNvSpPr>
            <a:spLocks noGrp="1"/>
          </p:cNvSpPr>
          <p:nvPr>
            <p:ph type="title" idx="102" hasCustomPrompt="1"/>
          </p:nvPr>
        </p:nvSpPr>
        <p:spPr>
          <a:xfrm>
            <a:off x="548640" y="1161288"/>
            <a:ext cx="11064240" cy="685800"/>
          </a:xfrm>
          <a:prstGeom prst="rect">
            <a:avLst/>
          </a:prstGeom>
          <a:noFill/>
          <a:ln/>
        </p:spPr>
        <p:txBody>
          <a:bodyPr wrap="square" lIns="0" tIns="0" rIns="0" bIns="0" rtlCol="0" anchor="ctr"/>
          <a:lstStyle/>
          <a:p>
            <a:pPr marL="0" indent="0" algn="l">
              <a:buNone/>
            </a:pPr>
            <a:r>
              <a:rPr lang="en-US" sz="3000" b="1" dirty="0">
                <a:solidFill>
                  <a:schemeClr val="tx2"/>
                </a:solidFill>
                <a:latin typeface="Cambria" pitchFamily="34" charset="0"/>
                <a:ea typeface="Cambria" pitchFamily="34" charset="-122"/>
                <a:cs typeface="Cambria" pitchFamily="34" charset="-120"/>
              </a:rPr>
              <a:t>Evaluation: the ranker beats the benchmark on every metric</a:t>
            </a:r>
            <a:endParaRPr lang="en-US" sz="3000" dirty="0"/>
          </a:p>
        </p:txBody>
      </p:sp>
      <p:graphicFrame>
        <p:nvGraphicFramePr>
          <p:cNvPr id="14" name="eval-chart"/>
          <p:cNvGraphicFramePr/>
          <p:nvPr/>
        </p:nvGraphicFramePr>
        <p:xfrm>
          <a:off x="457200" y="2057400"/>
          <a:ext cx="6949440" cy="4023360"/>
        </p:xfrm>
        <a:graphic>
          <a:graphicData uri="http://schemas.openxmlformats.org/drawingml/2006/chart">
            <c:chart xmlns:c="http://schemas.openxmlformats.org/drawingml/2006/chart" xmlns:r="http://schemas.openxmlformats.org/officeDocument/2006/relationships" r:id="rId3"/>
          </a:graphicData>
        </a:graphic>
      </p:graphicFrame>
      <p:sp>
        <p:nvSpPr>
          <p:cNvPr id="15" name="ev-0-v"/>
          <p:cNvSpPr txBox="1"/>
          <p:nvPr/>
        </p:nvSpPr>
        <p:spPr>
          <a:xfrm>
            <a:off x="7863840" y="2057400"/>
            <a:ext cx="3749040" cy="640080"/>
          </a:xfrm>
          <a:prstGeom prst="rect">
            <a:avLst/>
          </a:prstGeom>
          <a:noFill/>
          <a:ln/>
        </p:spPr>
        <p:txBody>
          <a:bodyPr wrap="square" lIns="0" tIns="0" rIns="0" bIns="0" rtlCol="0" anchor="b"/>
          <a:lstStyle/>
          <a:p>
            <a:pPr marL="0" indent="0">
              <a:buNone/>
            </a:pPr>
            <a:r>
              <a:rPr lang="en-US" sz="3600" b="1" dirty="0">
                <a:solidFill>
                  <a:srgbClr val="0F7C7A"/>
                </a:solidFill>
                <a:latin typeface="Cambria" pitchFamily="34" charset="0"/>
                <a:ea typeface="Cambria" pitchFamily="34" charset="-122"/>
                <a:cs typeface="Cambria" pitchFamily="34" charset="-120"/>
              </a:rPr>
              <a:t>+0.068</a:t>
            </a:r>
            <a:endParaRPr lang="en-US" sz="3600" dirty="0"/>
          </a:p>
        </p:txBody>
      </p:sp>
      <p:sp>
        <p:nvSpPr>
          <p:cNvPr id="16" name="ev-0-l"/>
          <p:cNvSpPr txBox="1"/>
          <p:nvPr/>
        </p:nvSpPr>
        <p:spPr>
          <a:xfrm>
            <a:off x="7863840" y="2715768"/>
            <a:ext cx="3749040" cy="457200"/>
          </a:xfrm>
          <a:prstGeom prst="rect">
            <a:avLst/>
          </a:prstGeom>
          <a:noFill/>
          <a:ln/>
        </p:spPr>
        <p:txBody>
          <a:bodyPr wrap="square" lIns="0" tIns="0" rIns="0" bIns="0" rtlCol="0" anchor="t"/>
          <a:lstStyle/>
          <a:p>
            <a:pPr marL="0" indent="0">
              <a:buNone/>
            </a:pPr>
            <a:r>
              <a:rPr lang="en-US" sz="1200" dirty="0">
                <a:solidFill>
                  <a:schemeClr val="accent4"/>
                </a:solidFill>
              </a:rPr>
              <a:t>macro-F1 on test</a:t>
            </a:r>
            <a:endParaRPr lang="en-US" sz="1200" dirty="0"/>
          </a:p>
          <a:p>
            <a:pPr marL="0" indent="0">
              <a:buNone/>
            </a:pPr>
            <a:r>
              <a:rPr lang="en-US" sz="1200" dirty="0">
                <a:solidFill>
                  <a:schemeClr val="accent4"/>
                </a:solidFill>
              </a:rPr>
              <a:t>0.469 → 0.537</a:t>
            </a:r>
            <a:endParaRPr lang="en-US" sz="1200" dirty="0"/>
          </a:p>
        </p:txBody>
      </p:sp>
      <p:sp>
        <p:nvSpPr>
          <p:cNvPr id="17" name="ev-1-v"/>
          <p:cNvSpPr txBox="1"/>
          <p:nvPr/>
        </p:nvSpPr>
        <p:spPr>
          <a:xfrm>
            <a:off x="7863840" y="3154680"/>
            <a:ext cx="3749040" cy="640080"/>
          </a:xfrm>
          <a:prstGeom prst="rect">
            <a:avLst/>
          </a:prstGeom>
          <a:noFill/>
          <a:ln/>
        </p:spPr>
        <p:txBody>
          <a:bodyPr wrap="square" lIns="0" tIns="0" rIns="0" bIns="0" rtlCol="0" anchor="b"/>
          <a:lstStyle/>
          <a:p>
            <a:pPr marL="0" indent="0">
              <a:buNone/>
            </a:pPr>
            <a:r>
              <a:rPr lang="en-US" sz="3600" b="1" dirty="0">
                <a:solidFill>
                  <a:srgbClr val="0F7C7A"/>
                </a:solidFill>
                <a:latin typeface="Cambria" pitchFamily="34" charset="0"/>
                <a:ea typeface="Cambria" pitchFamily="34" charset="-122"/>
                <a:cs typeface="Cambria" pitchFamily="34" charset="-120"/>
              </a:rPr>
              <a:t>+0.024</a:t>
            </a:r>
            <a:endParaRPr lang="en-US" sz="3600" dirty="0"/>
          </a:p>
        </p:txBody>
      </p:sp>
      <p:sp>
        <p:nvSpPr>
          <p:cNvPr id="18" name="ev-1-l"/>
          <p:cNvSpPr txBox="1"/>
          <p:nvPr/>
        </p:nvSpPr>
        <p:spPr>
          <a:xfrm>
            <a:off x="7863840" y="3813048"/>
            <a:ext cx="3749040" cy="457200"/>
          </a:xfrm>
          <a:prstGeom prst="rect">
            <a:avLst/>
          </a:prstGeom>
          <a:noFill/>
          <a:ln/>
        </p:spPr>
        <p:txBody>
          <a:bodyPr wrap="square" lIns="0" tIns="0" rIns="0" bIns="0" rtlCol="0" anchor="t"/>
          <a:lstStyle/>
          <a:p>
            <a:pPr marL="0" indent="0">
              <a:buNone/>
            </a:pPr>
            <a:r>
              <a:rPr lang="en-US" sz="1200" dirty="0">
                <a:solidFill>
                  <a:schemeClr val="accent4"/>
                </a:solidFill>
              </a:rPr>
              <a:t>mean question NDCG</a:t>
            </a:r>
            <a:endParaRPr lang="en-US" sz="1200" dirty="0"/>
          </a:p>
          <a:p>
            <a:pPr marL="0" indent="0">
              <a:buNone/>
            </a:pPr>
            <a:r>
              <a:rPr lang="en-US" sz="1200" dirty="0">
                <a:solidFill>
                  <a:schemeClr val="accent4"/>
                </a:solidFill>
              </a:rPr>
              <a:t>0.789 → 0.813</a:t>
            </a:r>
            <a:endParaRPr lang="en-US" sz="1200" dirty="0"/>
          </a:p>
        </p:txBody>
      </p:sp>
      <p:sp>
        <p:nvSpPr>
          <p:cNvPr id="19" name="ev-2-v"/>
          <p:cNvSpPr txBox="1"/>
          <p:nvPr/>
        </p:nvSpPr>
        <p:spPr>
          <a:xfrm>
            <a:off x="7863840" y="4251960"/>
            <a:ext cx="3749040" cy="640080"/>
          </a:xfrm>
          <a:prstGeom prst="rect">
            <a:avLst/>
          </a:prstGeom>
          <a:noFill/>
          <a:ln/>
        </p:spPr>
        <p:txBody>
          <a:bodyPr wrap="square" lIns="0" tIns="0" rIns="0" bIns="0" rtlCol="0" anchor="b"/>
          <a:lstStyle/>
          <a:p>
            <a:pPr marL="0" indent="0">
              <a:buNone/>
            </a:pPr>
            <a:r>
              <a:rPr lang="en-US" sz="3600" b="1" dirty="0">
                <a:solidFill>
                  <a:srgbClr val="E8A33D"/>
                </a:solidFill>
                <a:latin typeface="Cambria" pitchFamily="34" charset="0"/>
                <a:ea typeface="Cambria" pitchFamily="34" charset="-122"/>
                <a:cs typeface="Cambria" pitchFamily="34" charset="-120"/>
              </a:rPr>
              <a:t>0.765</a:t>
            </a:r>
            <a:endParaRPr lang="en-US" sz="3600" dirty="0"/>
          </a:p>
        </p:txBody>
      </p:sp>
      <p:sp>
        <p:nvSpPr>
          <p:cNvPr id="20" name="ev-2-l"/>
          <p:cNvSpPr txBox="1"/>
          <p:nvPr/>
        </p:nvSpPr>
        <p:spPr>
          <a:xfrm>
            <a:off x="7863840" y="4910328"/>
            <a:ext cx="3749040" cy="457200"/>
          </a:xfrm>
          <a:prstGeom prst="rect">
            <a:avLst/>
          </a:prstGeom>
          <a:noFill/>
          <a:ln/>
        </p:spPr>
        <p:txBody>
          <a:bodyPr wrap="square" lIns="0" tIns="0" rIns="0" bIns="0" rtlCol="0" anchor="t"/>
          <a:lstStyle/>
          <a:p>
            <a:pPr marL="0" indent="0">
              <a:buNone/>
            </a:pPr>
            <a:r>
              <a:rPr lang="en-US" sz="1200" dirty="0">
                <a:solidFill>
                  <a:schemeClr val="accent4"/>
                </a:solidFill>
              </a:rPr>
              <a:t>log loss (from 0.876)</a:t>
            </a:r>
            <a:endParaRPr lang="en-US" sz="1200" dirty="0"/>
          </a:p>
          <a:p>
            <a:pPr marL="0" indent="0">
              <a:buNone/>
            </a:pPr>
            <a:r>
              <a:rPr lang="en-US" sz="1200" dirty="0">
                <a:solidFill>
                  <a:schemeClr val="accent4"/>
                </a:solidFill>
              </a:rPr>
              <a:t>better calibrated</a:t>
            </a:r>
            <a:endParaRPr lang="en-US" sz="1200" dirty="0"/>
          </a:p>
        </p:txBody>
      </p:sp>
      <p:sp>
        <p:nvSpPr>
          <p:cNvPr id="21" name="gate-card"/>
          <p:cNvSpPr/>
          <p:nvPr/>
        </p:nvSpPr>
        <p:spPr>
          <a:xfrm>
            <a:off x="7863840" y="5486400"/>
            <a:ext cx="3776472" cy="685800"/>
          </a:xfrm>
          <a:prstGeom prst="roundRect">
            <a:avLst>
              <a:gd name="adj" fmla="val 16000"/>
            </a:avLst>
          </a:prstGeom>
          <a:solidFill>
            <a:srgbClr val="BFE3E0"/>
          </a:solidFill>
          <a:ln w="9525">
            <a:solidFill>
              <a:srgbClr val="EEF3F7"/>
            </a:solidFill>
            <a:prstDash val="solid"/>
          </a:ln>
        </p:spPr>
      </p:sp>
      <p:sp>
        <p:nvSpPr>
          <p:cNvPr id="22" name="gate-t"/>
          <p:cNvSpPr txBox="1"/>
          <p:nvPr/>
        </p:nvSpPr>
        <p:spPr>
          <a:xfrm>
            <a:off x="8001000" y="5513832"/>
            <a:ext cx="3566160" cy="640080"/>
          </a:xfrm>
          <a:prstGeom prst="rect">
            <a:avLst/>
          </a:prstGeom>
          <a:noFill/>
          <a:ln/>
        </p:spPr>
        <p:txBody>
          <a:bodyPr wrap="square" lIns="0" tIns="0" rIns="0" bIns="0" rtlCol="0" anchor="ctr"/>
          <a:lstStyle/>
          <a:p>
            <a:pPr marL="0" indent="0">
              <a:buNone/>
            </a:pPr>
            <a:r>
              <a:rPr lang="en-US" sz="1200" b="1" dirty="0">
                <a:solidFill>
                  <a:schemeClr val="tx2"/>
                </a:solidFill>
              </a:rPr>
              <a:t>Validation gate passed </a:t>
            </a:r>
            <a:r>
              <a:rPr lang="en-US" sz="1200" dirty="0">
                <a:solidFill>
                  <a:schemeClr val="tx2"/>
                </a:solidFill>
              </a:rPr>
              <a:t>(ΔF1 +0.041, ΔNDCG +0.036); test kept untouched</a:t>
            </a:r>
            <a:endParaRPr lang="en-US" sz="12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r"/>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tepper-line"/>
          <p:cNvSpPr/>
          <p:nvPr/>
        </p:nvSpPr>
        <p:spPr>
          <a:xfrm>
            <a:off x="731520" y="466344"/>
            <a:ext cx="10732313" cy="0"/>
          </a:xfrm>
          <a:prstGeom prst="line">
            <a:avLst/>
          </a:prstGeom>
          <a:noFill/>
          <a:ln w="19050">
            <a:solidFill>
              <a:srgbClr val="BFE3E0"/>
            </a:solidFill>
            <a:prstDash val="solid"/>
          </a:ln>
        </p:spPr>
      </p:sp>
      <p:sp>
        <p:nvSpPr>
          <p:cNvPr id="3" name="step-1"/>
          <p:cNvSpPr/>
          <p:nvPr/>
        </p:nvSpPr>
        <p:spPr>
          <a:xfrm>
            <a:off x="548640" y="292608"/>
            <a:ext cx="1298448" cy="347472"/>
          </a:xfrm>
          <a:prstGeom prst="roundRect">
            <a:avLst>
              <a:gd name="adj" fmla="val 50000"/>
            </a:avLst>
          </a:prstGeom>
          <a:solidFill>
            <a:schemeClr val="accent5"/>
          </a:solidFill>
          <a:ln w="9525">
            <a:solidFill>
              <a:srgbClr val="EEF3F7"/>
            </a:solidFill>
          </a:ln>
        </p:spPr>
        <p:txBody>
          <a:bodyPr wrap="square" lIns="0" tIns="0" rIns="0" bIns="0" rtlCol="0" anchor="ctr"/>
          <a:lstStyle/>
          <a:p>
            <a:pPr marL="0" indent="0" algn="ctr">
              <a:buNone/>
            </a:pPr>
            <a:r>
              <a:rPr lang="en-US" sz="1000" dirty="0">
                <a:solidFill>
                  <a:schemeClr val="tx2"/>
                </a:solidFill>
              </a:rPr>
              <a:t>1  Data collection</a:t>
            </a:r>
            <a:endParaRPr lang="en-US" sz="1000" dirty="0"/>
          </a:p>
        </p:txBody>
      </p:sp>
      <p:sp>
        <p:nvSpPr>
          <p:cNvPr id="4" name="step-2"/>
          <p:cNvSpPr/>
          <p:nvPr/>
        </p:nvSpPr>
        <p:spPr>
          <a:xfrm>
            <a:off x="1948586" y="292608"/>
            <a:ext cx="1298448" cy="347472"/>
          </a:xfrm>
          <a:prstGeom prst="roundRect">
            <a:avLst>
              <a:gd name="adj" fmla="val 50000"/>
            </a:avLst>
          </a:prstGeom>
          <a:solidFill>
            <a:schemeClr val="accent5"/>
          </a:solidFill>
          <a:ln w="9525">
            <a:solidFill>
              <a:srgbClr val="EEF3F7"/>
            </a:solidFill>
          </a:ln>
        </p:spPr>
        <p:txBody>
          <a:bodyPr wrap="square" lIns="0" tIns="0" rIns="0" bIns="0" rtlCol="0" anchor="ctr"/>
          <a:lstStyle/>
          <a:p>
            <a:pPr marL="0" indent="0" algn="ctr">
              <a:buNone/>
            </a:pPr>
            <a:r>
              <a:rPr lang="en-US" sz="1000" dirty="0">
                <a:solidFill>
                  <a:schemeClr val="tx2"/>
                </a:solidFill>
              </a:rPr>
              <a:t>2  Feature engineering</a:t>
            </a:r>
            <a:endParaRPr lang="en-US" sz="1000" dirty="0"/>
          </a:p>
        </p:txBody>
      </p:sp>
      <p:sp>
        <p:nvSpPr>
          <p:cNvPr id="5" name="step-3"/>
          <p:cNvSpPr/>
          <p:nvPr/>
        </p:nvSpPr>
        <p:spPr>
          <a:xfrm>
            <a:off x="3348533" y="292608"/>
            <a:ext cx="1298448" cy="347472"/>
          </a:xfrm>
          <a:prstGeom prst="roundRect">
            <a:avLst>
              <a:gd name="adj" fmla="val 50000"/>
            </a:avLst>
          </a:prstGeom>
          <a:solidFill>
            <a:schemeClr val="accent5"/>
          </a:solidFill>
          <a:ln w="9525">
            <a:solidFill>
              <a:srgbClr val="EEF3F7"/>
            </a:solidFill>
          </a:ln>
        </p:spPr>
        <p:txBody>
          <a:bodyPr wrap="square" lIns="0" tIns="0" rIns="0" bIns="0" rtlCol="0" anchor="ctr"/>
          <a:lstStyle/>
          <a:p>
            <a:pPr marL="0" indent="0" algn="ctr">
              <a:buNone/>
            </a:pPr>
            <a:r>
              <a:rPr lang="en-US" sz="1000" dirty="0">
                <a:solidFill>
                  <a:schemeClr val="tx2"/>
                </a:solidFill>
              </a:rPr>
              <a:t>3  Feature Store</a:t>
            </a:r>
            <a:endParaRPr lang="en-US" sz="1000" dirty="0"/>
          </a:p>
        </p:txBody>
      </p:sp>
      <p:sp>
        <p:nvSpPr>
          <p:cNvPr id="6" name="step-4"/>
          <p:cNvSpPr/>
          <p:nvPr/>
        </p:nvSpPr>
        <p:spPr>
          <a:xfrm>
            <a:off x="4748479" y="292608"/>
            <a:ext cx="1298448" cy="347472"/>
          </a:xfrm>
          <a:prstGeom prst="roundRect">
            <a:avLst>
              <a:gd name="adj" fmla="val 50000"/>
            </a:avLst>
          </a:prstGeom>
          <a:solidFill>
            <a:schemeClr val="accent5"/>
          </a:solidFill>
          <a:ln w="9525">
            <a:solidFill>
              <a:srgbClr val="EEF3F7"/>
            </a:solidFill>
          </a:ln>
        </p:spPr>
        <p:txBody>
          <a:bodyPr wrap="square" lIns="0" tIns="0" rIns="0" bIns="0" rtlCol="0" anchor="ctr"/>
          <a:lstStyle/>
          <a:p>
            <a:pPr marL="0" indent="0" algn="ctr">
              <a:buNone/>
            </a:pPr>
            <a:r>
              <a:rPr lang="en-US" sz="1000" dirty="0">
                <a:solidFill>
                  <a:schemeClr val="tx2"/>
                </a:solidFill>
              </a:rPr>
              <a:t>4  Model development</a:t>
            </a:r>
            <a:endParaRPr lang="en-US" sz="1000" dirty="0"/>
          </a:p>
        </p:txBody>
      </p:sp>
      <p:sp>
        <p:nvSpPr>
          <p:cNvPr id="7" name="step-5"/>
          <p:cNvSpPr/>
          <p:nvPr/>
        </p:nvSpPr>
        <p:spPr>
          <a:xfrm>
            <a:off x="6148426" y="292608"/>
            <a:ext cx="1298448" cy="347472"/>
          </a:xfrm>
          <a:prstGeom prst="roundRect">
            <a:avLst>
              <a:gd name="adj" fmla="val 50000"/>
            </a:avLst>
          </a:prstGeom>
          <a:solidFill>
            <a:schemeClr val="accent5"/>
          </a:solidFill>
          <a:ln w="9525">
            <a:solidFill>
              <a:srgbClr val="EEF3F7"/>
            </a:solidFill>
          </a:ln>
        </p:spPr>
        <p:txBody>
          <a:bodyPr wrap="square" lIns="0" tIns="0" rIns="0" bIns="0" rtlCol="0" anchor="ctr"/>
          <a:lstStyle/>
          <a:p>
            <a:pPr marL="0" indent="0" algn="ctr">
              <a:buNone/>
            </a:pPr>
            <a:r>
              <a:rPr lang="en-US" sz="1000" dirty="0">
                <a:solidFill>
                  <a:schemeClr val="tx2"/>
                </a:solidFill>
              </a:rPr>
              <a:t>5  Evaluation</a:t>
            </a:r>
            <a:endParaRPr lang="en-US" sz="1000" dirty="0"/>
          </a:p>
        </p:txBody>
      </p:sp>
      <p:sp>
        <p:nvSpPr>
          <p:cNvPr id="8" name="step-6"/>
          <p:cNvSpPr/>
          <p:nvPr/>
        </p:nvSpPr>
        <p:spPr>
          <a:xfrm>
            <a:off x="7548372" y="292608"/>
            <a:ext cx="1298448" cy="347472"/>
          </a:xfrm>
          <a:prstGeom prst="roundRect">
            <a:avLst>
              <a:gd name="adj" fmla="val 50000"/>
            </a:avLst>
          </a:prstGeom>
          <a:solidFill>
            <a:schemeClr val="accent1"/>
          </a:solidFill>
          <a:ln w="9525">
            <a:solidFill>
              <a:srgbClr val="0F7C7A"/>
            </a:solidFill>
          </a:ln>
        </p:spPr>
        <p:txBody>
          <a:bodyPr wrap="square" lIns="0" tIns="0" rIns="0" bIns="0" rtlCol="0" anchor="ctr"/>
          <a:lstStyle/>
          <a:p>
            <a:pPr marL="0" indent="0" algn="ctr">
              <a:buNone/>
            </a:pPr>
            <a:r>
              <a:rPr lang="en-US" sz="1000" b="1" dirty="0">
                <a:solidFill>
                  <a:schemeClr val="bg1"/>
                </a:solidFill>
              </a:rPr>
              <a:t>6  Monitoring &amp; CI/CD</a:t>
            </a:r>
            <a:endParaRPr lang="en-US" sz="1000" dirty="0"/>
          </a:p>
        </p:txBody>
      </p:sp>
      <p:sp>
        <p:nvSpPr>
          <p:cNvPr id="9" name="step-7"/>
          <p:cNvSpPr/>
          <p:nvPr/>
        </p:nvSpPr>
        <p:spPr>
          <a:xfrm>
            <a:off x="8948318" y="292608"/>
            <a:ext cx="1298448" cy="347472"/>
          </a:xfrm>
          <a:prstGeom prst="roundRect">
            <a:avLst>
              <a:gd name="adj" fmla="val 50000"/>
            </a:avLst>
          </a:prstGeom>
          <a:solidFill>
            <a:schemeClr val="bg2"/>
          </a:solidFill>
          <a:ln w="9525">
            <a:solidFill>
              <a:srgbClr val="EEF3F7"/>
            </a:solidFill>
          </a:ln>
        </p:spPr>
        <p:txBody>
          <a:bodyPr wrap="square" lIns="0" tIns="0" rIns="0" bIns="0" rtlCol="0" anchor="ctr"/>
          <a:lstStyle/>
          <a:p>
            <a:pPr marL="0" indent="0" algn="ctr">
              <a:buNone/>
            </a:pPr>
            <a:r>
              <a:rPr lang="en-US" sz="1000" dirty="0">
                <a:solidFill>
                  <a:schemeClr val="tx2"/>
                </a:solidFill>
              </a:rPr>
              <a:t>7  Deployment</a:t>
            </a:r>
            <a:endParaRPr lang="en-US" sz="1000" dirty="0"/>
          </a:p>
        </p:txBody>
      </p:sp>
      <p:sp>
        <p:nvSpPr>
          <p:cNvPr id="10" name="step-8"/>
          <p:cNvSpPr/>
          <p:nvPr/>
        </p:nvSpPr>
        <p:spPr>
          <a:xfrm>
            <a:off x="10348265" y="292608"/>
            <a:ext cx="1298448" cy="347472"/>
          </a:xfrm>
          <a:prstGeom prst="roundRect">
            <a:avLst>
              <a:gd name="adj" fmla="val 50000"/>
            </a:avLst>
          </a:prstGeom>
          <a:solidFill>
            <a:schemeClr val="bg2"/>
          </a:solidFill>
          <a:ln w="9525">
            <a:solidFill>
              <a:srgbClr val="EEF3F7"/>
            </a:solidFill>
          </a:ln>
        </p:spPr>
        <p:txBody>
          <a:bodyPr wrap="square" lIns="0" tIns="0" rIns="0" bIns="0" rtlCol="0" anchor="ctr"/>
          <a:lstStyle/>
          <a:p>
            <a:pPr marL="0" indent="0" algn="ctr">
              <a:buNone/>
            </a:pPr>
            <a:r>
              <a:rPr lang="en-US" sz="1000" dirty="0">
                <a:solidFill>
                  <a:schemeClr val="tx2"/>
                </a:solidFill>
              </a:rPr>
              <a:t>8  RAG inference</a:t>
            </a:r>
            <a:endParaRPr lang="en-US" sz="1000" dirty="0"/>
          </a:p>
        </p:txBody>
      </p:sp>
      <p:sp>
        <p:nvSpPr>
          <p:cNvPr id="11" name="Text 1"/>
          <p:cNvSpPr>
            <a:spLocks noGrp="1"/>
          </p:cNvSpPr>
          <p:nvPr>
            <p:ph type="body" idx="101" hasCustomPrompt="1"/>
          </p:nvPr>
        </p:nvSpPr>
        <p:spPr>
          <a:xfrm>
            <a:off x="548640" y="868680"/>
            <a:ext cx="10972800" cy="292608"/>
          </a:xfrm>
          <a:prstGeom prst="rect">
            <a:avLst/>
          </a:prstGeom>
          <a:noFill/>
          <a:ln/>
        </p:spPr>
        <p:txBody>
          <a:bodyPr wrap="square" lIns="0" tIns="0" rIns="0" bIns="0" rtlCol="0" anchor="ctr"/>
          <a:lstStyle/>
          <a:p>
            <a:pPr marL="0" indent="0">
              <a:buNone/>
            </a:pPr>
            <a:r>
              <a:rPr lang="en-US" sz="1200" b="1" dirty="0">
                <a:solidFill>
                  <a:schemeClr val="accent1"/>
                </a:solidFill>
              </a:rPr>
              <a:t>PHASE 6  ·  ML_System_Observability.ipynb + Continual_Learning_CICD.ipynb</a:t>
            </a:r>
            <a:endParaRPr lang="en-US" sz="1200" dirty="0"/>
          </a:p>
        </p:txBody>
      </p:sp>
      <p:sp>
        <p:nvSpPr>
          <p:cNvPr id="12" name="Text 1"/>
          <p:cNvSpPr>
            <a:spLocks noGrp="1"/>
          </p:cNvSpPr>
          <p:nvPr>
            <p:ph type="title" idx="102" hasCustomPrompt="1"/>
          </p:nvPr>
        </p:nvSpPr>
        <p:spPr>
          <a:xfrm>
            <a:off x="548640" y="1161288"/>
            <a:ext cx="11064240" cy="685800"/>
          </a:xfrm>
          <a:prstGeom prst="rect">
            <a:avLst/>
          </a:prstGeom>
          <a:noFill/>
          <a:ln/>
        </p:spPr>
        <p:txBody>
          <a:bodyPr wrap="square" lIns="0" tIns="0" rIns="0" bIns="0" rtlCol="0" anchor="ctr"/>
          <a:lstStyle/>
          <a:p>
            <a:pPr marL="0" indent="0" algn="l">
              <a:buNone/>
            </a:pPr>
            <a:r>
              <a:rPr lang="en-US" sz="3000" b="1" dirty="0">
                <a:solidFill>
                  <a:schemeClr val="tx2"/>
                </a:solidFill>
                <a:latin typeface="Cambria" pitchFamily="34" charset="0"/>
                <a:ea typeface="Cambria" pitchFamily="34" charset="-122"/>
                <a:cs typeface="Cambria" pitchFamily="34" charset="-120"/>
              </a:rPr>
              <a:t>Monitoring and CI/CD: drift checks, gated retraining</a:t>
            </a:r>
            <a:endParaRPr lang="en-US" sz="3000" dirty="0"/>
          </a:p>
        </p:txBody>
      </p:sp>
      <p:sp>
        <p:nvSpPr>
          <p:cNvPr id="14" name="mon-h"/>
          <p:cNvSpPr txBox="1"/>
          <p:nvPr/>
        </p:nvSpPr>
        <p:spPr>
          <a:xfrm>
            <a:off x="548640" y="2103120"/>
            <a:ext cx="5486400" cy="320040"/>
          </a:xfrm>
          <a:prstGeom prst="rect">
            <a:avLst/>
          </a:prstGeom>
          <a:noFill/>
          <a:ln/>
        </p:spPr>
        <p:txBody>
          <a:bodyPr wrap="square" lIns="0" tIns="0" rIns="0" bIns="0" rtlCol="0" anchor="ctr"/>
          <a:lstStyle/>
          <a:p>
            <a:pPr marL="0" indent="0">
              <a:buNone/>
            </a:pPr>
            <a:r>
              <a:rPr lang="en-US" sz="1600" b="1" dirty="0">
                <a:solidFill>
                  <a:schemeClr val="tx2"/>
                </a:solidFill>
              </a:rPr>
              <a:t>Drift and quality vs thresholds</a:t>
            </a:r>
            <a:endParaRPr lang="en-US" sz="1600" dirty="0"/>
          </a:p>
        </p:txBody>
      </p:sp>
      <p:sp>
        <p:nvSpPr>
          <p:cNvPr id="15" name="tile-0"/>
          <p:cNvSpPr/>
          <p:nvPr/>
        </p:nvSpPr>
        <p:spPr>
          <a:xfrm>
            <a:off x="548640" y="2560320"/>
            <a:ext cx="2560320" cy="1188720"/>
          </a:xfrm>
          <a:prstGeom prst="roundRect">
            <a:avLst>
              <a:gd name="adj" fmla="val 9231"/>
            </a:avLst>
          </a:prstGeom>
          <a:solidFill>
            <a:srgbClr val="EEF3F7"/>
          </a:solidFill>
          <a:ln w="9525">
            <a:solidFill>
              <a:srgbClr val="EEF3F7"/>
            </a:solidFill>
            <a:prstDash val="solid"/>
          </a:ln>
        </p:spPr>
      </p:sp>
      <p:sp>
        <p:nvSpPr>
          <p:cNvPr id="16" name="tile-v0"/>
          <p:cNvSpPr txBox="1"/>
          <p:nvPr/>
        </p:nvSpPr>
        <p:spPr>
          <a:xfrm>
            <a:off x="731520" y="2651760"/>
            <a:ext cx="2194560" cy="548640"/>
          </a:xfrm>
          <a:prstGeom prst="rect">
            <a:avLst/>
          </a:prstGeom>
          <a:noFill/>
          <a:ln/>
        </p:spPr>
        <p:txBody>
          <a:bodyPr wrap="square" lIns="0" tIns="0" rIns="0" bIns="0" rtlCol="0" anchor="ctr"/>
          <a:lstStyle/>
          <a:p>
            <a:pPr marL="0" indent="0">
              <a:buNone/>
            </a:pPr>
            <a:r>
              <a:rPr lang="en-US" sz="2800" b="1" dirty="0">
                <a:solidFill>
                  <a:schemeClr val="accent1"/>
                </a:solidFill>
                <a:latin typeface="Cambria" pitchFamily="34" charset="0"/>
                <a:ea typeface="Cambria" pitchFamily="34" charset="-122"/>
                <a:cs typeface="Cambria" pitchFamily="34" charset="-120"/>
              </a:rPr>
              <a:t>0.095</a:t>
            </a:r>
            <a:endParaRPr lang="en-US" sz="2800" dirty="0"/>
          </a:p>
        </p:txBody>
      </p:sp>
      <p:sp>
        <p:nvSpPr>
          <p:cNvPr id="17" name="tile-l0"/>
          <p:cNvSpPr txBox="1"/>
          <p:nvPr/>
        </p:nvSpPr>
        <p:spPr>
          <a:xfrm>
            <a:off x="731520" y="3246120"/>
            <a:ext cx="2286000" cy="365760"/>
          </a:xfrm>
          <a:prstGeom prst="rect">
            <a:avLst/>
          </a:prstGeom>
          <a:noFill/>
          <a:ln/>
        </p:spPr>
        <p:txBody>
          <a:bodyPr wrap="square" lIns="0" tIns="0" rIns="0" bIns="0" rtlCol="0" anchor="ctr"/>
          <a:lstStyle/>
          <a:p>
            <a:pPr marL="0" indent="0">
              <a:buNone/>
            </a:pPr>
            <a:r>
              <a:rPr lang="en-US" sz="1200" b="1" dirty="0">
                <a:solidFill>
                  <a:srgbClr val="102A43"/>
                </a:solidFill>
              </a:rPr>
              <a:t>max feature PSI</a:t>
            </a:r>
            <a:r>
              <a:rPr lang="en-US" sz="1200" dirty="0">
                <a:solidFill>
                  <a:srgbClr val="627D98"/>
                </a:solidFill>
              </a:rPr>
              <a:t>  ·  limit 0.20</a:t>
            </a:r>
            <a:endParaRPr lang="en-US" sz="1200" dirty="0"/>
          </a:p>
        </p:txBody>
      </p:sp>
      <p:sp>
        <p:nvSpPr>
          <p:cNvPr id="18" name="tile-1"/>
          <p:cNvSpPr/>
          <p:nvPr/>
        </p:nvSpPr>
        <p:spPr>
          <a:xfrm>
            <a:off x="3291840" y="2560320"/>
            <a:ext cx="2560320" cy="1188720"/>
          </a:xfrm>
          <a:prstGeom prst="roundRect">
            <a:avLst>
              <a:gd name="adj" fmla="val 9231"/>
            </a:avLst>
          </a:prstGeom>
          <a:solidFill>
            <a:srgbClr val="EEF3F7"/>
          </a:solidFill>
          <a:ln w="9525">
            <a:solidFill>
              <a:srgbClr val="EEF3F7"/>
            </a:solidFill>
            <a:prstDash val="solid"/>
          </a:ln>
        </p:spPr>
      </p:sp>
      <p:sp>
        <p:nvSpPr>
          <p:cNvPr id="19" name="tile-v1"/>
          <p:cNvSpPr txBox="1"/>
          <p:nvPr/>
        </p:nvSpPr>
        <p:spPr>
          <a:xfrm>
            <a:off x="3474720" y="2651760"/>
            <a:ext cx="2194560" cy="548640"/>
          </a:xfrm>
          <a:prstGeom prst="rect">
            <a:avLst/>
          </a:prstGeom>
          <a:noFill/>
          <a:ln/>
        </p:spPr>
        <p:txBody>
          <a:bodyPr wrap="square" lIns="0" tIns="0" rIns="0" bIns="0" rtlCol="0" anchor="ctr"/>
          <a:lstStyle/>
          <a:p>
            <a:pPr marL="0" indent="0">
              <a:buNone/>
            </a:pPr>
            <a:r>
              <a:rPr lang="en-US" sz="2800" b="1" dirty="0">
                <a:solidFill>
                  <a:schemeClr val="accent1"/>
                </a:solidFill>
                <a:latin typeface="Cambria" pitchFamily="34" charset="0"/>
                <a:ea typeface="Cambria" pitchFamily="34" charset="-122"/>
                <a:cs typeface="Cambria" pitchFamily="34" charset="-120"/>
              </a:rPr>
              <a:t>&lt;0.001</a:t>
            </a:r>
            <a:endParaRPr lang="en-US" sz="2800" dirty="0"/>
          </a:p>
        </p:txBody>
      </p:sp>
      <p:sp>
        <p:nvSpPr>
          <p:cNvPr id="20" name="tile-l1"/>
          <p:cNvSpPr txBox="1"/>
          <p:nvPr/>
        </p:nvSpPr>
        <p:spPr>
          <a:xfrm>
            <a:off x="3474720" y="3246120"/>
            <a:ext cx="2286000" cy="365760"/>
          </a:xfrm>
          <a:prstGeom prst="rect">
            <a:avLst/>
          </a:prstGeom>
          <a:noFill/>
          <a:ln/>
        </p:spPr>
        <p:txBody>
          <a:bodyPr wrap="square" lIns="0" tIns="0" rIns="0" bIns="0" rtlCol="0" anchor="ctr"/>
          <a:lstStyle/>
          <a:p>
            <a:pPr marL="0" indent="0">
              <a:buNone/>
            </a:pPr>
            <a:r>
              <a:rPr lang="en-US" sz="1200" b="1" dirty="0">
                <a:solidFill>
                  <a:srgbClr val="102A43"/>
                </a:solidFill>
              </a:rPr>
              <a:t>prediction PSI</a:t>
            </a:r>
            <a:r>
              <a:rPr lang="en-US" sz="1200" dirty="0">
                <a:solidFill>
                  <a:srgbClr val="627D98"/>
                </a:solidFill>
              </a:rPr>
              <a:t>  ·  limit 0.20</a:t>
            </a:r>
            <a:endParaRPr lang="en-US" sz="1200" dirty="0"/>
          </a:p>
        </p:txBody>
      </p:sp>
      <p:sp>
        <p:nvSpPr>
          <p:cNvPr id="21" name="tile-2"/>
          <p:cNvSpPr/>
          <p:nvPr/>
        </p:nvSpPr>
        <p:spPr>
          <a:xfrm>
            <a:off x="548640" y="3886200"/>
            <a:ext cx="2560320" cy="1188720"/>
          </a:xfrm>
          <a:prstGeom prst="roundRect">
            <a:avLst>
              <a:gd name="adj" fmla="val 9231"/>
            </a:avLst>
          </a:prstGeom>
          <a:solidFill>
            <a:srgbClr val="EEF3F7"/>
          </a:solidFill>
          <a:ln w="9525">
            <a:solidFill>
              <a:srgbClr val="EEF3F7"/>
            </a:solidFill>
            <a:prstDash val="solid"/>
          </a:ln>
        </p:spPr>
      </p:sp>
      <p:sp>
        <p:nvSpPr>
          <p:cNvPr id="22" name="tile-v2"/>
          <p:cNvSpPr txBox="1"/>
          <p:nvPr/>
        </p:nvSpPr>
        <p:spPr>
          <a:xfrm>
            <a:off x="731520" y="3977640"/>
            <a:ext cx="2194560" cy="548640"/>
          </a:xfrm>
          <a:prstGeom prst="rect">
            <a:avLst/>
          </a:prstGeom>
          <a:noFill/>
          <a:ln/>
        </p:spPr>
        <p:txBody>
          <a:bodyPr wrap="square" lIns="0" tIns="0" rIns="0" bIns="0" rtlCol="0" anchor="ctr"/>
          <a:lstStyle/>
          <a:p>
            <a:pPr marL="0" indent="0">
              <a:buNone/>
            </a:pPr>
            <a:r>
              <a:rPr lang="en-US" sz="2800" b="1" dirty="0">
                <a:solidFill>
                  <a:schemeClr val="accent1"/>
                </a:solidFill>
                <a:latin typeface="Cambria" pitchFamily="34" charset="0"/>
                <a:ea typeface="Cambria" pitchFamily="34" charset="-122"/>
                <a:cs typeface="Cambria" pitchFamily="34" charset="-120"/>
              </a:rPr>
              <a:t>0.00</a:t>
            </a:r>
            <a:endParaRPr lang="en-US" sz="2800" dirty="0"/>
          </a:p>
        </p:txBody>
      </p:sp>
      <p:sp>
        <p:nvSpPr>
          <p:cNvPr id="23" name="tile-l2"/>
          <p:cNvSpPr txBox="1"/>
          <p:nvPr/>
        </p:nvSpPr>
        <p:spPr>
          <a:xfrm>
            <a:off x="731520" y="4572000"/>
            <a:ext cx="2286000" cy="365760"/>
          </a:xfrm>
          <a:prstGeom prst="rect">
            <a:avLst/>
          </a:prstGeom>
          <a:noFill/>
          <a:ln/>
        </p:spPr>
        <p:txBody>
          <a:bodyPr wrap="square" lIns="0" tIns="0" rIns="0" bIns="0" rtlCol="0" anchor="ctr"/>
          <a:lstStyle/>
          <a:p>
            <a:pPr marL="0" indent="0">
              <a:buNone/>
            </a:pPr>
            <a:r>
              <a:rPr lang="en-US" sz="1200" b="1" dirty="0">
                <a:solidFill>
                  <a:srgbClr val="102A43"/>
                </a:solidFill>
              </a:rPr>
              <a:t>missing rate</a:t>
            </a:r>
            <a:r>
              <a:rPr lang="en-US" sz="1200" dirty="0">
                <a:solidFill>
                  <a:srgbClr val="627D98"/>
                </a:solidFill>
              </a:rPr>
              <a:t>  ·  limit 0.02</a:t>
            </a:r>
            <a:endParaRPr lang="en-US" sz="1200" dirty="0"/>
          </a:p>
        </p:txBody>
      </p:sp>
      <p:sp>
        <p:nvSpPr>
          <p:cNvPr id="24" name="tile-3"/>
          <p:cNvSpPr/>
          <p:nvPr/>
        </p:nvSpPr>
        <p:spPr>
          <a:xfrm>
            <a:off x="3291840" y="3886200"/>
            <a:ext cx="2560320" cy="1188720"/>
          </a:xfrm>
          <a:prstGeom prst="roundRect">
            <a:avLst>
              <a:gd name="adj" fmla="val 9231"/>
            </a:avLst>
          </a:prstGeom>
          <a:solidFill>
            <a:srgbClr val="EEF3F7"/>
          </a:solidFill>
          <a:ln w="9525">
            <a:solidFill>
              <a:srgbClr val="EEF3F7"/>
            </a:solidFill>
            <a:prstDash val="solid"/>
          </a:ln>
        </p:spPr>
      </p:sp>
      <p:sp>
        <p:nvSpPr>
          <p:cNvPr id="25" name="tile-v3"/>
          <p:cNvSpPr txBox="1"/>
          <p:nvPr/>
        </p:nvSpPr>
        <p:spPr>
          <a:xfrm>
            <a:off x="3474720" y="3977640"/>
            <a:ext cx="2194560" cy="548640"/>
          </a:xfrm>
          <a:prstGeom prst="rect">
            <a:avLst/>
          </a:prstGeom>
          <a:noFill/>
          <a:ln/>
        </p:spPr>
        <p:txBody>
          <a:bodyPr wrap="square" lIns="0" tIns="0" rIns="0" bIns="0" rtlCol="0" anchor="ctr"/>
          <a:lstStyle/>
          <a:p>
            <a:pPr marL="0" indent="0">
              <a:buNone/>
            </a:pPr>
            <a:r>
              <a:rPr lang="en-US" sz="2800" b="1" dirty="0">
                <a:solidFill>
                  <a:schemeClr val="accent1"/>
                </a:solidFill>
                <a:latin typeface="Cambria" pitchFamily="34" charset="0"/>
                <a:ea typeface="Cambria" pitchFamily="34" charset="-122"/>
                <a:cs typeface="Cambria" pitchFamily="34" charset="-120"/>
              </a:rPr>
              <a:t>+0.0001</a:t>
            </a:r>
            <a:endParaRPr lang="en-US" sz="2800" dirty="0"/>
          </a:p>
        </p:txBody>
      </p:sp>
      <p:sp>
        <p:nvSpPr>
          <p:cNvPr id="26" name="tile-l3"/>
          <p:cNvSpPr txBox="1"/>
          <p:nvPr/>
        </p:nvSpPr>
        <p:spPr>
          <a:xfrm>
            <a:off x="3474720" y="4572000"/>
            <a:ext cx="2286000" cy="365760"/>
          </a:xfrm>
          <a:prstGeom prst="rect">
            <a:avLst/>
          </a:prstGeom>
          <a:noFill/>
          <a:ln/>
        </p:spPr>
        <p:txBody>
          <a:bodyPr wrap="square" lIns="0" tIns="0" rIns="0" bIns="0" rtlCol="0" anchor="ctr"/>
          <a:lstStyle/>
          <a:p>
            <a:pPr marL="0" indent="0">
              <a:buNone/>
            </a:pPr>
            <a:r>
              <a:rPr lang="en-US" sz="1200" b="1" dirty="0">
                <a:solidFill>
                  <a:srgbClr val="102A43"/>
                </a:solidFill>
              </a:rPr>
              <a:t>macro-F1 change</a:t>
            </a:r>
            <a:r>
              <a:rPr lang="en-US" sz="1200" dirty="0">
                <a:solidFill>
                  <a:srgbClr val="627D98"/>
                </a:solidFill>
              </a:rPr>
              <a:t>  ·  limit −0.05</a:t>
            </a:r>
            <a:endParaRPr lang="en-US" sz="1200" dirty="0"/>
          </a:p>
        </p:txBody>
      </p:sp>
      <p:sp>
        <p:nvSpPr>
          <p:cNvPr id="27" name="cw-circle"/>
          <p:cNvSpPr/>
          <p:nvPr/>
        </p:nvSpPr>
        <p:spPr>
          <a:xfrm>
            <a:off x="548640" y="5349240"/>
            <a:ext cx="502920" cy="502920"/>
          </a:xfrm>
          <a:prstGeom prst="ellipse">
            <a:avLst/>
          </a:prstGeom>
          <a:solidFill>
            <a:srgbClr val="E8A33D"/>
          </a:solidFill>
          <a:ln/>
        </p:spPr>
      </p:sp>
      <p:pic>
        <p:nvPicPr>
          <p:cNvPr id="28" name="cw-icon" descr="preencoded.png"/>
          <p:cNvPicPr>
            <a:picLocks noChangeAspect="1"/>
          </p:cNvPicPr>
          <p:nvPr/>
        </p:nvPicPr>
        <p:blipFill>
          <a:blip r:embed="rId3"/>
          <a:stretch>
            <a:fillRect/>
          </a:stretch>
        </p:blipFill>
        <p:spPr>
          <a:xfrm>
            <a:off x="659282" y="5459882"/>
            <a:ext cx="281635" cy="281635"/>
          </a:xfrm>
          <a:prstGeom prst="rect">
            <a:avLst/>
          </a:prstGeom>
        </p:spPr>
      </p:pic>
      <p:sp>
        <p:nvSpPr>
          <p:cNvPr id="29" name="cw-t"/>
          <p:cNvSpPr txBox="1"/>
          <p:nvPr/>
        </p:nvSpPr>
        <p:spPr>
          <a:xfrm>
            <a:off x="1188720" y="5257800"/>
            <a:ext cx="4480560" cy="731520"/>
          </a:xfrm>
          <a:prstGeom prst="rect">
            <a:avLst/>
          </a:prstGeom>
          <a:noFill/>
          <a:ln/>
        </p:spPr>
        <p:txBody>
          <a:bodyPr wrap="square" lIns="0" tIns="0" rIns="0" bIns="0" rtlCol="0" anchor="ctr"/>
          <a:lstStyle/>
          <a:p>
            <a:pPr marL="0" indent="0">
              <a:buNone/>
            </a:pPr>
            <a:r>
              <a:rPr lang="en-US" sz="1300" b="1" dirty="0">
                <a:solidFill>
                  <a:schemeClr val="tx1"/>
                </a:solidFill>
              </a:rPr>
              <a:t>Retraining recommended: No. </a:t>
            </a:r>
            <a:r>
              <a:rPr lang="en-US" sz="1300" dirty="0">
                <a:solidFill>
                  <a:schemeClr val="tx1"/>
                </a:solidFill>
              </a:rPr>
              <a:t>CloudWatch: 10 metrics, dashboard, 3 alarms (PSI, missing rate, F1 drop)</a:t>
            </a:r>
            <a:endParaRPr lang="en-US" sz="1300" dirty="0"/>
          </a:p>
        </p:txBody>
      </p:sp>
      <p:sp>
        <p:nvSpPr>
          <p:cNvPr id="30" name="dag-h"/>
          <p:cNvSpPr txBox="1"/>
          <p:nvPr/>
        </p:nvSpPr>
        <p:spPr>
          <a:xfrm>
            <a:off x="6309360" y="2103120"/>
            <a:ext cx="5303520" cy="320040"/>
          </a:xfrm>
          <a:prstGeom prst="rect">
            <a:avLst/>
          </a:prstGeom>
          <a:noFill/>
          <a:ln/>
        </p:spPr>
        <p:txBody>
          <a:bodyPr wrap="square" lIns="0" tIns="0" rIns="0" bIns="0" rtlCol="0" anchor="ctr"/>
          <a:lstStyle/>
          <a:p>
            <a:pPr marL="0" indent="0">
              <a:buNone/>
            </a:pPr>
            <a:r>
              <a:rPr lang="en-US" sz="1600" b="1" dirty="0">
                <a:solidFill>
                  <a:schemeClr val="tx2"/>
                </a:solidFill>
              </a:rPr>
              <a:t>SageMaker Pipeline DAG (Succeeded)</a:t>
            </a:r>
            <a:endParaRPr lang="en-US" sz="1600" dirty="0"/>
          </a:p>
        </p:txBody>
      </p:sp>
      <p:sp>
        <p:nvSpPr>
          <p:cNvPr id="31" name="dag-0"/>
          <p:cNvSpPr/>
          <p:nvPr/>
        </p:nvSpPr>
        <p:spPr>
          <a:xfrm>
            <a:off x="6309360" y="2542032"/>
            <a:ext cx="5330952" cy="438912"/>
          </a:xfrm>
          <a:prstGeom prst="roundRect">
            <a:avLst>
              <a:gd name="adj" fmla="val 16667"/>
            </a:avLst>
          </a:prstGeom>
          <a:solidFill>
            <a:schemeClr val="bg2"/>
          </a:solidFill>
          <a:ln/>
        </p:spPr>
        <p:txBody>
          <a:bodyPr wrap="square" lIns="0" tIns="127000" rIns="127000" bIns="0" rtlCol="0" anchor="ctr"/>
          <a:lstStyle/>
          <a:p>
            <a:pPr marL="0" indent="0">
              <a:buNone/>
            </a:pPr>
            <a:r>
              <a:rPr lang="en-US" sz="1200" b="1" dirty="0">
                <a:solidFill>
                  <a:schemeClr val="tx2"/>
                </a:solidFill>
              </a:rPr>
              <a:t>CI preflight</a:t>
            </a:r>
            <a:r>
              <a:rPr lang="en-US" sz="1200" dirty="0">
                <a:solidFill>
                  <a:srgbClr val="627D98"/>
                </a:solidFill>
              </a:rPr>
              <a:t>   9 unit tests passed</a:t>
            </a:r>
            <a:endParaRPr lang="en-US" sz="1200" dirty="0"/>
          </a:p>
        </p:txBody>
      </p:sp>
      <p:sp>
        <p:nvSpPr>
          <p:cNvPr id="32" name="dag-a0"/>
          <p:cNvSpPr/>
          <p:nvPr/>
        </p:nvSpPr>
        <p:spPr>
          <a:xfrm>
            <a:off x="6583680" y="2980944"/>
            <a:ext cx="0" cy="128016"/>
          </a:xfrm>
          <a:prstGeom prst="line">
            <a:avLst/>
          </a:prstGeom>
          <a:noFill/>
          <a:ln w="15875">
            <a:solidFill>
              <a:srgbClr val="627D98"/>
            </a:solidFill>
            <a:prstDash val="solid"/>
            <a:tailEnd type="triangle"/>
          </a:ln>
        </p:spPr>
      </p:sp>
      <p:sp>
        <p:nvSpPr>
          <p:cNvPr id="33" name="dag-1"/>
          <p:cNvSpPr/>
          <p:nvPr/>
        </p:nvSpPr>
        <p:spPr>
          <a:xfrm>
            <a:off x="6309360" y="3108960"/>
            <a:ext cx="5330952" cy="438912"/>
          </a:xfrm>
          <a:prstGeom prst="roundRect">
            <a:avLst>
              <a:gd name="adj" fmla="val 16667"/>
            </a:avLst>
          </a:prstGeom>
          <a:solidFill>
            <a:schemeClr val="bg2"/>
          </a:solidFill>
          <a:ln/>
        </p:spPr>
        <p:txBody>
          <a:bodyPr wrap="square" lIns="0" tIns="127000" rIns="127000" bIns="0" rtlCol="0" anchor="ctr"/>
          <a:lstStyle/>
          <a:p>
            <a:pPr marL="0" indent="0">
              <a:buNone/>
            </a:pPr>
            <a:r>
              <a:rPr lang="en-US" sz="1200" b="1" dirty="0">
                <a:solidFill>
                  <a:schemeClr val="tx2"/>
                </a:solidFill>
              </a:rPr>
              <a:t>PrepareContinualData</a:t>
            </a:r>
            <a:r>
              <a:rPr lang="en-US" sz="1200" dirty="0">
                <a:solidFill>
                  <a:srgbClr val="627D98"/>
                </a:solidFill>
              </a:rPr>
              <a:t>   feedback group-split, appended</a:t>
            </a:r>
            <a:endParaRPr lang="en-US" sz="1200" dirty="0"/>
          </a:p>
        </p:txBody>
      </p:sp>
      <p:sp>
        <p:nvSpPr>
          <p:cNvPr id="34" name="dag-a1"/>
          <p:cNvSpPr/>
          <p:nvPr/>
        </p:nvSpPr>
        <p:spPr>
          <a:xfrm>
            <a:off x="6583680" y="3547872"/>
            <a:ext cx="0" cy="128016"/>
          </a:xfrm>
          <a:prstGeom prst="line">
            <a:avLst/>
          </a:prstGeom>
          <a:noFill/>
          <a:ln w="15875">
            <a:solidFill>
              <a:srgbClr val="627D98"/>
            </a:solidFill>
            <a:prstDash val="solid"/>
            <a:tailEnd type="triangle"/>
          </a:ln>
        </p:spPr>
      </p:sp>
      <p:sp>
        <p:nvSpPr>
          <p:cNvPr id="35" name="dag-2"/>
          <p:cNvSpPr/>
          <p:nvPr/>
        </p:nvSpPr>
        <p:spPr>
          <a:xfrm>
            <a:off x="6309360" y="3675888"/>
            <a:ext cx="5330952" cy="438912"/>
          </a:xfrm>
          <a:prstGeom prst="roundRect">
            <a:avLst>
              <a:gd name="adj" fmla="val 16667"/>
            </a:avLst>
          </a:prstGeom>
          <a:solidFill>
            <a:schemeClr val="bg2"/>
          </a:solidFill>
          <a:ln/>
        </p:spPr>
        <p:txBody>
          <a:bodyPr wrap="square" lIns="0" tIns="127000" rIns="127000" bIns="0" rtlCol="0" anchor="ctr"/>
          <a:lstStyle/>
          <a:p>
            <a:pPr marL="0" indent="0">
              <a:buNone/>
            </a:pPr>
            <a:r>
              <a:rPr lang="en-US" sz="1200" b="1" dirty="0">
                <a:solidFill>
                  <a:schemeClr val="tx2"/>
                </a:solidFill>
              </a:rPr>
              <a:t>TrainContinualCandidate</a:t>
            </a:r>
            <a:r>
              <a:rPr lang="en-US" sz="1200" dirty="0">
                <a:solidFill>
                  <a:srgbClr val="627D98"/>
                </a:solidFill>
              </a:rPr>
              <a:t>   same 14-feature contract</a:t>
            </a:r>
            <a:endParaRPr lang="en-US" sz="1200" dirty="0"/>
          </a:p>
        </p:txBody>
      </p:sp>
      <p:sp>
        <p:nvSpPr>
          <p:cNvPr id="36" name="dag-a2"/>
          <p:cNvSpPr/>
          <p:nvPr/>
        </p:nvSpPr>
        <p:spPr>
          <a:xfrm>
            <a:off x="6583680" y="4114800"/>
            <a:ext cx="0" cy="128016"/>
          </a:xfrm>
          <a:prstGeom prst="line">
            <a:avLst/>
          </a:prstGeom>
          <a:noFill/>
          <a:ln w="15875">
            <a:solidFill>
              <a:srgbClr val="627D98"/>
            </a:solidFill>
            <a:prstDash val="solid"/>
            <a:tailEnd type="triangle"/>
          </a:ln>
        </p:spPr>
      </p:sp>
      <p:sp>
        <p:nvSpPr>
          <p:cNvPr id="37" name="dag-3"/>
          <p:cNvSpPr/>
          <p:nvPr/>
        </p:nvSpPr>
        <p:spPr>
          <a:xfrm>
            <a:off x="6309360" y="4242816"/>
            <a:ext cx="5330952" cy="438912"/>
          </a:xfrm>
          <a:prstGeom prst="roundRect">
            <a:avLst>
              <a:gd name="adj" fmla="val 16667"/>
            </a:avLst>
          </a:prstGeom>
          <a:solidFill>
            <a:schemeClr val="bg2"/>
          </a:solidFill>
          <a:ln/>
        </p:spPr>
        <p:txBody>
          <a:bodyPr wrap="square" lIns="0" tIns="127000" rIns="127000" bIns="0" rtlCol="0" anchor="ctr"/>
          <a:lstStyle/>
          <a:p>
            <a:pPr marL="0" indent="0">
              <a:buNone/>
            </a:pPr>
            <a:r>
              <a:rPr lang="en-US" sz="1200" b="1" dirty="0">
                <a:solidFill>
                  <a:schemeClr val="tx2"/>
                </a:solidFill>
              </a:rPr>
              <a:t>EvaluateAgainstChampion</a:t>
            </a:r>
            <a:r>
              <a:rPr lang="en-US" sz="1200" dirty="0">
                <a:solidFill>
                  <a:srgbClr val="627D98"/>
                </a:solidFill>
              </a:rPr>
              <a:t>   ΔF1 −0.00003 · ΔNDCG +0.003</a:t>
            </a:r>
            <a:endParaRPr lang="en-US" sz="1200" dirty="0"/>
          </a:p>
        </p:txBody>
      </p:sp>
      <p:sp>
        <p:nvSpPr>
          <p:cNvPr id="38" name="dag-a3"/>
          <p:cNvSpPr/>
          <p:nvPr/>
        </p:nvSpPr>
        <p:spPr>
          <a:xfrm>
            <a:off x="6583680" y="4681728"/>
            <a:ext cx="0" cy="128016"/>
          </a:xfrm>
          <a:prstGeom prst="line">
            <a:avLst/>
          </a:prstGeom>
          <a:noFill/>
          <a:ln w="15875">
            <a:solidFill>
              <a:srgbClr val="627D98"/>
            </a:solidFill>
            <a:prstDash val="solid"/>
            <a:tailEnd type="triangle"/>
          </a:ln>
        </p:spPr>
      </p:sp>
      <p:sp>
        <p:nvSpPr>
          <p:cNvPr id="39" name="dag-4"/>
          <p:cNvSpPr/>
          <p:nvPr/>
        </p:nvSpPr>
        <p:spPr>
          <a:xfrm>
            <a:off x="6309360" y="4809744"/>
            <a:ext cx="5330952" cy="438912"/>
          </a:xfrm>
          <a:prstGeom prst="roundRect">
            <a:avLst>
              <a:gd name="adj" fmla="val 16667"/>
            </a:avLst>
          </a:prstGeom>
          <a:solidFill>
            <a:schemeClr val="accent5"/>
          </a:solidFill>
          <a:ln/>
        </p:spPr>
        <p:txBody>
          <a:bodyPr wrap="square" lIns="0" tIns="127000" rIns="127000" bIns="0" rtlCol="0" anchor="ctr"/>
          <a:lstStyle/>
          <a:p>
            <a:pPr marL="0" indent="0">
              <a:buNone/>
            </a:pPr>
            <a:r>
              <a:rPr lang="en-US" sz="1200" b="1" dirty="0">
                <a:solidFill>
                  <a:schemeClr val="tx2"/>
                </a:solidFill>
              </a:rPr>
              <a:t>CandidateQualityGate</a:t>
            </a:r>
            <a:r>
              <a:rPr lang="en-US" sz="1200" dirty="0">
                <a:solidFill>
                  <a:srgbClr val="627D98"/>
                </a:solidFill>
              </a:rPr>
              <a:t>   F1 ≥ 0.40, regression ≤ 0.02: pass</a:t>
            </a:r>
            <a:endParaRPr lang="en-US" sz="1200" dirty="0"/>
          </a:p>
        </p:txBody>
      </p:sp>
      <p:sp>
        <p:nvSpPr>
          <p:cNvPr id="40" name="dag-a4"/>
          <p:cNvSpPr/>
          <p:nvPr/>
        </p:nvSpPr>
        <p:spPr>
          <a:xfrm>
            <a:off x="6583680" y="5248656"/>
            <a:ext cx="0" cy="128016"/>
          </a:xfrm>
          <a:prstGeom prst="line">
            <a:avLst/>
          </a:prstGeom>
          <a:noFill/>
          <a:ln w="15875">
            <a:solidFill>
              <a:srgbClr val="627D98"/>
            </a:solidFill>
            <a:prstDash val="solid"/>
            <a:tailEnd type="triangle"/>
          </a:ln>
        </p:spPr>
      </p:sp>
      <p:sp>
        <p:nvSpPr>
          <p:cNvPr id="41" name="dag-5"/>
          <p:cNvSpPr/>
          <p:nvPr/>
        </p:nvSpPr>
        <p:spPr>
          <a:xfrm>
            <a:off x="6309360" y="5376672"/>
            <a:ext cx="5330952" cy="438912"/>
          </a:xfrm>
          <a:prstGeom prst="roundRect">
            <a:avLst>
              <a:gd name="adj" fmla="val 16667"/>
            </a:avLst>
          </a:prstGeom>
          <a:solidFill>
            <a:schemeClr val="tx2"/>
          </a:solidFill>
          <a:ln/>
        </p:spPr>
        <p:txBody>
          <a:bodyPr wrap="square" lIns="0" tIns="127000" rIns="127000" bIns="0" rtlCol="0" anchor="ctr"/>
          <a:lstStyle/>
          <a:p>
            <a:pPr marL="0" indent="0">
              <a:buNone/>
            </a:pPr>
            <a:r>
              <a:rPr lang="en-US" sz="1200" b="1" dirty="0">
                <a:solidFill>
                  <a:schemeClr val="bg1"/>
                </a:solidFill>
              </a:rPr>
              <a:t>Model Registry</a:t>
            </a:r>
            <a:r>
              <a:rPr lang="en-US" sz="1200" dirty="0">
                <a:solidFill>
                  <a:srgbClr val="FFFFFF"/>
                </a:solidFill>
              </a:rPr>
              <a:t>   product-qa-ranker: PendingManualApproval</a:t>
            </a:r>
            <a:endParaRPr lang="en-US" sz="1200" dirty="0"/>
          </a:p>
        </p:txBody>
      </p:sp>
      <p:sp>
        <p:nvSpPr>
          <p:cNvPr id="42" name="dag-note"/>
          <p:cNvSpPr txBox="1"/>
          <p:nvPr/>
        </p:nvSpPr>
        <p:spPr>
          <a:xfrm>
            <a:off x="6309360" y="5943600"/>
            <a:ext cx="5330952" cy="320040"/>
          </a:xfrm>
          <a:prstGeom prst="rect">
            <a:avLst/>
          </a:prstGeom>
          <a:noFill/>
          <a:ln/>
        </p:spPr>
        <p:txBody>
          <a:bodyPr wrap="square" lIns="0" tIns="0" rIns="0" bIns="0" rtlCol="0" anchor="ctr"/>
          <a:lstStyle/>
          <a:p>
            <a:pPr marL="0" indent="0">
              <a:buNone/>
            </a:pPr>
            <a:r>
              <a:rPr lang="en-US" sz="1200" i="1" dirty="0">
                <a:solidFill>
                  <a:schemeClr val="accent4"/>
                </a:solidFill>
              </a:rPr>
              <a:t>Human approval and rollback stay manual; the champion never changes automatically.</a:t>
            </a:r>
            <a:endParaRPr lang="en-US" sz="1200" dirty="0"/>
          </a:p>
        </p:txBody>
      </p:sp>
      <p:sp>
        <p:nvSpPr>
          <p:cNvPr id="13"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r"/>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tepper-line"/>
          <p:cNvSpPr/>
          <p:nvPr/>
        </p:nvSpPr>
        <p:spPr>
          <a:xfrm>
            <a:off x="731520" y="466344"/>
            <a:ext cx="10732313" cy="0"/>
          </a:xfrm>
          <a:prstGeom prst="line">
            <a:avLst/>
          </a:prstGeom>
          <a:noFill/>
          <a:ln w="19050">
            <a:solidFill>
              <a:srgbClr val="BFE3E0"/>
            </a:solidFill>
            <a:prstDash val="solid"/>
          </a:ln>
        </p:spPr>
      </p:sp>
      <p:sp>
        <p:nvSpPr>
          <p:cNvPr id="3" name="step-1"/>
          <p:cNvSpPr/>
          <p:nvPr/>
        </p:nvSpPr>
        <p:spPr>
          <a:xfrm>
            <a:off x="548640" y="292608"/>
            <a:ext cx="1298448" cy="347472"/>
          </a:xfrm>
          <a:prstGeom prst="roundRect">
            <a:avLst>
              <a:gd name="adj" fmla="val 50000"/>
            </a:avLst>
          </a:prstGeom>
          <a:solidFill>
            <a:schemeClr val="accent5"/>
          </a:solidFill>
          <a:ln w="9525">
            <a:solidFill>
              <a:srgbClr val="EEF3F7"/>
            </a:solidFill>
          </a:ln>
        </p:spPr>
        <p:txBody>
          <a:bodyPr wrap="square" lIns="0" tIns="0" rIns="0" bIns="0" rtlCol="0" anchor="ctr"/>
          <a:lstStyle/>
          <a:p>
            <a:pPr marL="0" indent="0" algn="ctr">
              <a:buNone/>
            </a:pPr>
            <a:r>
              <a:rPr lang="en-US" sz="1000" dirty="0">
                <a:solidFill>
                  <a:schemeClr val="tx2"/>
                </a:solidFill>
              </a:rPr>
              <a:t>1  Data collection</a:t>
            </a:r>
            <a:endParaRPr lang="en-US" sz="1000" dirty="0"/>
          </a:p>
        </p:txBody>
      </p:sp>
      <p:sp>
        <p:nvSpPr>
          <p:cNvPr id="4" name="step-2"/>
          <p:cNvSpPr/>
          <p:nvPr/>
        </p:nvSpPr>
        <p:spPr>
          <a:xfrm>
            <a:off x="1948586" y="292608"/>
            <a:ext cx="1298448" cy="347472"/>
          </a:xfrm>
          <a:prstGeom prst="roundRect">
            <a:avLst>
              <a:gd name="adj" fmla="val 50000"/>
            </a:avLst>
          </a:prstGeom>
          <a:solidFill>
            <a:schemeClr val="accent5"/>
          </a:solidFill>
          <a:ln w="9525">
            <a:solidFill>
              <a:srgbClr val="EEF3F7"/>
            </a:solidFill>
          </a:ln>
        </p:spPr>
        <p:txBody>
          <a:bodyPr wrap="square" lIns="0" tIns="0" rIns="0" bIns="0" rtlCol="0" anchor="ctr"/>
          <a:lstStyle/>
          <a:p>
            <a:pPr marL="0" indent="0" algn="ctr">
              <a:buNone/>
            </a:pPr>
            <a:r>
              <a:rPr lang="en-US" sz="1000" dirty="0">
                <a:solidFill>
                  <a:schemeClr val="tx2"/>
                </a:solidFill>
              </a:rPr>
              <a:t>2  Feature engineering</a:t>
            </a:r>
            <a:endParaRPr lang="en-US" sz="1000" dirty="0"/>
          </a:p>
        </p:txBody>
      </p:sp>
      <p:sp>
        <p:nvSpPr>
          <p:cNvPr id="5" name="step-3"/>
          <p:cNvSpPr/>
          <p:nvPr/>
        </p:nvSpPr>
        <p:spPr>
          <a:xfrm>
            <a:off x="3348533" y="292608"/>
            <a:ext cx="1298448" cy="347472"/>
          </a:xfrm>
          <a:prstGeom prst="roundRect">
            <a:avLst>
              <a:gd name="adj" fmla="val 50000"/>
            </a:avLst>
          </a:prstGeom>
          <a:solidFill>
            <a:schemeClr val="accent5"/>
          </a:solidFill>
          <a:ln w="9525">
            <a:solidFill>
              <a:srgbClr val="EEF3F7"/>
            </a:solidFill>
          </a:ln>
        </p:spPr>
        <p:txBody>
          <a:bodyPr wrap="square" lIns="0" tIns="0" rIns="0" bIns="0" rtlCol="0" anchor="ctr"/>
          <a:lstStyle/>
          <a:p>
            <a:pPr marL="0" indent="0" algn="ctr">
              <a:buNone/>
            </a:pPr>
            <a:r>
              <a:rPr lang="en-US" sz="1000" dirty="0">
                <a:solidFill>
                  <a:schemeClr val="tx2"/>
                </a:solidFill>
              </a:rPr>
              <a:t>3  Feature Store</a:t>
            </a:r>
            <a:endParaRPr lang="en-US" sz="1000" dirty="0"/>
          </a:p>
        </p:txBody>
      </p:sp>
      <p:sp>
        <p:nvSpPr>
          <p:cNvPr id="6" name="step-4"/>
          <p:cNvSpPr/>
          <p:nvPr/>
        </p:nvSpPr>
        <p:spPr>
          <a:xfrm>
            <a:off x="4748479" y="292608"/>
            <a:ext cx="1298448" cy="347472"/>
          </a:xfrm>
          <a:prstGeom prst="roundRect">
            <a:avLst>
              <a:gd name="adj" fmla="val 50000"/>
            </a:avLst>
          </a:prstGeom>
          <a:solidFill>
            <a:schemeClr val="accent5"/>
          </a:solidFill>
          <a:ln w="9525">
            <a:solidFill>
              <a:srgbClr val="EEF3F7"/>
            </a:solidFill>
          </a:ln>
        </p:spPr>
        <p:txBody>
          <a:bodyPr wrap="square" lIns="0" tIns="0" rIns="0" bIns="0" rtlCol="0" anchor="ctr"/>
          <a:lstStyle/>
          <a:p>
            <a:pPr marL="0" indent="0" algn="ctr">
              <a:buNone/>
            </a:pPr>
            <a:r>
              <a:rPr lang="en-US" sz="1000" dirty="0">
                <a:solidFill>
                  <a:schemeClr val="tx2"/>
                </a:solidFill>
              </a:rPr>
              <a:t>4  Model development</a:t>
            </a:r>
            <a:endParaRPr lang="en-US" sz="1000" dirty="0"/>
          </a:p>
        </p:txBody>
      </p:sp>
      <p:sp>
        <p:nvSpPr>
          <p:cNvPr id="7" name="step-5"/>
          <p:cNvSpPr/>
          <p:nvPr/>
        </p:nvSpPr>
        <p:spPr>
          <a:xfrm>
            <a:off x="6148426" y="292608"/>
            <a:ext cx="1298448" cy="347472"/>
          </a:xfrm>
          <a:prstGeom prst="roundRect">
            <a:avLst>
              <a:gd name="adj" fmla="val 50000"/>
            </a:avLst>
          </a:prstGeom>
          <a:solidFill>
            <a:schemeClr val="accent5"/>
          </a:solidFill>
          <a:ln w="9525">
            <a:solidFill>
              <a:srgbClr val="EEF3F7"/>
            </a:solidFill>
          </a:ln>
        </p:spPr>
        <p:txBody>
          <a:bodyPr wrap="square" lIns="0" tIns="0" rIns="0" bIns="0" rtlCol="0" anchor="ctr"/>
          <a:lstStyle/>
          <a:p>
            <a:pPr marL="0" indent="0" algn="ctr">
              <a:buNone/>
            </a:pPr>
            <a:r>
              <a:rPr lang="en-US" sz="1000" dirty="0">
                <a:solidFill>
                  <a:schemeClr val="tx2"/>
                </a:solidFill>
              </a:rPr>
              <a:t>5  Evaluation</a:t>
            </a:r>
            <a:endParaRPr lang="en-US" sz="1000" dirty="0"/>
          </a:p>
        </p:txBody>
      </p:sp>
      <p:sp>
        <p:nvSpPr>
          <p:cNvPr id="8" name="step-6"/>
          <p:cNvSpPr/>
          <p:nvPr/>
        </p:nvSpPr>
        <p:spPr>
          <a:xfrm>
            <a:off x="7548372" y="292608"/>
            <a:ext cx="1298448" cy="347472"/>
          </a:xfrm>
          <a:prstGeom prst="roundRect">
            <a:avLst>
              <a:gd name="adj" fmla="val 50000"/>
            </a:avLst>
          </a:prstGeom>
          <a:solidFill>
            <a:schemeClr val="accent5"/>
          </a:solidFill>
          <a:ln w="9525">
            <a:solidFill>
              <a:srgbClr val="EEF3F7"/>
            </a:solidFill>
          </a:ln>
        </p:spPr>
        <p:txBody>
          <a:bodyPr wrap="square" lIns="0" tIns="0" rIns="0" bIns="0" rtlCol="0" anchor="ctr"/>
          <a:lstStyle/>
          <a:p>
            <a:pPr marL="0" indent="0" algn="ctr">
              <a:buNone/>
            </a:pPr>
            <a:r>
              <a:rPr lang="en-US" sz="1000" dirty="0">
                <a:solidFill>
                  <a:schemeClr val="tx2"/>
                </a:solidFill>
              </a:rPr>
              <a:t>6  Monitoring &amp; CI/CD</a:t>
            </a:r>
            <a:endParaRPr lang="en-US" sz="1000" dirty="0"/>
          </a:p>
        </p:txBody>
      </p:sp>
      <p:sp>
        <p:nvSpPr>
          <p:cNvPr id="9" name="step-7"/>
          <p:cNvSpPr/>
          <p:nvPr/>
        </p:nvSpPr>
        <p:spPr>
          <a:xfrm>
            <a:off x="8948318" y="292608"/>
            <a:ext cx="1298448" cy="347472"/>
          </a:xfrm>
          <a:prstGeom prst="roundRect">
            <a:avLst>
              <a:gd name="adj" fmla="val 50000"/>
            </a:avLst>
          </a:prstGeom>
          <a:solidFill>
            <a:schemeClr val="accent1"/>
          </a:solidFill>
          <a:ln w="9525">
            <a:solidFill>
              <a:srgbClr val="0F7C7A"/>
            </a:solidFill>
          </a:ln>
        </p:spPr>
        <p:txBody>
          <a:bodyPr wrap="square" lIns="0" tIns="0" rIns="0" bIns="0" rtlCol="0" anchor="ctr"/>
          <a:lstStyle/>
          <a:p>
            <a:pPr marL="0" indent="0" algn="ctr">
              <a:buNone/>
            </a:pPr>
            <a:r>
              <a:rPr lang="en-US" sz="1000" b="1" dirty="0">
                <a:solidFill>
                  <a:schemeClr val="bg1"/>
                </a:solidFill>
              </a:rPr>
              <a:t>7  Deployment</a:t>
            </a:r>
            <a:endParaRPr lang="en-US" sz="1000" dirty="0"/>
          </a:p>
        </p:txBody>
      </p:sp>
      <p:sp>
        <p:nvSpPr>
          <p:cNvPr id="10" name="step-8"/>
          <p:cNvSpPr/>
          <p:nvPr/>
        </p:nvSpPr>
        <p:spPr>
          <a:xfrm>
            <a:off x="10348265" y="292608"/>
            <a:ext cx="1298448" cy="347472"/>
          </a:xfrm>
          <a:prstGeom prst="roundRect">
            <a:avLst>
              <a:gd name="adj" fmla="val 50000"/>
            </a:avLst>
          </a:prstGeom>
          <a:solidFill>
            <a:schemeClr val="bg2"/>
          </a:solidFill>
          <a:ln w="9525">
            <a:solidFill>
              <a:srgbClr val="EEF3F7"/>
            </a:solidFill>
          </a:ln>
        </p:spPr>
        <p:txBody>
          <a:bodyPr wrap="square" lIns="0" tIns="0" rIns="0" bIns="0" rtlCol="0" anchor="ctr"/>
          <a:lstStyle/>
          <a:p>
            <a:pPr marL="0" indent="0" algn="ctr">
              <a:buNone/>
            </a:pPr>
            <a:r>
              <a:rPr lang="en-US" sz="1000" dirty="0">
                <a:solidFill>
                  <a:schemeClr val="tx2"/>
                </a:solidFill>
              </a:rPr>
              <a:t>8  RAG inference</a:t>
            </a:r>
            <a:endParaRPr lang="en-US" sz="1000" dirty="0"/>
          </a:p>
        </p:txBody>
      </p:sp>
      <p:sp>
        <p:nvSpPr>
          <p:cNvPr id="11" name="Text 1"/>
          <p:cNvSpPr>
            <a:spLocks noGrp="1"/>
          </p:cNvSpPr>
          <p:nvPr>
            <p:ph type="body" idx="101" hasCustomPrompt="1"/>
          </p:nvPr>
        </p:nvSpPr>
        <p:spPr>
          <a:xfrm>
            <a:off x="548640" y="868680"/>
            <a:ext cx="10972800" cy="292608"/>
          </a:xfrm>
          <a:prstGeom prst="rect">
            <a:avLst/>
          </a:prstGeom>
          <a:noFill/>
          <a:ln/>
        </p:spPr>
        <p:txBody>
          <a:bodyPr wrap="square" lIns="0" tIns="0" rIns="0" bIns="0" rtlCol="0" anchor="ctr"/>
          <a:lstStyle/>
          <a:p>
            <a:pPr marL="0" indent="0">
              <a:buNone/>
            </a:pPr>
            <a:r>
              <a:rPr lang="en-US" sz="1200" b="1" dirty="0">
                <a:solidFill>
                  <a:schemeClr val="accent1"/>
                </a:solidFill>
              </a:rPr>
              <a:t>PHASE 7  ·  Batch Transform, Model Registry, temporary endpoint + Flask (Application_Integration_Testing.ipynb)</a:t>
            </a:r>
            <a:endParaRPr lang="en-US" sz="1200" dirty="0"/>
          </a:p>
        </p:txBody>
      </p:sp>
      <p:sp>
        <p:nvSpPr>
          <p:cNvPr id="12" name="Text 1"/>
          <p:cNvSpPr>
            <a:spLocks noGrp="1"/>
          </p:cNvSpPr>
          <p:nvPr>
            <p:ph type="title" idx="102" hasCustomPrompt="1"/>
          </p:nvPr>
        </p:nvSpPr>
        <p:spPr>
          <a:xfrm>
            <a:off x="548640" y="1161288"/>
            <a:ext cx="11064240" cy="685800"/>
          </a:xfrm>
          <a:prstGeom prst="rect">
            <a:avLst/>
          </a:prstGeom>
          <a:noFill/>
          <a:ln/>
        </p:spPr>
        <p:txBody>
          <a:bodyPr wrap="square" lIns="0" tIns="0" rIns="0" bIns="0" rtlCol="0" anchor="ctr"/>
          <a:lstStyle/>
          <a:p>
            <a:pPr marL="0" indent="0" algn="l">
              <a:buNone/>
            </a:pPr>
            <a:r>
              <a:rPr lang="en-US" sz="3000" b="1" dirty="0">
                <a:solidFill>
                  <a:schemeClr val="tx2"/>
                </a:solidFill>
                <a:latin typeface="Cambria" pitchFamily="34" charset="0"/>
                <a:ea typeface="Cambria" pitchFamily="34" charset="-122"/>
                <a:cs typeface="Cambria" pitchFamily="34" charset="-120"/>
              </a:rPr>
              <a:t>Deployment: batch-first, governed, torn down after tests</a:t>
            </a:r>
            <a:endParaRPr lang="en-US" sz="3000" dirty="0"/>
          </a:p>
        </p:txBody>
      </p:sp>
      <p:sp>
        <p:nvSpPr>
          <p:cNvPr id="14" name="d-card-0"/>
          <p:cNvSpPr/>
          <p:nvPr/>
        </p:nvSpPr>
        <p:spPr>
          <a:xfrm>
            <a:off x="548640" y="2194560"/>
            <a:ext cx="2606040" cy="3200400"/>
          </a:xfrm>
          <a:prstGeom prst="roundRect">
            <a:avLst>
              <a:gd name="adj" fmla="val 4211"/>
            </a:avLst>
          </a:prstGeom>
          <a:solidFill>
            <a:srgbClr val="EEF3F7"/>
          </a:solidFill>
          <a:ln w="9525">
            <a:solidFill>
              <a:srgbClr val="EEF3F7"/>
            </a:solidFill>
            <a:prstDash val="solid"/>
          </a:ln>
        </p:spPr>
      </p:sp>
      <p:sp>
        <p:nvSpPr>
          <p:cNvPr id="15" name="d-0-circle"/>
          <p:cNvSpPr/>
          <p:nvPr/>
        </p:nvSpPr>
        <p:spPr>
          <a:xfrm>
            <a:off x="777240" y="2377440"/>
            <a:ext cx="640080" cy="640080"/>
          </a:xfrm>
          <a:prstGeom prst="ellipse">
            <a:avLst/>
          </a:prstGeom>
          <a:solidFill>
            <a:srgbClr val="0F7C7A"/>
          </a:solidFill>
          <a:ln/>
        </p:spPr>
      </p:sp>
      <p:pic>
        <p:nvPicPr>
          <p:cNvPr id="16" name="d-0-icon" descr="preencoded.png"/>
          <p:cNvPicPr>
            <a:picLocks noChangeAspect="1"/>
          </p:cNvPicPr>
          <p:nvPr/>
        </p:nvPicPr>
        <p:blipFill>
          <a:blip r:embed="rId3"/>
          <a:stretch>
            <a:fillRect/>
          </a:stretch>
        </p:blipFill>
        <p:spPr>
          <a:xfrm>
            <a:off x="918058" y="2518258"/>
            <a:ext cx="358445" cy="358445"/>
          </a:xfrm>
          <a:prstGeom prst="rect">
            <a:avLst/>
          </a:prstGeom>
        </p:spPr>
      </p:pic>
      <p:sp>
        <p:nvSpPr>
          <p:cNvPr id="17" name="d-t0"/>
          <p:cNvSpPr txBox="1"/>
          <p:nvPr/>
        </p:nvSpPr>
        <p:spPr>
          <a:xfrm>
            <a:off x="777240" y="3154680"/>
            <a:ext cx="2286000" cy="411480"/>
          </a:xfrm>
          <a:prstGeom prst="rect">
            <a:avLst/>
          </a:prstGeom>
          <a:noFill/>
          <a:ln/>
        </p:spPr>
        <p:txBody>
          <a:bodyPr wrap="square" lIns="0" tIns="0" rIns="0" bIns="0" rtlCol="0" anchor="ctr"/>
          <a:lstStyle/>
          <a:p>
            <a:pPr marL="0" indent="0">
              <a:buNone/>
            </a:pPr>
            <a:r>
              <a:rPr lang="en-US" sz="1700" b="1" dirty="0">
                <a:solidFill>
                  <a:schemeClr val="tx2"/>
                </a:solidFill>
              </a:rPr>
              <a:t>1  Batch Transform</a:t>
            </a:r>
            <a:endParaRPr lang="en-US" sz="1700" dirty="0"/>
          </a:p>
        </p:txBody>
      </p:sp>
      <p:sp>
        <p:nvSpPr>
          <p:cNvPr id="18" name="d-l0"/>
          <p:cNvSpPr txBox="1"/>
          <p:nvPr/>
        </p:nvSpPr>
        <p:spPr>
          <a:xfrm>
            <a:off x="777240" y="3657600"/>
            <a:ext cx="2286000" cy="164592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chemeClr val="tx1"/>
                </a:solidFill>
              </a:rPr>
              <a:t>9,946 production rows scored</a:t>
            </a:r>
            <a:endParaRPr lang="en-US" sz="1300" dirty="0"/>
          </a:p>
          <a:p>
            <a:pPr marL="342900" indent="-342900">
              <a:spcAft>
                <a:spcPts val="600"/>
              </a:spcAft>
              <a:buSzPct val="100000"/>
              <a:buChar char="•"/>
            </a:pPr>
            <a:r>
              <a:rPr lang="en-US" sz="1300" dirty="0">
                <a:solidFill>
                  <a:schemeClr val="tx1"/>
                </a:solidFill>
              </a:rPr>
              <a:t>5 outputs: class, E[relevance], P0–P2</a:t>
            </a:r>
            <a:endParaRPr lang="en-US" sz="1300" dirty="0"/>
          </a:p>
          <a:p>
            <a:pPr marL="342900" indent="-342900">
              <a:spcAft>
                <a:spcPts val="600"/>
              </a:spcAft>
              <a:buSzPct val="100000"/>
              <a:buChar char="•"/>
            </a:pPr>
            <a:r>
              <a:rPr lang="en-US" sz="1300" dirty="0">
                <a:solidFill>
                  <a:schemeClr val="tx1"/>
                </a:solidFill>
              </a:rPr>
              <a:t>No always-on endpoint</a:t>
            </a:r>
            <a:endParaRPr lang="en-US" sz="1300" dirty="0"/>
          </a:p>
        </p:txBody>
      </p:sp>
      <p:sp>
        <p:nvSpPr>
          <p:cNvPr id="19" name="d-a0"/>
          <p:cNvSpPr/>
          <p:nvPr/>
        </p:nvSpPr>
        <p:spPr>
          <a:xfrm>
            <a:off x="3172968" y="3794760"/>
            <a:ext cx="192024" cy="0"/>
          </a:xfrm>
          <a:prstGeom prst="line">
            <a:avLst/>
          </a:prstGeom>
          <a:noFill/>
          <a:ln w="19050">
            <a:solidFill>
              <a:srgbClr val="0F7C7A"/>
            </a:solidFill>
            <a:prstDash val="solid"/>
            <a:tailEnd type="triangle"/>
          </a:ln>
        </p:spPr>
      </p:sp>
      <p:sp>
        <p:nvSpPr>
          <p:cNvPr id="20" name="d-card-1"/>
          <p:cNvSpPr/>
          <p:nvPr/>
        </p:nvSpPr>
        <p:spPr>
          <a:xfrm>
            <a:off x="3383280" y="2194560"/>
            <a:ext cx="2606040" cy="3200400"/>
          </a:xfrm>
          <a:prstGeom prst="roundRect">
            <a:avLst>
              <a:gd name="adj" fmla="val 4211"/>
            </a:avLst>
          </a:prstGeom>
          <a:solidFill>
            <a:srgbClr val="EEF3F7"/>
          </a:solidFill>
          <a:ln w="9525">
            <a:solidFill>
              <a:srgbClr val="EEF3F7"/>
            </a:solidFill>
            <a:prstDash val="solid"/>
          </a:ln>
        </p:spPr>
      </p:sp>
      <p:sp>
        <p:nvSpPr>
          <p:cNvPr id="21" name="d-1-circle"/>
          <p:cNvSpPr/>
          <p:nvPr/>
        </p:nvSpPr>
        <p:spPr>
          <a:xfrm>
            <a:off x="3611880" y="2377440"/>
            <a:ext cx="640080" cy="640080"/>
          </a:xfrm>
          <a:prstGeom prst="ellipse">
            <a:avLst/>
          </a:prstGeom>
          <a:solidFill>
            <a:srgbClr val="627D98"/>
          </a:solidFill>
          <a:ln/>
        </p:spPr>
      </p:sp>
      <p:pic>
        <p:nvPicPr>
          <p:cNvPr id="22" name="d-1-icon" descr="preencoded.png"/>
          <p:cNvPicPr>
            <a:picLocks noChangeAspect="1"/>
          </p:cNvPicPr>
          <p:nvPr/>
        </p:nvPicPr>
        <p:blipFill>
          <a:blip r:embed="rId4"/>
          <a:stretch>
            <a:fillRect/>
          </a:stretch>
        </p:blipFill>
        <p:spPr>
          <a:xfrm>
            <a:off x="3752698" y="2518258"/>
            <a:ext cx="358445" cy="358445"/>
          </a:xfrm>
          <a:prstGeom prst="rect">
            <a:avLst/>
          </a:prstGeom>
        </p:spPr>
      </p:pic>
      <p:sp>
        <p:nvSpPr>
          <p:cNvPr id="23" name="d-t1"/>
          <p:cNvSpPr txBox="1"/>
          <p:nvPr/>
        </p:nvSpPr>
        <p:spPr>
          <a:xfrm>
            <a:off x="3611880" y="3154680"/>
            <a:ext cx="2286000" cy="411480"/>
          </a:xfrm>
          <a:prstGeom prst="rect">
            <a:avLst/>
          </a:prstGeom>
          <a:noFill/>
          <a:ln/>
        </p:spPr>
        <p:txBody>
          <a:bodyPr wrap="square" lIns="0" tIns="0" rIns="0" bIns="0" rtlCol="0" anchor="ctr"/>
          <a:lstStyle/>
          <a:p>
            <a:pPr marL="0" indent="0">
              <a:buNone/>
            </a:pPr>
            <a:r>
              <a:rPr lang="en-US" sz="1700" b="1" dirty="0">
                <a:solidFill>
                  <a:schemeClr val="tx2"/>
                </a:solidFill>
              </a:rPr>
              <a:t>2  Model Registry</a:t>
            </a:r>
            <a:endParaRPr lang="en-US" sz="1700" dirty="0"/>
          </a:p>
        </p:txBody>
      </p:sp>
      <p:sp>
        <p:nvSpPr>
          <p:cNvPr id="24" name="d-l1"/>
          <p:cNvSpPr txBox="1"/>
          <p:nvPr/>
        </p:nvSpPr>
        <p:spPr>
          <a:xfrm>
            <a:off x="3611880" y="3657600"/>
            <a:ext cx="2286000" cy="164592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chemeClr val="tx1"/>
                </a:solidFill>
              </a:rPr>
              <a:t>Group: product-qa-ranker</a:t>
            </a:r>
            <a:endParaRPr lang="en-US" sz="1300" dirty="0"/>
          </a:p>
          <a:p>
            <a:pPr marL="342900" indent="-342900">
              <a:spcAft>
                <a:spcPts val="600"/>
              </a:spcAft>
              <a:buSzPct val="100000"/>
              <a:buChar char="•"/>
            </a:pPr>
            <a:r>
              <a:rPr lang="en-US" sz="1300" dirty="0">
                <a:solidFill>
                  <a:schemeClr val="tx1"/>
                </a:solidFill>
              </a:rPr>
              <a:t>PendingManualApproval → approve</a:t>
            </a:r>
            <a:endParaRPr lang="en-US" sz="1300" dirty="0"/>
          </a:p>
          <a:p>
            <a:pPr marL="342900" indent="-342900">
              <a:spcAft>
                <a:spcPts val="600"/>
              </a:spcAft>
              <a:buSzPct val="100000"/>
              <a:buChar char="•"/>
            </a:pPr>
            <a:r>
              <a:rPr lang="en-US" sz="1300" dirty="0">
                <a:solidFill>
                  <a:schemeClr val="tx1"/>
                </a:solidFill>
              </a:rPr>
              <a:t>Rollback = re-approve previous</a:t>
            </a:r>
            <a:endParaRPr lang="en-US" sz="1300" dirty="0"/>
          </a:p>
        </p:txBody>
      </p:sp>
      <p:sp>
        <p:nvSpPr>
          <p:cNvPr id="25" name="d-a1"/>
          <p:cNvSpPr/>
          <p:nvPr/>
        </p:nvSpPr>
        <p:spPr>
          <a:xfrm>
            <a:off x="6007608" y="3794760"/>
            <a:ext cx="192024" cy="0"/>
          </a:xfrm>
          <a:prstGeom prst="line">
            <a:avLst/>
          </a:prstGeom>
          <a:noFill/>
          <a:ln w="19050">
            <a:solidFill>
              <a:srgbClr val="0F7C7A"/>
            </a:solidFill>
            <a:prstDash val="solid"/>
            <a:tailEnd type="triangle"/>
          </a:ln>
        </p:spPr>
      </p:sp>
      <p:sp>
        <p:nvSpPr>
          <p:cNvPr id="26" name="d-card-2"/>
          <p:cNvSpPr/>
          <p:nvPr/>
        </p:nvSpPr>
        <p:spPr>
          <a:xfrm>
            <a:off x="6217920" y="2194560"/>
            <a:ext cx="2606040" cy="3200400"/>
          </a:xfrm>
          <a:prstGeom prst="roundRect">
            <a:avLst>
              <a:gd name="adj" fmla="val 4211"/>
            </a:avLst>
          </a:prstGeom>
          <a:solidFill>
            <a:srgbClr val="EEF3F7"/>
          </a:solidFill>
          <a:ln w="9525">
            <a:solidFill>
              <a:srgbClr val="EEF3F7"/>
            </a:solidFill>
            <a:prstDash val="solid"/>
          </a:ln>
        </p:spPr>
      </p:sp>
      <p:sp>
        <p:nvSpPr>
          <p:cNvPr id="27" name="d-2-circle"/>
          <p:cNvSpPr/>
          <p:nvPr/>
        </p:nvSpPr>
        <p:spPr>
          <a:xfrm>
            <a:off x="6446520" y="2377440"/>
            <a:ext cx="640080" cy="640080"/>
          </a:xfrm>
          <a:prstGeom prst="ellipse">
            <a:avLst/>
          </a:prstGeom>
          <a:solidFill>
            <a:srgbClr val="E8A33D"/>
          </a:solidFill>
          <a:ln/>
        </p:spPr>
      </p:sp>
      <p:pic>
        <p:nvPicPr>
          <p:cNvPr id="28" name="d-2-icon" descr="preencoded.png"/>
          <p:cNvPicPr>
            <a:picLocks noChangeAspect="1"/>
          </p:cNvPicPr>
          <p:nvPr/>
        </p:nvPicPr>
        <p:blipFill>
          <a:blip r:embed="rId5"/>
          <a:stretch>
            <a:fillRect/>
          </a:stretch>
        </p:blipFill>
        <p:spPr>
          <a:xfrm>
            <a:off x="6587338" y="2518258"/>
            <a:ext cx="358445" cy="358445"/>
          </a:xfrm>
          <a:prstGeom prst="rect">
            <a:avLst/>
          </a:prstGeom>
        </p:spPr>
      </p:pic>
      <p:sp>
        <p:nvSpPr>
          <p:cNvPr id="29" name="d-t2"/>
          <p:cNvSpPr txBox="1"/>
          <p:nvPr/>
        </p:nvSpPr>
        <p:spPr>
          <a:xfrm>
            <a:off x="6446520" y="3154680"/>
            <a:ext cx="2286000" cy="411480"/>
          </a:xfrm>
          <a:prstGeom prst="rect">
            <a:avLst/>
          </a:prstGeom>
          <a:noFill/>
          <a:ln/>
        </p:spPr>
        <p:txBody>
          <a:bodyPr wrap="square" lIns="0" tIns="0" rIns="0" bIns="0" rtlCol="0" anchor="ctr"/>
          <a:lstStyle/>
          <a:p>
            <a:pPr marL="0" indent="0">
              <a:buNone/>
            </a:pPr>
            <a:r>
              <a:rPr lang="en-US" sz="1700" b="1" dirty="0">
                <a:solidFill>
                  <a:schemeClr val="tx2"/>
                </a:solidFill>
              </a:rPr>
              <a:t>3  Endpoint + Flask</a:t>
            </a:r>
            <a:endParaRPr lang="en-US" sz="1700" dirty="0"/>
          </a:p>
        </p:txBody>
      </p:sp>
      <p:sp>
        <p:nvSpPr>
          <p:cNvPr id="30" name="d-l2"/>
          <p:cNvSpPr txBox="1"/>
          <p:nvPr/>
        </p:nvSpPr>
        <p:spPr>
          <a:xfrm>
            <a:off x="6446520" y="3657600"/>
            <a:ext cx="2286000" cy="164592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chemeClr val="tx1"/>
                </a:solidFill>
              </a:rPr>
              <a:t>SageMaker HTTPS contract</a:t>
            </a:r>
            <a:endParaRPr lang="en-US" sz="1300" dirty="0"/>
          </a:p>
          <a:p>
            <a:pPr marL="342900" indent="-342900">
              <a:spcAft>
                <a:spcPts val="600"/>
              </a:spcAft>
              <a:buSzPct val="100000"/>
              <a:buChar char="•"/>
            </a:pPr>
            <a:r>
              <a:rPr lang="en-US" sz="1300" dirty="0">
                <a:solidFill>
                  <a:schemeClr val="tx1"/>
                </a:solidFill>
              </a:rPr>
              <a:t>Flask /health and /answer</a:t>
            </a:r>
            <a:endParaRPr lang="en-US" sz="1300" dirty="0"/>
          </a:p>
          <a:p>
            <a:pPr marL="342900" indent="-342900">
              <a:spcAft>
                <a:spcPts val="600"/>
              </a:spcAft>
              <a:buSzPct val="100000"/>
              <a:buChar char="•"/>
            </a:pPr>
            <a:r>
              <a:rPr lang="en-US" sz="1300" dirty="0">
                <a:solidFill>
                  <a:schemeClr val="tx1"/>
                </a:solidFill>
              </a:rPr>
              <a:t>MiniLM weights in artifact</a:t>
            </a:r>
            <a:endParaRPr lang="en-US" sz="1300" dirty="0"/>
          </a:p>
        </p:txBody>
      </p:sp>
      <p:sp>
        <p:nvSpPr>
          <p:cNvPr id="31" name="d-a2"/>
          <p:cNvSpPr/>
          <p:nvPr/>
        </p:nvSpPr>
        <p:spPr>
          <a:xfrm>
            <a:off x="8842248" y="3794760"/>
            <a:ext cx="192024" cy="0"/>
          </a:xfrm>
          <a:prstGeom prst="line">
            <a:avLst/>
          </a:prstGeom>
          <a:noFill/>
          <a:ln w="19050">
            <a:solidFill>
              <a:srgbClr val="0F7C7A"/>
            </a:solidFill>
            <a:prstDash val="solid"/>
            <a:tailEnd type="triangle"/>
          </a:ln>
        </p:spPr>
      </p:sp>
      <p:sp>
        <p:nvSpPr>
          <p:cNvPr id="32" name="d-card-3"/>
          <p:cNvSpPr/>
          <p:nvPr/>
        </p:nvSpPr>
        <p:spPr>
          <a:xfrm>
            <a:off x="9052560" y="2194560"/>
            <a:ext cx="2606040" cy="3200400"/>
          </a:xfrm>
          <a:prstGeom prst="roundRect">
            <a:avLst>
              <a:gd name="adj" fmla="val 4211"/>
            </a:avLst>
          </a:prstGeom>
          <a:solidFill>
            <a:srgbClr val="EEF3F7"/>
          </a:solidFill>
          <a:ln w="9525">
            <a:solidFill>
              <a:srgbClr val="EEF3F7"/>
            </a:solidFill>
            <a:prstDash val="solid"/>
          </a:ln>
        </p:spPr>
      </p:sp>
      <p:sp>
        <p:nvSpPr>
          <p:cNvPr id="33" name="d-3-circle"/>
          <p:cNvSpPr/>
          <p:nvPr/>
        </p:nvSpPr>
        <p:spPr>
          <a:xfrm>
            <a:off x="9281160" y="2377440"/>
            <a:ext cx="640080" cy="640080"/>
          </a:xfrm>
          <a:prstGeom prst="ellipse">
            <a:avLst/>
          </a:prstGeom>
          <a:solidFill>
            <a:srgbClr val="C8553D"/>
          </a:solidFill>
          <a:ln/>
        </p:spPr>
      </p:sp>
      <p:pic>
        <p:nvPicPr>
          <p:cNvPr id="34" name="d-3-icon" descr="preencoded.png"/>
          <p:cNvPicPr>
            <a:picLocks noChangeAspect="1"/>
          </p:cNvPicPr>
          <p:nvPr/>
        </p:nvPicPr>
        <p:blipFill>
          <a:blip r:embed="rId6"/>
          <a:stretch>
            <a:fillRect/>
          </a:stretch>
        </p:blipFill>
        <p:spPr>
          <a:xfrm>
            <a:off x="9421978" y="2518258"/>
            <a:ext cx="358445" cy="358445"/>
          </a:xfrm>
          <a:prstGeom prst="rect">
            <a:avLst/>
          </a:prstGeom>
        </p:spPr>
      </p:pic>
      <p:sp>
        <p:nvSpPr>
          <p:cNvPr id="35" name="d-t3"/>
          <p:cNvSpPr txBox="1"/>
          <p:nvPr/>
        </p:nvSpPr>
        <p:spPr>
          <a:xfrm>
            <a:off x="9281160" y="3154680"/>
            <a:ext cx="2286000" cy="411480"/>
          </a:xfrm>
          <a:prstGeom prst="rect">
            <a:avLst/>
          </a:prstGeom>
          <a:noFill/>
          <a:ln/>
        </p:spPr>
        <p:txBody>
          <a:bodyPr wrap="square" lIns="0" tIns="0" rIns="0" bIns="0" rtlCol="0" anchor="ctr"/>
          <a:lstStyle/>
          <a:p>
            <a:pPr marL="0" indent="0">
              <a:buNone/>
            </a:pPr>
            <a:r>
              <a:rPr lang="en-US" sz="1700" b="1" dirty="0">
                <a:solidFill>
                  <a:schemeClr val="tx2"/>
                </a:solidFill>
              </a:rPr>
              <a:t>4  Test and clean up</a:t>
            </a:r>
            <a:endParaRPr lang="en-US" sz="1700" dirty="0"/>
          </a:p>
        </p:txBody>
      </p:sp>
      <p:sp>
        <p:nvSpPr>
          <p:cNvPr id="36" name="d-l3"/>
          <p:cNvSpPr txBox="1"/>
          <p:nvPr/>
        </p:nvSpPr>
        <p:spPr>
          <a:xfrm>
            <a:off x="9281160" y="3657600"/>
            <a:ext cx="2286000" cy="164592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chemeClr val="tx1"/>
                </a:solidFill>
              </a:rPr>
              <a:t>Abstention + grounding checks</a:t>
            </a:r>
            <a:endParaRPr lang="en-US" sz="1300" dirty="0"/>
          </a:p>
          <a:p>
            <a:pPr marL="342900" indent="-342900">
              <a:spcAft>
                <a:spcPts val="600"/>
              </a:spcAft>
              <a:buSzPct val="100000"/>
              <a:buChar char="•"/>
            </a:pPr>
            <a:r>
              <a:rPr lang="en-US" sz="1300" dirty="0">
                <a:solidFill>
                  <a:schemeClr val="tx1"/>
                </a:solidFill>
              </a:rPr>
              <a:t>p95 ≤ 2,500 ms, telemetry</a:t>
            </a:r>
            <a:endParaRPr lang="en-US" sz="1300" dirty="0"/>
          </a:p>
          <a:p>
            <a:pPr marL="342900" indent="-342900">
              <a:spcAft>
                <a:spcPts val="600"/>
              </a:spcAft>
              <a:buSzPct val="100000"/>
              <a:buChar char="•"/>
            </a:pPr>
            <a:r>
              <a:rPr lang="en-US" sz="1300" dirty="0">
                <a:solidFill>
                  <a:schemeClr val="tx1"/>
                </a:solidFill>
              </a:rPr>
              <a:t>Delete endpoint, config, model</a:t>
            </a:r>
            <a:endParaRPr lang="en-US" sz="1300" dirty="0"/>
          </a:p>
        </p:txBody>
      </p:sp>
      <p:sp>
        <p:nvSpPr>
          <p:cNvPr id="37" name="fb-h"/>
          <p:cNvSpPr txBox="1"/>
          <p:nvPr/>
        </p:nvSpPr>
        <p:spPr>
          <a:xfrm>
            <a:off x="548640" y="5577840"/>
            <a:ext cx="5486400" cy="274320"/>
          </a:xfrm>
          <a:prstGeom prst="rect">
            <a:avLst/>
          </a:prstGeom>
          <a:noFill/>
          <a:ln/>
        </p:spPr>
        <p:txBody>
          <a:bodyPr wrap="square" lIns="0" tIns="0" rIns="0" bIns="0" rtlCol="0" anchor="ctr"/>
          <a:lstStyle/>
          <a:p>
            <a:pPr marL="0" indent="0">
              <a:buNone/>
            </a:pPr>
            <a:r>
              <a:rPr lang="en-US" sz="1200" b="1" dirty="0">
                <a:solidFill>
                  <a:schemeClr val="tx2"/>
                </a:solidFill>
              </a:rPr>
              <a:t>Learner Lab fallbacks (recorded in receipts, never silent)</a:t>
            </a:r>
            <a:endParaRPr lang="en-US" sz="1200" dirty="0"/>
          </a:p>
        </p:txBody>
      </p:sp>
      <p:sp>
        <p:nvSpPr>
          <p:cNvPr id="38" name="fb-0"/>
          <p:cNvSpPr txBox="1"/>
          <p:nvPr/>
        </p:nvSpPr>
        <p:spPr>
          <a:xfrm>
            <a:off x="548640" y="5897880"/>
            <a:ext cx="2606040" cy="320040"/>
          </a:xfrm>
          <a:prstGeom prst="rect">
            <a:avLst/>
          </a:prstGeom>
          <a:solidFill>
            <a:schemeClr val="bg2"/>
          </a:solidFill>
          <a:ln/>
        </p:spPr>
        <p:txBody>
          <a:bodyPr wrap="square" lIns="0" tIns="0" rIns="0" bIns="0" rtlCol="0" anchor="ctr"/>
          <a:lstStyle/>
          <a:p>
            <a:pPr marL="0" indent="0" algn="ctr">
              <a:buNone/>
            </a:pPr>
            <a:r>
              <a:rPr lang="en-US" sz="1000" dirty="0">
                <a:solidFill>
                  <a:schemeClr val="tx2"/>
                </a:solidFill>
                <a:latin typeface="Courier New" pitchFamily="34" charset="0"/>
                <a:ea typeface="Courier New" pitchFamily="34" charset="-122"/>
                <a:cs typeface="Courier New" pitchFamily="34" charset="-120"/>
              </a:rPr>
              <a:t>DEPLOY_TEMPORARY_ENDPOINT=False</a:t>
            </a:r>
            <a:endParaRPr lang="en-US" sz="1000" dirty="0"/>
          </a:p>
        </p:txBody>
      </p:sp>
      <p:sp>
        <p:nvSpPr>
          <p:cNvPr id="39" name="fb-1"/>
          <p:cNvSpPr txBox="1"/>
          <p:nvPr/>
        </p:nvSpPr>
        <p:spPr>
          <a:xfrm>
            <a:off x="3383280" y="5897880"/>
            <a:ext cx="2606040" cy="320040"/>
          </a:xfrm>
          <a:prstGeom prst="rect">
            <a:avLst/>
          </a:prstGeom>
          <a:solidFill>
            <a:schemeClr val="bg2"/>
          </a:solidFill>
          <a:ln/>
        </p:spPr>
        <p:txBody>
          <a:bodyPr wrap="square" lIns="0" tIns="0" rIns="0" bIns="0" rtlCol="0" anchor="ctr"/>
          <a:lstStyle/>
          <a:p>
            <a:pPr marL="0" indent="0" algn="ctr">
              <a:buNone/>
            </a:pPr>
            <a:r>
              <a:rPr lang="en-US" sz="1000" dirty="0">
                <a:solidFill>
                  <a:schemeClr val="tx2"/>
                </a:solidFill>
                <a:latin typeface="Courier New" pitchFamily="34" charset="0"/>
                <a:ea typeface="Courier New" pitchFamily="34" charset="-122"/>
                <a:cs typeface="Courier New" pitchFamily="34" charset="-120"/>
              </a:rPr>
              <a:t>ENABLE_MODEL_REGISTRY=False</a:t>
            </a:r>
            <a:endParaRPr lang="en-US" sz="1000" dirty="0"/>
          </a:p>
        </p:txBody>
      </p:sp>
      <p:sp>
        <p:nvSpPr>
          <p:cNvPr id="40" name="fb-2"/>
          <p:cNvSpPr txBox="1"/>
          <p:nvPr/>
        </p:nvSpPr>
        <p:spPr>
          <a:xfrm>
            <a:off x="6217920" y="5897880"/>
            <a:ext cx="2606040" cy="320040"/>
          </a:xfrm>
          <a:prstGeom prst="rect">
            <a:avLst/>
          </a:prstGeom>
          <a:solidFill>
            <a:schemeClr val="bg2"/>
          </a:solidFill>
          <a:ln/>
        </p:spPr>
        <p:txBody>
          <a:bodyPr wrap="square" lIns="0" tIns="0" rIns="0" bIns="0" rtlCol="0" anchor="ctr"/>
          <a:lstStyle/>
          <a:p>
            <a:pPr marL="0" indent="0" algn="ctr">
              <a:buNone/>
            </a:pPr>
            <a:r>
              <a:rPr lang="en-US" sz="1000" dirty="0">
                <a:solidFill>
                  <a:schemeClr val="tx2"/>
                </a:solidFill>
                <a:latin typeface="Courier New" pitchFamily="34" charset="0"/>
                <a:ea typeface="Courier New" pitchFamily="34" charset="-122"/>
                <a:cs typeface="Courier New" pitchFamily="34" charset="-120"/>
              </a:rPr>
              <a:t>ORCHESTRATION_MODE="scripted"</a:t>
            </a:r>
            <a:endParaRPr lang="en-US" sz="1000" dirty="0"/>
          </a:p>
        </p:txBody>
      </p:sp>
      <p:sp>
        <p:nvSpPr>
          <p:cNvPr id="41" name="fb-3"/>
          <p:cNvSpPr txBox="1"/>
          <p:nvPr/>
        </p:nvSpPr>
        <p:spPr>
          <a:xfrm>
            <a:off x="9052560" y="5897880"/>
            <a:ext cx="2606040" cy="320040"/>
          </a:xfrm>
          <a:prstGeom prst="rect">
            <a:avLst/>
          </a:prstGeom>
          <a:solidFill>
            <a:schemeClr val="bg2"/>
          </a:solidFill>
          <a:ln/>
        </p:spPr>
        <p:txBody>
          <a:bodyPr wrap="square" lIns="0" tIns="0" rIns="0" bIns="0" rtlCol="0" anchor="ctr"/>
          <a:lstStyle/>
          <a:p>
            <a:pPr marL="0" indent="0" algn="ctr">
              <a:buNone/>
            </a:pPr>
            <a:r>
              <a:rPr lang="en-US" sz="1000" dirty="0">
                <a:solidFill>
                  <a:schemeClr val="tx2"/>
                </a:solidFill>
                <a:latin typeface="Courier New" pitchFamily="34" charset="0"/>
                <a:ea typeface="Courier New" pitchFamily="34" charset="-122"/>
                <a:cs typeface="Courier New" pitchFamily="34" charset="-120"/>
              </a:rPr>
              <a:t>RUN_PROCESSING_JOB=False</a:t>
            </a:r>
            <a:endParaRPr lang="en-US" sz="1000" dirty="0"/>
          </a:p>
        </p:txBody>
      </p:sp>
      <p:sp>
        <p:nvSpPr>
          <p:cNvPr id="13"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r"/>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tepper-line"/>
          <p:cNvSpPr/>
          <p:nvPr/>
        </p:nvSpPr>
        <p:spPr>
          <a:xfrm>
            <a:off x="731520" y="466344"/>
            <a:ext cx="10732313" cy="0"/>
          </a:xfrm>
          <a:prstGeom prst="line">
            <a:avLst/>
          </a:prstGeom>
          <a:noFill/>
          <a:ln w="19050">
            <a:solidFill>
              <a:srgbClr val="BFE3E0"/>
            </a:solidFill>
            <a:prstDash val="solid"/>
          </a:ln>
        </p:spPr>
      </p:sp>
      <p:sp>
        <p:nvSpPr>
          <p:cNvPr id="3" name="step-1"/>
          <p:cNvSpPr/>
          <p:nvPr/>
        </p:nvSpPr>
        <p:spPr>
          <a:xfrm>
            <a:off x="548640" y="292608"/>
            <a:ext cx="1298448" cy="347472"/>
          </a:xfrm>
          <a:prstGeom prst="roundRect">
            <a:avLst>
              <a:gd name="adj" fmla="val 50000"/>
            </a:avLst>
          </a:prstGeom>
          <a:solidFill>
            <a:schemeClr val="accent5"/>
          </a:solidFill>
          <a:ln w="9525">
            <a:solidFill>
              <a:srgbClr val="EEF3F7"/>
            </a:solidFill>
          </a:ln>
        </p:spPr>
        <p:txBody>
          <a:bodyPr wrap="square" lIns="0" tIns="0" rIns="0" bIns="0" rtlCol="0" anchor="ctr"/>
          <a:lstStyle/>
          <a:p>
            <a:pPr marL="0" indent="0" algn="ctr">
              <a:buNone/>
            </a:pPr>
            <a:r>
              <a:rPr lang="en-US" sz="1000" dirty="0">
                <a:solidFill>
                  <a:schemeClr val="tx2"/>
                </a:solidFill>
              </a:rPr>
              <a:t>1  Data collection</a:t>
            </a:r>
            <a:endParaRPr lang="en-US" sz="1000" dirty="0"/>
          </a:p>
        </p:txBody>
      </p:sp>
      <p:sp>
        <p:nvSpPr>
          <p:cNvPr id="4" name="step-2"/>
          <p:cNvSpPr/>
          <p:nvPr/>
        </p:nvSpPr>
        <p:spPr>
          <a:xfrm>
            <a:off x="1948586" y="292608"/>
            <a:ext cx="1298448" cy="347472"/>
          </a:xfrm>
          <a:prstGeom prst="roundRect">
            <a:avLst>
              <a:gd name="adj" fmla="val 50000"/>
            </a:avLst>
          </a:prstGeom>
          <a:solidFill>
            <a:schemeClr val="accent5"/>
          </a:solidFill>
          <a:ln w="9525">
            <a:solidFill>
              <a:srgbClr val="EEF3F7"/>
            </a:solidFill>
          </a:ln>
        </p:spPr>
        <p:txBody>
          <a:bodyPr wrap="square" lIns="0" tIns="0" rIns="0" bIns="0" rtlCol="0" anchor="ctr"/>
          <a:lstStyle/>
          <a:p>
            <a:pPr marL="0" indent="0" algn="ctr">
              <a:buNone/>
            </a:pPr>
            <a:r>
              <a:rPr lang="en-US" sz="1000" dirty="0">
                <a:solidFill>
                  <a:schemeClr val="tx2"/>
                </a:solidFill>
              </a:rPr>
              <a:t>2  Feature engineering</a:t>
            </a:r>
            <a:endParaRPr lang="en-US" sz="1000" dirty="0"/>
          </a:p>
        </p:txBody>
      </p:sp>
      <p:sp>
        <p:nvSpPr>
          <p:cNvPr id="5" name="step-3"/>
          <p:cNvSpPr/>
          <p:nvPr/>
        </p:nvSpPr>
        <p:spPr>
          <a:xfrm>
            <a:off x="3348533" y="292608"/>
            <a:ext cx="1298448" cy="347472"/>
          </a:xfrm>
          <a:prstGeom prst="roundRect">
            <a:avLst>
              <a:gd name="adj" fmla="val 50000"/>
            </a:avLst>
          </a:prstGeom>
          <a:solidFill>
            <a:schemeClr val="accent5"/>
          </a:solidFill>
          <a:ln w="9525">
            <a:solidFill>
              <a:srgbClr val="EEF3F7"/>
            </a:solidFill>
          </a:ln>
        </p:spPr>
        <p:txBody>
          <a:bodyPr wrap="square" lIns="0" tIns="0" rIns="0" bIns="0" rtlCol="0" anchor="ctr"/>
          <a:lstStyle/>
          <a:p>
            <a:pPr marL="0" indent="0" algn="ctr">
              <a:buNone/>
            </a:pPr>
            <a:r>
              <a:rPr lang="en-US" sz="1000" dirty="0">
                <a:solidFill>
                  <a:schemeClr val="tx2"/>
                </a:solidFill>
              </a:rPr>
              <a:t>3  Feature Store</a:t>
            </a:r>
            <a:endParaRPr lang="en-US" sz="1000" dirty="0"/>
          </a:p>
        </p:txBody>
      </p:sp>
      <p:sp>
        <p:nvSpPr>
          <p:cNvPr id="6" name="step-4"/>
          <p:cNvSpPr/>
          <p:nvPr/>
        </p:nvSpPr>
        <p:spPr>
          <a:xfrm>
            <a:off x="4748479" y="292608"/>
            <a:ext cx="1298448" cy="347472"/>
          </a:xfrm>
          <a:prstGeom prst="roundRect">
            <a:avLst>
              <a:gd name="adj" fmla="val 50000"/>
            </a:avLst>
          </a:prstGeom>
          <a:solidFill>
            <a:schemeClr val="accent5"/>
          </a:solidFill>
          <a:ln w="9525">
            <a:solidFill>
              <a:srgbClr val="EEF3F7"/>
            </a:solidFill>
          </a:ln>
        </p:spPr>
        <p:txBody>
          <a:bodyPr wrap="square" lIns="0" tIns="0" rIns="0" bIns="0" rtlCol="0" anchor="ctr"/>
          <a:lstStyle/>
          <a:p>
            <a:pPr marL="0" indent="0" algn="ctr">
              <a:buNone/>
            </a:pPr>
            <a:r>
              <a:rPr lang="en-US" sz="1000" dirty="0">
                <a:solidFill>
                  <a:schemeClr val="tx2"/>
                </a:solidFill>
              </a:rPr>
              <a:t>4  Model development</a:t>
            </a:r>
            <a:endParaRPr lang="en-US" sz="1000" dirty="0"/>
          </a:p>
        </p:txBody>
      </p:sp>
      <p:sp>
        <p:nvSpPr>
          <p:cNvPr id="7" name="step-5"/>
          <p:cNvSpPr/>
          <p:nvPr/>
        </p:nvSpPr>
        <p:spPr>
          <a:xfrm>
            <a:off x="6148426" y="292608"/>
            <a:ext cx="1298448" cy="347472"/>
          </a:xfrm>
          <a:prstGeom prst="roundRect">
            <a:avLst>
              <a:gd name="adj" fmla="val 50000"/>
            </a:avLst>
          </a:prstGeom>
          <a:solidFill>
            <a:schemeClr val="accent5"/>
          </a:solidFill>
          <a:ln w="9525">
            <a:solidFill>
              <a:srgbClr val="EEF3F7"/>
            </a:solidFill>
          </a:ln>
        </p:spPr>
        <p:txBody>
          <a:bodyPr wrap="square" lIns="0" tIns="0" rIns="0" bIns="0" rtlCol="0" anchor="ctr"/>
          <a:lstStyle/>
          <a:p>
            <a:pPr marL="0" indent="0" algn="ctr">
              <a:buNone/>
            </a:pPr>
            <a:r>
              <a:rPr lang="en-US" sz="1000" dirty="0">
                <a:solidFill>
                  <a:schemeClr val="tx2"/>
                </a:solidFill>
              </a:rPr>
              <a:t>5  Evaluation</a:t>
            </a:r>
            <a:endParaRPr lang="en-US" sz="1000" dirty="0"/>
          </a:p>
        </p:txBody>
      </p:sp>
      <p:sp>
        <p:nvSpPr>
          <p:cNvPr id="8" name="step-6"/>
          <p:cNvSpPr/>
          <p:nvPr/>
        </p:nvSpPr>
        <p:spPr>
          <a:xfrm>
            <a:off x="7548372" y="292608"/>
            <a:ext cx="1298448" cy="347472"/>
          </a:xfrm>
          <a:prstGeom prst="roundRect">
            <a:avLst>
              <a:gd name="adj" fmla="val 50000"/>
            </a:avLst>
          </a:prstGeom>
          <a:solidFill>
            <a:schemeClr val="accent5"/>
          </a:solidFill>
          <a:ln w="9525">
            <a:solidFill>
              <a:srgbClr val="EEF3F7"/>
            </a:solidFill>
          </a:ln>
        </p:spPr>
        <p:txBody>
          <a:bodyPr wrap="square" lIns="0" tIns="0" rIns="0" bIns="0" rtlCol="0" anchor="ctr"/>
          <a:lstStyle/>
          <a:p>
            <a:pPr marL="0" indent="0" algn="ctr">
              <a:buNone/>
            </a:pPr>
            <a:r>
              <a:rPr lang="en-US" sz="1000" dirty="0">
                <a:solidFill>
                  <a:schemeClr val="tx2"/>
                </a:solidFill>
              </a:rPr>
              <a:t>6  Monitoring &amp; CI/CD</a:t>
            </a:r>
            <a:endParaRPr lang="en-US" sz="1000" dirty="0"/>
          </a:p>
        </p:txBody>
      </p:sp>
      <p:sp>
        <p:nvSpPr>
          <p:cNvPr id="9" name="step-7"/>
          <p:cNvSpPr/>
          <p:nvPr/>
        </p:nvSpPr>
        <p:spPr>
          <a:xfrm>
            <a:off x="8948318" y="292608"/>
            <a:ext cx="1298448" cy="347472"/>
          </a:xfrm>
          <a:prstGeom prst="roundRect">
            <a:avLst>
              <a:gd name="adj" fmla="val 50000"/>
            </a:avLst>
          </a:prstGeom>
          <a:solidFill>
            <a:schemeClr val="accent5"/>
          </a:solidFill>
          <a:ln w="9525">
            <a:solidFill>
              <a:srgbClr val="EEF3F7"/>
            </a:solidFill>
          </a:ln>
        </p:spPr>
        <p:txBody>
          <a:bodyPr wrap="square" lIns="0" tIns="0" rIns="0" bIns="0" rtlCol="0" anchor="ctr"/>
          <a:lstStyle/>
          <a:p>
            <a:pPr marL="0" indent="0" algn="ctr">
              <a:buNone/>
            </a:pPr>
            <a:r>
              <a:rPr lang="en-US" sz="1000" dirty="0">
                <a:solidFill>
                  <a:schemeClr val="tx2"/>
                </a:solidFill>
              </a:rPr>
              <a:t>7  Deployment</a:t>
            </a:r>
            <a:endParaRPr lang="en-US" sz="1000" dirty="0"/>
          </a:p>
        </p:txBody>
      </p:sp>
      <p:sp>
        <p:nvSpPr>
          <p:cNvPr id="10" name="step-8"/>
          <p:cNvSpPr/>
          <p:nvPr/>
        </p:nvSpPr>
        <p:spPr>
          <a:xfrm>
            <a:off x="10348265" y="292608"/>
            <a:ext cx="1298448" cy="347472"/>
          </a:xfrm>
          <a:prstGeom prst="roundRect">
            <a:avLst>
              <a:gd name="adj" fmla="val 50000"/>
            </a:avLst>
          </a:prstGeom>
          <a:solidFill>
            <a:schemeClr val="accent1"/>
          </a:solidFill>
          <a:ln w="9525">
            <a:solidFill>
              <a:srgbClr val="0F7C7A"/>
            </a:solidFill>
          </a:ln>
        </p:spPr>
        <p:txBody>
          <a:bodyPr wrap="square" lIns="0" tIns="0" rIns="0" bIns="0" rtlCol="0" anchor="ctr"/>
          <a:lstStyle/>
          <a:p>
            <a:pPr marL="0" indent="0" algn="ctr">
              <a:buNone/>
            </a:pPr>
            <a:r>
              <a:rPr lang="en-US" sz="1000" b="1" dirty="0">
                <a:solidFill>
                  <a:schemeClr val="bg1"/>
                </a:solidFill>
              </a:rPr>
              <a:t>8  RAG inference</a:t>
            </a:r>
            <a:endParaRPr lang="en-US" sz="1000" dirty="0"/>
          </a:p>
        </p:txBody>
      </p:sp>
      <p:sp>
        <p:nvSpPr>
          <p:cNvPr id="11" name="Text 1"/>
          <p:cNvSpPr>
            <a:spLocks noGrp="1"/>
          </p:cNvSpPr>
          <p:nvPr>
            <p:ph type="body" idx="101" hasCustomPrompt="1"/>
          </p:nvPr>
        </p:nvSpPr>
        <p:spPr>
          <a:xfrm>
            <a:off x="548640" y="868680"/>
            <a:ext cx="10972800" cy="292608"/>
          </a:xfrm>
          <a:prstGeom prst="rect">
            <a:avLst/>
          </a:prstGeom>
          <a:noFill/>
          <a:ln/>
        </p:spPr>
        <p:txBody>
          <a:bodyPr wrap="square" lIns="0" tIns="0" rIns="0" bIns="0" rtlCol="0" anchor="ctr"/>
          <a:lstStyle/>
          <a:p>
            <a:pPr marL="0" indent="0">
              <a:buNone/>
            </a:pPr>
            <a:r>
              <a:rPr lang="en-US" sz="1200" b="1" dirty="0">
                <a:solidFill>
                  <a:schemeClr val="accent1"/>
                </a:solidFill>
              </a:rPr>
              <a:t>PHASE 8  ·  AAI540_SageMaker_Retrieval_RAG_Inference.ipynb  ·  inference_code/retrieval.py</a:t>
            </a:r>
            <a:endParaRPr lang="en-US" sz="1200" dirty="0"/>
          </a:p>
        </p:txBody>
      </p:sp>
      <p:sp>
        <p:nvSpPr>
          <p:cNvPr id="12" name="Text 1"/>
          <p:cNvSpPr>
            <a:spLocks noGrp="1"/>
          </p:cNvSpPr>
          <p:nvPr>
            <p:ph type="title" idx="102" hasCustomPrompt="1"/>
          </p:nvPr>
        </p:nvSpPr>
        <p:spPr>
          <a:xfrm>
            <a:off x="548640" y="1161288"/>
            <a:ext cx="11064240" cy="685800"/>
          </a:xfrm>
          <a:prstGeom prst="rect">
            <a:avLst/>
          </a:prstGeom>
          <a:noFill/>
          <a:ln/>
        </p:spPr>
        <p:txBody>
          <a:bodyPr wrap="square" lIns="0" tIns="0" rIns="0" bIns="0" rtlCol="0" anchor="ctr"/>
          <a:lstStyle/>
          <a:p>
            <a:pPr marL="0" indent="0" algn="l">
              <a:buNone/>
            </a:pPr>
            <a:r>
              <a:rPr lang="en-US" sz="3000" b="1" dirty="0">
                <a:solidFill>
                  <a:schemeClr val="tx2"/>
                </a:solidFill>
                <a:latin typeface="Cambria" pitchFamily="34" charset="0"/>
                <a:ea typeface="Cambria" pitchFamily="34" charset="-122"/>
                <a:cs typeface="Cambria" pitchFamily="34" charset="-120"/>
              </a:rPr>
              <a:t>RAG inference: retrieve, rerank, then answer or abstain</a:t>
            </a:r>
            <a:endParaRPr lang="en-US" sz="3000" dirty="0"/>
          </a:p>
        </p:txBody>
      </p:sp>
      <p:sp>
        <p:nvSpPr>
          <p:cNvPr id="14" name="r-0-circle"/>
          <p:cNvSpPr/>
          <p:nvPr/>
        </p:nvSpPr>
        <p:spPr>
          <a:xfrm>
            <a:off x="1097280" y="2148840"/>
            <a:ext cx="594360" cy="594360"/>
          </a:xfrm>
          <a:prstGeom prst="ellipse">
            <a:avLst/>
          </a:prstGeom>
          <a:solidFill>
            <a:srgbClr val="102A43"/>
          </a:solidFill>
          <a:ln/>
        </p:spPr>
      </p:sp>
      <p:pic>
        <p:nvPicPr>
          <p:cNvPr id="15" name="r-0-icon" descr="preencoded.png"/>
          <p:cNvPicPr>
            <a:picLocks noChangeAspect="1"/>
          </p:cNvPicPr>
          <p:nvPr/>
        </p:nvPicPr>
        <p:blipFill>
          <a:blip r:embed="rId3"/>
          <a:stretch>
            <a:fillRect/>
          </a:stretch>
        </p:blipFill>
        <p:spPr>
          <a:xfrm>
            <a:off x="1228039" y="2279599"/>
            <a:ext cx="332842" cy="332842"/>
          </a:xfrm>
          <a:prstGeom prst="rect">
            <a:avLst/>
          </a:prstGeom>
        </p:spPr>
      </p:pic>
      <p:sp>
        <p:nvSpPr>
          <p:cNvPr id="16" name="r-t0"/>
          <p:cNvSpPr txBox="1"/>
          <p:nvPr/>
        </p:nvSpPr>
        <p:spPr>
          <a:xfrm>
            <a:off x="548640" y="2834640"/>
            <a:ext cx="1691640" cy="320040"/>
          </a:xfrm>
          <a:prstGeom prst="rect">
            <a:avLst/>
          </a:prstGeom>
          <a:noFill/>
          <a:ln/>
        </p:spPr>
        <p:txBody>
          <a:bodyPr wrap="square" lIns="0" tIns="0" rIns="0" bIns="0" rtlCol="0" anchor="ctr"/>
          <a:lstStyle/>
          <a:p>
            <a:pPr marL="0" indent="0" algn="ctr">
              <a:buNone/>
            </a:pPr>
            <a:r>
              <a:rPr lang="en-US" sz="1400" b="1" dirty="0">
                <a:solidFill>
                  <a:schemeClr val="tx2"/>
                </a:solidFill>
              </a:rPr>
              <a:t>Request</a:t>
            </a:r>
            <a:endParaRPr lang="en-US" sz="1400" dirty="0"/>
          </a:p>
        </p:txBody>
      </p:sp>
      <p:sp>
        <p:nvSpPr>
          <p:cNvPr id="17" name="r-d0"/>
          <p:cNvSpPr txBox="1"/>
          <p:nvPr/>
        </p:nvSpPr>
        <p:spPr>
          <a:xfrm>
            <a:off x="548640" y="3154680"/>
            <a:ext cx="1691640" cy="548640"/>
          </a:xfrm>
          <a:prstGeom prst="rect">
            <a:avLst/>
          </a:prstGeom>
          <a:noFill/>
          <a:ln/>
        </p:spPr>
        <p:txBody>
          <a:bodyPr wrap="square" lIns="0" tIns="0" rIns="0" bIns="0" rtlCol="0" anchor="t"/>
          <a:lstStyle/>
          <a:p>
            <a:pPr marL="0" indent="0" algn="ctr">
              <a:buNone/>
            </a:pPr>
            <a:r>
              <a:rPr lang="en-US" sz="1100" dirty="0">
                <a:solidFill>
                  <a:schemeClr val="accent4"/>
                </a:solidFill>
              </a:rPr>
              <a:t>request_id, ASIN,</a:t>
            </a:r>
            <a:endParaRPr lang="en-US" sz="1100" dirty="0"/>
          </a:p>
          <a:p>
            <a:pPr marL="0" indent="0" algn="ctr">
              <a:buNone/>
            </a:pPr>
            <a:r>
              <a:rPr lang="en-US" sz="1100" dirty="0">
                <a:solidFill>
                  <a:schemeClr val="accent4"/>
                </a:solidFill>
              </a:rPr>
              <a:t>question</a:t>
            </a:r>
            <a:endParaRPr lang="en-US" sz="1100" dirty="0"/>
          </a:p>
        </p:txBody>
      </p:sp>
      <p:sp>
        <p:nvSpPr>
          <p:cNvPr id="18" name="r-a0"/>
          <p:cNvSpPr/>
          <p:nvPr/>
        </p:nvSpPr>
        <p:spPr>
          <a:xfrm>
            <a:off x="1783080" y="2446020"/>
            <a:ext cx="1161288" cy="0"/>
          </a:xfrm>
          <a:prstGeom prst="line">
            <a:avLst/>
          </a:prstGeom>
          <a:noFill/>
          <a:ln w="19050">
            <a:solidFill>
              <a:srgbClr val="627D98"/>
            </a:solidFill>
            <a:prstDash val="solid"/>
            <a:tailEnd type="triangle"/>
          </a:ln>
        </p:spPr>
      </p:sp>
      <p:sp>
        <p:nvSpPr>
          <p:cNvPr id="19" name="r-1-circle"/>
          <p:cNvSpPr/>
          <p:nvPr/>
        </p:nvSpPr>
        <p:spPr>
          <a:xfrm>
            <a:off x="2990088" y="2148840"/>
            <a:ext cx="594360" cy="594360"/>
          </a:xfrm>
          <a:prstGeom prst="ellipse">
            <a:avLst/>
          </a:prstGeom>
          <a:solidFill>
            <a:srgbClr val="102A43"/>
          </a:solidFill>
          <a:ln/>
        </p:spPr>
      </p:sp>
      <p:pic>
        <p:nvPicPr>
          <p:cNvPr id="20" name="r-1-icon" descr="preencoded.png"/>
          <p:cNvPicPr>
            <a:picLocks noChangeAspect="1"/>
          </p:cNvPicPr>
          <p:nvPr/>
        </p:nvPicPr>
        <p:blipFill>
          <a:blip r:embed="rId4"/>
          <a:stretch>
            <a:fillRect/>
          </a:stretch>
        </p:blipFill>
        <p:spPr>
          <a:xfrm>
            <a:off x="3120847" y="2279599"/>
            <a:ext cx="332842" cy="332842"/>
          </a:xfrm>
          <a:prstGeom prst="rect">
            <a:avLst/>
          </a:prstGeom>
        </p:spPr>
      </p:pic>
      <p:sp>
        <p:nvSpPr>
          <p:cNvPr id="21" name="r-t1"/>
          <p:cNvSpPr txBox="1"/>
          <p:nvPr/>
        </p:nvSpPr>
        <p:spPr>
          <a:xfrm>
            <a:off x="2441448" y="2834640"/>
            <a:ext cx="1691640" cy="320040"/>
          </a:xfrm>
          <a:prstGeom prst="rect">
            <a:avLst/>
          </a:prstGeom>
          <a:noFill/>
          <a:ln/>
        </p:spPr>
        <p:txBody>
          <a:bodyPr wrap="square" lIns="0" tIns="0" rIns="0" bIns="0" rtlCol="0" anchor="ctr"/>
          <a:lstStyle/>
          <a:p>
            <a:pPr marL="0" indent="0" algn="ctr">
              <a:buNone/>
            </a:pPr>
            <a:r>
              <a:rPr lang="en-US" sz="1400" b="1" dirty="0">
                <a:solidFill>
                  <a:schemeClr val="tx2"/>
                </a:solidFill>
              </a:rPr>
              <a:t>Embed + search</a:t>
            </a:r>
            <a:endParaRPr lang="en-US" sz="1400" dirty="0"/>
          </a:p>
        </p:txBody>
      </p:sp>
      <p:sp>
        <p:nvSpPr>
          <p:cNvPr id="22" name="r-d1"/>
          <p:cNvSpPr txBox="1"/>
          <p:nvPr/>
        </p:nvSpPr>
        <p:spPr>
          <a:xfrm>
            <a:off x="2441448" y="3154680"/>
            <a:ext cx="1691640" cy="548640"/>
          </a:xfrm>
          <a:prstGeom prst="rect">
            <a:avLst/>
          </a:prstGeom>
          <a:noFill/>
          <a:ln/>
        </p:spPr>
        <p:txBody>
          <a:bodyPr wrap="square" lIns="0" tIns="0" rIns="0" bIns="0" rtlCol="0" anchor="t"/>
          <a:lstStyle/>
          <a:p>
            <a:pPr marL="0" indent="0" algn="ctr">
              <a:buNone/>
            </a:pPr>
            <a:r>
              <a:rPr lang="en-US" sz="1100" dirty="0">
                <a:solidFill>
                  <a:schemeClr val="accent4"/>
                </a:solidFill>
              </a:rPr>
              <a:t>MiniLM 384-d,</a:t>
            </a:r>
            <a:endParaRPr lang="en-US" sz="1100" dirty="0"/>
          </a:p>
          <a:p>
            <a:pPr marL="0" indent="0" algn="ctr">
              <a:buNone/>
            </a:pPr>
            <a:r>
              <a:rPr lang="en-US" sz="1100" dirty="0">
                <a:solidFill>
                  <a:schemeClr val="accent4"/>
                </a:solidFill>
              </a:rPr>
              <a:t>FAISS top-50 in ASIN</a:t>
            </a:r>
            <a:endParaRPr lang="en-US" sz="1100" dirty="0"/>
          </a:p>
        </p:txBody>
      </p:sp>
      <p:sp>
        <p:nvSpPr>
          <p:cNvPr id="23" name="r-a1"/>
          <p:cNvSpPr/>
          <p:nvPr/>
        </p:nvSpPr>
        <p:spPr>
          <a:xfrm>
            <a:off x="3675888" y="2446020"/>
            <a:ext cx="1161288" cy="0"/>
          </a:xfrm>
          <a:prstGeom prst="line">
            <a:avLst/>
          </a:prstGeom>
          <a:noFill/>
          <a:ln w="19050">
            <a:solidFill>
              <a:srgbClr val="627D98"/>
            </a:solidFill>
            <a:prstDash val="solid"/>
            <a:tailEnd type="triangle"/>
          </a:ln>
        </p:spPr>
      </p:sp>
      <p:sp>
        <p:nvSpPr>
          <p:cNvPr id="24" name="r-2-circle"/>
          <p:cNvSpPr/>
          <p:nvPr/>
        </p:nvSpPr>
        <p:spPr>
          <a:xfrm>
            <a:off x="4882896" y="2148840"/>
            <a:ext cx="594360" cy="594360"/>
          </a:xfrm>
          <a:prstGeom prst="ellipse">
            <a:avLst/>
          </a:prstGeom>
          <a:solidFill>
            <a:srgbClr val="102A43"/>
          </a:solidFill>
          <a:ln/>
        </p:spPr>
      </p:sp>
      <p:pic>
        <p:nvPicPr>
          <p:cNvPr id="25" name="r-2-icon" descr="preencoded.png"/>
          <p:cNvPicPr>
            <a:picLocks noChangeAspect="1"/>
          </p:cNvPicPr>
          <p:nvPr/>
        </p:nvPicPr>
        <p:blipFill>
          <a:blip r:embed="rId5"/>
          <a:stretch>
            <a:fillRect/>
          </a:stretch>
        </p:blipFill>
        <p:spPr>
          <a:xfrm>
            <a:off x="5013655" y="2279599"/>
            <a:ext cx="332842" cy="332842"/>
          </a:xfrm>
          <a:prstGeom prst="rect">
            <a:avLst/>
          </a:prstGeom>
        </p:spPr>
      </p:pic>
      <p:sp>
        <p:nvSpPr>
          <p:cNvPr id="26" name="r-t2"/>
          <p:cNvSpPr txBox="1"/>
          <p:nvPr/>
        </p:nvSpPr>
        <p:spPr>
          <a:xfrm>
            <a:off x="4334256" y="2834640"/>
            <a:ext cx="1691640" cy="320040"/>
          </a:xfrm>
          <a:prstGeom prst="rect">
            <a:avLst/>
          </a:prstGeom>
          <a:noFill/>
          <a:ln/>
        </p:spPr>
        <p:txBody>
          <a:bodyPr wrap="square" lIns="0" tIns="0" rIns="0" bIns="0" rtlCol="0" anchor="ctr"/>
          <a:lstStyle/>
          <a:p>
            <a:pPr marL="0" indent="0" algn="ctr">
              <a:buNone/>
            </a:pPr>
            <a:r>
              <a:rPr lang="en-US" sz="1400" b="1" dirty="0">
                <a:solidFill>
                  <a:schemeClr val="tx2"/>
                </a:solidFill>
              </a:rPr>
              <a:t>Rerank</a:t>
            </a:r>
            <a:endParaRPr lang="en-US" sz="1400" dirty="0"/>
          </a:p>
        </p:txBody>
      </p:sp>
      <p:sp>
        <p:nvSpPr>
          <p:cNvPr id="27" name="r-d2"/>
          <p:cNvSpPr txBox="1"/>
          <p:nvPr/>
        </p:nvSpPr>
        <p:spPr>
          <a:xfrm>
            <a:off x="4334256" y="3154680"/>
            <a:ext cx="1691640" cy="548640"/>
          </a:xfrm>
          <a:prstGeom prst="rect">
            <a:avLst/>
          </a:prstGeom>
          <a:noFill/>
          <a:ln/>
        </p:spPr>
        <p:txBody>
          <a:bodyPr wrap="square" lIns="0" tIns="0" rIns="0" bIns="0" rtlCol="0" anchor="t"/>
          <a:lstStyle/>
          <a:p>
            <a:pPr marL="0" indent="0" algn="ctr">
              <a:buNone/>
            </a:pPr>
            <a:r>
              <a:rPr lang="en-US" sz="1100" dirty="0">
                <a:solidFill>
                  <a:schemeClr val="accent4"/>
                </a:solidFill>
              </a:rPr>
              <a:t>14 features + RF</a:t>
            </a:r>
            <a:endParaRPr lang="en-US" sz="1100" dirty="0"/>
          </a:p>
          <a:p>
            <a:pPr marL="0" indent="0" algn="ctr">
              <a:buNone/>
            </a:pPr>
            <a:r>
              <a:rPr lang="en-US" sz="1100" dirty="0">
                <a:solidFill>
                  <a:schemeClr val="accent4"/>
                </a:solidFill>
              </a:rPr>
              <a:t>0.75·E[rel] + 0.25·sim</a:t>
            </a:r>
            <a:endParaRPr lang="en-US" sz="1100" dirty="0"/>
          </a:p>
        </p:txBody>
      </p:sp>
      <p:sp>
        <p:nvSpPr>
          <p:cNvPr id="28" name="r-a2"/>
          <p:cNvSpPr/>
          <p:nvPr/>
        </p:nvSpPr>
        <p:spPr>
          <a:xfrm>
            <a:off x="5568696" y="2446020"/>
            <a:ext cx="1161288" cy="0"/>
          </a:xfrm>
          <a:prstGeom prst="line">
            <a:avLst/>
          </a:prstGeom>
          <a:noFill/>
          <a:ln w="19050">
            <a:solidFill>
              <a:srgbClr val="627D98"/>
            </a:solidFill>
            <a:prstDash val="solid"/>
            <a:tailEnd type="triangle"/>
          </a:ln>
        </p:spPr>
      </p:sp>
      <p:sp>
        <p:nvSpPr>
          <p:cNvPr id="29" name="r-3-circle"/>
          <p:cNvSpPr/>
          <p:nvPr/>
        </p:nvSpPr>
        <p:spPr>
          <a:xfrm>
            <a:off x="6775704" y="2148840"/>
            <a:ext cx="594360" cy="594360"/>
          </a:xfrm>
          <a:prstGeom prst="ellipse">
            <a:avLst/>
          </a:prstGeom>
          <a:solidFill>
            <a:srgbClr val="102A43"/>
          </a:solidFill>
          <a:ln/>
        </p:spPr>
      </p:sp>
      <p:pic>
        <p:nvPicPr>
          <p:cNvPr id="30" name="r-3-icon" descr="preencoded.png"/>
          <p:cNvPicPr>
            <a:picLocks noChangeAspect="1"/>
          </p:cNvPicPr>
          <p:nvPr/>
        </p:nvPicPr>
        <p:blipFill>
          <a:blip r:embed="rId6"/>
          <a:stretch>
            <a:fillRect/>
          </a:stretch>
        </p:blipFill>
        <p:spPr>
          <a:xfrm>
            <a:off x="6906463" y="2279599"/>
            <a:ext cx="332842" cy="332842"/>
          </a:xfrm>
          <a:prstGeom prst="rect">
            <a:avLst/>
          </a:prstGeom>
        </p:spPr>
      </p:pic>
      <p:sp>
        <p:nvSpPr>
          <p:cNvPr id="31" name="r-t3"/>
          <p:cNvSpPr txBox="1"/>
          <p:nvPr/>
        </p:nvSpPr>
        <p:spPr>
          <a:xfrm>
            <a:off x="6227064" y="2834640"/>
            <a:ext cx="1691640" cy="320040"/>
          </a:xfrm>
          <a:prstGeom prst="rect">
            <a:avLst/>
          </a:prstGeom>
          <a:noFill/>
          <a:ln/>
        </p:spPr>
        <p:txBody>
          <a:bodyPr wrap="square" lIns="0" tIns="0" rIns="0" bIns="0" rtlCol="0" anchor="ctr"/>
          <a:lstStyle/>
          <a:p>
            <a:pPr marL="0" indent="0" algn="ctr">
              <a:buNone/>
            </a:pPr>
            <a:r>
              <a:rPr lang="en-US" sz="1400" b="1" dirty="0">
                <a:solidFill>
                  <a:schemeClr val="tx2"/>
                </a:solidFill>
              </a:rPr>
              <a:t>Top-3 evidence</a:t>
            </a:r>
            <a:endParaRPr lang="en-US" sz="1400" dirty="0"/>
          </a:p>
        </p:txBody>
      </p:sp>
      <p:sp>
        <p:nvSpPr>
          <p:cNvPr id="32" name="r-d3"/>
          <p:cNvSpPr txBox="1"/>
          <p:nvPr/>
        </p:nvSpPr>
        <p:spPr>
          <a:xfrm>
            <a:off x="6227064" y="3154680"/>
            <a:ext cx="1691640" cy="548640"/>
          </a:xfrm>
          <a:prstGeom prst="rect">
            <a:avLst/>
          </a:prstGeom>
          <a:noFill/>
          <a:ln/>
        </p:spPr>
        <p:txBody>
          <a:bodyPr wrap="square" lIns="0" tIns="0" rIns="0" bIns="0" rtlCol="0" anchor="t"/>
          <a:lstStyle/>
          <a:p>
            <a:pPr marL="0" indent="0" algn="ctr">
              <a:buNone/>
            </a:pPr>
            <a:r>
              <a:rPr lang="en-US" sz="1100" dirty="0">
                <a:solidFill>
                  <a:schemeClr val="accent4"/>
                </a:solidFill>
              </a:rPr>
              <a:t>ranked, with</a:t>
            </a:r>
            <a:endParaRPr lang="en-US" sz="1100" dirty="0"/>
          </a:p>
          <a:p>
            <a:pPr marL="0" indent="0" algn="ctr">
              <a:buNone/>
            </a:pPr>
            <a:r>
              <a:rPr lang="en-US" sz="1100" dirty="0">
                <a:solidFill>
                  <a:schemeClr val="accent4"/>
                </a:solidFill>
              </a:rPr>
              <a:t>probabilities</a:t>
            </a:r>
            <a:endParaRPr lang="en-US" sz="1100" dirty="0"/>
          </a:p>
        </p:txBody>
      </p:sp>
      <p:sp>
        <p:nvSpPr>
          <p:cNvPr id="33" name="r-a3"/>
          <p:cNvSpPr/>
          <p:nvPr/>
        </p:nvSpPr>
        <p:spPr>
          <a:xfrm>
            <a:off x="7461504" y="2446020"/>
            <a:ext cx="1161288" cy="0"/>
          </a:xfrm>
          <a:prstGeom prst="line">
            <a:avLst/>
          </a:prstGeom>
          <a:noFill/>
          <a:ln w="19050">
            <a:solidFill>
              <a:srgbClr val="627D98"/>
            </a:solidFill>
            <a:prstDash val="solid"/>
            <a:tailEnd type="triangle"/>
          </a:ln>
        </p:spPr>
      </p:sp>
      <p:sp>
        <p:nvSpPr>
          <p:cNvPr id="34" name="r-4-circle"/>
          <p:cNvSpPr/>
          <p:nvPr/>
        </p:nvSpPr>
        <p:spPr>
          <a:xfrm>
            <a:off x="8668512" y="2148840"/>
            <a:ext cx="594360" cy="594360"/>
          </a:xfrm>
          <a:prstGeom prst="ellipse">
            <a:avLst/>
          </a:prstGeom>
          <a:solidFill>
            <a:srgbClr val="0F7C7A"/>
          </a:solidFill>
          <a:ln/>
        </p:spPr>
      </p:sp>
      <p:pic>
        <p:nvPicPr>
          <p:cNvPr id="35" name="r-4-icon" descr="preencoded.png"/>
          <p:cNvPicPr>
            <a:picLocks noChangeAspect="1"/>
          </p:cNvPicPr>
          <p:nvPr/>
        </p:nvPicPr>
        <p:blipFill>
          <a:blip r:embed="rId7"/>
          <a:stretch>
            <a:fillRect/>
          </a:stretch>
        </p:blipFill>
        <p:spPr>
          <a:xfrm>
            <a:off x="8799271" y="2279599"/>
            <a:ext cx="332842" cy="332842"/>
          </a:xfrm>
          <a:prstGeom prst="rect">
            <a:avLst/>
          </a:prstGeom>
        </p:spPr>
      </p:pic>
      <p:sp>
        <p:nvSpPr>
          <p:cNvPr id="36" name="r-t4"/>
          <p:cNvSpPr txBox="1"/>
          <p:nvPr/>
        </p:nvSpPr>
        <p:spPr>
          <a:xfrm>
            <a:off x="8119872" y="2834640"/>
            <a:ext cx="1691640" cy="320040"/>
          </a:xfrm>
          <a:prstGeom prst="rect">
            <a:avLst/>
          </a:prstGeom>
          <a:noFill/>
          <a:ln/>
        </p:spPr>
        <p:txBody>
          <a:bodyPr wrap="square" lIns="0" tIns="0" rIns="0" bIns="0" rtlCol="0" anchor="ctr"/>
          <a:lstStyle/>
          <a:p>
            <a:pPr marL="0" indent="0" algn="ctr">
              <a:buNone/>
            </a:pPr>
            <a:r>
              <a:rPr lang="en-US" sz="1400" b="1" dirty="0">
                <a:solidFill>
                  <a:schemeClr val="tx2"/>
                </a:solidFill>
              </a:rPr>
              <a:t>Answer</a:t>
            </a:r>
            <a:endParaRPr lang="en-US" sz="1400" dirty="0"/>
          </a:p>
        </p:txBody>
      </p:sp>
      <p:sp>
        <p:nvSpPr>
          <p:cNvPr id="37" name="r-d4"/>
          <p:cNvSpPr txBox="1"/>
          <p:nvPr/>
        </p:nvSpPr>
        <p:spPr>
          <a:xfrm>
            <a:off x="8119872" y="3154680"/>
            <a:ext cx="1691640" cy="548640"/>
          </a:xfrm>
          <a:prstGeom prst="rect">
            <a:avLst/>
          </a:prstGeom>
          <a:noFill/>
          <a:ln/>
        </p:spPr>
        <p:txBody>
          <a:bodyPr wrap="square" lIns="0" tIns="0" rIns="0" bIns="0" rtlCol="0" anchor="t"/>
          <a:lstStyle/>
          <a:p>
            <a:pPr marL="0" indent="0" algn="ctr">
              <a:buNone/>
            </a:pPr>
            <a:r>
              <a:rPr lang="en-US" sz="1100" dirty="0">
                <a:solidFill>
                  <a:schemeClr val="accent4"/>
                </a:solidFill>
              </a:rPr>
              <a:t>verbatim evidence</a:t>
            </a:r>
            <a:endParaRPr lang="en-US" sz="1100" dirty="0"/>
          </a:p>
          <a:p>
            <a:pPr marL="0" indent="0" algn="ctr">
              <a:buNone/>
            </a:pPr>
            <a:r>
              <a:rPr lang="en-US" sz="1100" dirty="0">
                <a:solidFill>
                  <a:schemeClr val="accent4"/>
                </a:solidFill>
              </a:rPr>
              <a:t>if P(fully) ≥ 0.35</a:t>
            </a:r>
            <a:endParaRPr lang="en-US" sz="1100" dirty="0"/>
          </a:p>
        </p:txBody>
      </p:sp>
      <p:sp>
        <p:nvSpPr>
          <p:cNvPr id="38" name="r-5-circle"/>
          <p:cNvSpPr/>
          <p:nvPr/>
        </p:nvSpPr>
        <p:spPr>
          <a:xfrm>
            <a:off x="10561320" y="2148840"/>
            <a:ext cx="594360" cy="594360"/>
          </a:xfrm>
          <a:prstGeom prst="ellipse">
            <a:avLst/>
          </a:prstGeom>
          <a:solidFill>
            <a:srgbClr val="C8553D"/>
          </a:solidFill>
          <a:ln/>
        </p:spPr>
      </p:sp>
      <p:pic>
        <p:nvPicPr>
          <p:cNvPr id="39" name="r-5-icon" descr="preencoded.png"/>
          <p:cNvPicPr>
            <a:picLocks noChangeAspect="1"/>
          </p:cNvPicPr>
          <p:nvPr/>
        </p:nvPicPr>
        <p:blipFill>
          <a:blip r:embed="rId8"/>
          <a:stretch>
            <a:fillRect/>
          </a:stretch>
        </p:blipFill>
        <p:spPr>
          <a:xfrm>
            <a:off x="10692079" y="2279599"/>
            <a:ext cx="332842" cy="332842"/>
          </a:xfrm>
          <a:prstGeom prst="rect">
            <a:avLst/>
          </a:prstGeom>
        </p:spPr>
      </p:pic>
      <p:sp>
        <p:nvSpPr>
          <p:cNvPr id="40" name="r-t5"/>
          <p:cNvSpPr txBox="1"/>
          <p:nvPr/>
        </p:nvSpPr>
        <p:spPr>
          <a:xfrm>
            <a:off x="10012680" y="2834640"/>
            <a:ext cx="1691640" cy="320040"/>
          </a:xfrm>
          <a:prstGeom prst="rect">
            <a:avLst/>
          </a:prstGeom>
          <a:noFill/>
          <a:ln/>
        </p:spPr>
        <p:txBody>
          <a:bodyPr wrap="square" lIns="0" tIns="0" rIns="0" bIns="0" rtlCol="0" anchor="ctr"/>
          <a:lstStyle/>
          <a:p>
            <a:pPr marL="0" indent="0" algn="ctr">
              <a:buNone/>
            </a:pPr>
            <a:r>
              <a:rPr lang="en-US" sz="1400" b="1" dirty="0">
                <a:solidFill>
                  <a:schemeClr val="tx2"/>
                </a:solidFill>
              </a:rPr>
              <a:t>Abstain</a:t>
            </a:r>
            <a:endParaRPr lang="en-US" sz="1400" dirty="0"/>
          </a:p>
        </p:txBody>
      </p:sp>
      <p:sp>
        <p:nvSpPr>
          <p:cNvPr id="41" name="r-d5"/>
          <p:cNvSpPr txBox="1"/>
          <p:nvPr/>
        </p:nvSpPr>
        <p:spPr>
          <a:xfrm>
            <a:off x="10012680" y="3154680"/>
            <a:ext cx="1691640" cy="548640"/>
          </a:xfrm>
          <a:prstGeom prst="rect">
            <a:avLst/>
          </a:prstGeom>
          <a:noFill/>
          <a:ln/>
        </p:spPr>
        <p:txBody>
          <a:bodyPr wrap="square" lIns="0" tIns="0" rIns="0" bIns="0" rtlCol="0" anchor="t"/>
          <a:lstStyle/>
          <a:p>
            <a:pPr marL="0" indent="0" algn="ctr">
              <a:buNone/>
            </a:pPr>
            <a:r>
              <a:rPr lang="en-US" sz="1100" dirty="0">
                <a:solidFill>
                  <a:schemeClr val="accent4"/>
                </a:solidFill>
              </a:rPr>
              <a:t>low confidence or</a:t>
            </a:r>
            <a:endParaRPr lang="en-US" sz="1100" dirty="0"/>
          </a:p>
          <a:p>
            <a:pPr marL="0" indent="0" algn="ctr">
              <a:buNone/>
            </a:pPr>
            <a:r>
              <a:rPr lang="en-US" sz="1100" dirty="0">
                <a:solidFill>
                  <a:schemeClr val="accent4"/>
                </a:solidFill>
              </a:rPr>
              <a:t>unknown product</a:t>
            </a:r>
            <a:endParaRPr lang="en-US" sz="1100" dirty="0"/>
          </a:p>
        </p:txBody>
      </p:sp>
      <p:sp>
        <p:nvSpPr>
          <p:cNvPr id="42" name="rs-card"/>
          <p:cNvSpPr/>
          <p:nvPr/>
        </p:nvSpPr>
        <p:spPr>
          <a:xfrm>
            <a:off x="548640" y="3931920"/>
            <a:ext cx="6949440" cy="2148840"/>
          </a:xfrm>
          <a:prstGeom prst="roundRect">
            <a:avLst>
              <a:gd name="adj" fmla="val 5106"/>
            </a:avLst>
          </a:prstGeom>
          <a:solidFill>
            <a:srgbClr val="EEF3F7"/>
          </a:solidFill>
          <a:ln w="9525">
            <a:solidFill>
              <a:srgbClr val="EEF3F7"/>
            </a:solidFill>
            <a:prstDash val="solid"/>
          </a:ln>
        </p:spPr>
      </p:sp>
      <p:sp>
        <p:nvSpPr>
          <p:cNvPr id="43" name="rs-h"/>
          <p:cNvSpPr txBox="1"/>
          <p:nvPr/>
        </p:nvSpPr>
        <p:spPr>
          <a:xfrm>
            <a:off x="777240" y="4023360"/>
            <a:ext cx="6400800" cy="320040"/>
          </a:xfrm>
          <a:prstGeom prst="rect">
            <a:avLst/>
          </a:prstGeom>
          <a:noFill/>
          <a:ln/>
        </p:spPr>
        <p:txBody>
          <a:bodyPr wrap="square" lIns="0" tIns="0" rIns="0" bIns="0" rtlCol="0" anchor="ctr"/>
          <a:lstStyle/>
          <a:p>
            <a:pPr marL="0" indent="0">
              <a:buNone/>
            </a:pPr>
            <a:r>
              <a:rPr lang="en-US" sz="1400" b="1" dirty="0">
                <a:solidFill>
                  <a:schemeClr val="tx2"/>
                </a:solidFill>
              </a:rPr>
              <a:t>Known-query evaluation (50 queries)</a:t>
            </a:r>
            <a:endParaRPr lang="en-US" sz="1400" dirty="0"/>
          </a:p>
        </p:txBody>
      </p:sp>
      <p:sp>
        <p:nvSpPr>
          <p:cNvPr id="44" name="rs-0-v"/>
          <p:cNvSpPr txBox="1"/>
          <p:nvPr/>
        </p:nvSpPr>
        <p:spPr>
          <a:xfrm>
            <a:off x="777240" y="4389120"/>
            <a:ext cx="1554480" cy="640080"/>
          </a:xfrm>
          <a:prstGeom prst="rect">
            <a:avLst/>
          </a:prstGeom>
          <a:noFill/>
          <a:ln/>
        </p:spPr>
        <p:txBody>
          <a:bodyPr wrap="square" lIns="0" tIns="0" rIns="0" bIns="0" rtlCol="0" anchor="b"/>
          <a:lstStyle/>
          <a:p>
            <a:pPr marL="0" indent="0">
              <a:buNone/>
            </a:pPr>
            <a:r>
              <a:rPr lang="en-US" sz="3000" b="1" dirty="0">
                <a:solidFill>
                  <a:srgbClr val="102A43"/>
                </a:solidFill>
                <a:latin typeface="Cambria" pitchFamily="34" charset="0"/>
                <a:ea typeface="Cambria" pitchFamily="34" charset="-122"/>
                <a:cs typeface="Cambria" pitchFamily="34" charset="-120"/>
              </a:rPr>
              <a:t>0.54</a:t>
            </a:r>
            <a:endParaRPr lang="en-US" sz="3000" dirty="0"/>
          </a:p>
        </p:txBody>
      </p:sp>
      <p:sp>
        <p:nvSpPr>
          <p:cNvPr id="45" name="rs-0-l"/>
          <p:cNvSpPr txBox="1"/>
          <p:nvPr/>
        </p:nvSpPr>
        <p:spPr>
          <a:xfrm>
            <a:off x="777240" y="5047488"/>
            <a:ext cx="1554480" cy="457200"/>
          </a:xfrm>
          <a:prstGeom prst="rect">
            <a:avLst/>
          </a:prstGeom>
          <a:noFill/>
          <a:ln/>
        </p:spPr>
        <p:txBody>
          <a:bodyPr wrap="square" lIns="0" tIns="0" rIns="0" bIns="0" rtlCol="0" anchor="t"/>
          <a:lstStyle/>
          <a:p>
            <a:pPr marL="0" indent="0">
              <a:buNone/>
            </a:pPr>
            <a:r>
              <a:rPr lang="en-US" sz="1200" dirty="0">
                <a:solidFill>
                  <a:schemeClr val="accent4"/>
                </a:solidFill>
              </a:rPr>
              <a:t>Recall@3</a:t>
            </a:r>
            <a:endParaRPr lang="en-US" sz="1200" dirty="0"/>
          </a:p>
          <a:p>
            <a:pPr marL="0" indent="0">
              <a:buNone/>
            </a:pPr>
            <a:r>
              <a:rPr lang="en-US" sz="1200" dirty="0">
                <a:solidFill>
                  <a:schemeClr val="accent4"/>
                </a:solidFill>
              </a:rPr>
              <a:t>(gate ≥ 0.40)</a:t>
            </a:r>
            <a:endParaRPr lang="en-US" sz="1200" dirty="0"/>
          </a:p>
        </p:txBody>
      </p:sp>
      <p:sp>
        <p:nvSpPr>
          <p:cNvPr id="46" name="rs-1-v"/>
          <p:cNvSpPr txBox="1"/>
          <p:nvPr/>
        </p:nvSpPr>
        <p:spPr>
          <a:xfrm>
            <a:off x="2450592" y="4389120"/>
            <a:ext cx="1554480" cy="640080"/>
          </a:xfrm>
          <a:prstGeom prst="rect">
            <a:avLst/>
          </a:prstGeom>
          <a:noFill/>
          <a:ln/>
        </p:spPr>
        <p:txBody>
          <a:bodyPr wrap="square" lIns="0" tIns="0" rIns="0" bIns="0" rtlCol="0" anchor="b"/>
          <a:lstStyle/>
          <a:p>
            <a:pPr marL="0" indent="0">
              <a:buNone/>
            </a:pPr>
            <a:r>
              <a:rPr lang="en-US" sz="3000" b="1" dirty="0">
                <a:solidFill>
                  <a:srgbClr val="0F7C7A"/>
                </a:solidFill>
                <a:latin typeface="Cambria" pitchFamily="34" charset="0"/>
                <a:ea typeface="Cambria" pitchFamily="34" charset="-122"/>
                <a:cs typeface="Cambria" pitchFamily="34" charset="-120"/>
              </a:rPr>
              <a:t>100%</a:t>
            </a:r>
            <a:endParaRPr lang="en-US" sz="3000" dirty="0"/>
          </a:p>
        </p:txBody>
      </p:sp>
      <p:sp>
        <p:nvSpPr>
          <p:cNvPr id="47" name="rs-1-l"/>
          <p:cNvSpPr txBox="1"/>
          <p:nvPr/>
        </p:nvSpPr>
        <p:spPr>
          <a:xfrm>
            <a:off x="2450592" y="5047488"/>
            <a:ext cx="1554480" cy="457200"/>
          </a:xfrm>
          <a:prstGeom prst="rect">
            <a:avLst/>
          </a:prstGeom>
          <a:noFill/>
          <a:ln/>
        </p:spPr>
        <p:txBody>
          <a:bodyPr wrap="square" lIns="0" tIns="0" rIns="0" bIns="0" rtlCol="0" anchor="t"/>
          <a:lstStyle/>
          <a:p>
            <a:pPr marL="0" indent="0">
              <a:buNone/>
            </a:pPr>
            <a:r>
              <a:rPr lang="en-US" sz="1200" dirty="0">
                <a:solidFill>
                  <a:schemeClr val="accent4"/>
                </a:solidFill>
              </a:rPr>
              <a:t>grounded</a:t>
            </a:r>
            <a:endParaRPr lang="en-US" sz="1200" dirty="0"/>
          </a:p>
          <a:p>
            <a:pPr marL="0" indent="0">
              <a:buNone/>
            </a:pPr>
            <a:r>
              <a:rPr lang="en-US" sz="1200" dirty="0">
                <a:solidFill>
                  <a:schemeClr val="accent4"/>
                </a:solidFill>
              </a:rPr>
              <a:t>responses</a:t>
            </a:r>
            <a:endParaRPr lang="en-US" sz="1200" dirty="0"/>
          </a:p>
        </p:txBody>
      </p:sp>
      <p:sp>
        <p:nvSpPr>
          <p:cNvPr id="48" name="rs-2-v"/>
          <p:cNvSpPr txBox="1"/>
          <p:nvPr/>
        </p:nvSpPr>
        <p:spPr>
          <a:xfrm>
            <a:off x="4123944" y="4389120"/>
            <a:ext cx="1554480" cy="640080"/>
          </a:xfrm>
          <a:prstGeom prst="rect">
            <a:avLst/>
          </a:prstGeom>
          <a:noFill/>
          <a:ln/>
        </p:spPr>
        <p:txBody>
          <a:bodyPr wrap="square" lIns="0" tIns="0" rIns="0" bIns="0" rtlCol="0" anchor="b"/>
          <a:lstStyle/>
          <a:p>
            <a:pPr marL="0" indent="0">
              <a:buNone/>
            </a:pPr>
            <a:r>
              <a:rPr lang="en-US" sz="3000" b="1" dirty="0">
                <a:solidFill>
                  <a:srgbClr val="102A43"/>
                </a:solidFill>
                <a:latin typeface="Cambria" pitchFamily="34" charset="0"/>
                <a:ea typeface="Cambria" pitchFamily="34" charset="-122"/>
                <a:cs typeface="Cambria" pitchFamily="34" charset="-120"/>
              </a:rPr>
              <a:t>98%</a:t>
            </a:r>
            <a:endParaRPr lang="en-US" sz="3000" dirty="0"/>
          </a:p>
        </p:txBody>
      </p:sp>
      <p:sp>
        <p:nvSpPr>
          <p:cNvPr id="49" name="rs-2-l"/>
          <p:cNvSpPr txBox="1"/>
          <p:nvPr/>
        </p:nvSpPr>
        <p:spPr>
          <a:xfrm>
            <a:off x="4123944" y="5047488"/>
            <a:ext cx="1554480" cy="457200"/>
          </a:xfrm>
          <a:prstGeom prst="rect">
            <a:avLst/>
          </a:prstGeom>
          <a:noFill/>
          <a:ln/>
        </p:spPr>
        <p:txBody>
          <a:bodyPr wrap="square" lIns="0" tIns="0" rIns="0" bIns="0" rtlCol="0" anchor="t"/>
          <a:lstStyle/>
          <a:p>
            <a:pPr marL="0" indent="0">
              <a:buNone/>
            </a:pPr>
            <a:r>
              <a:rPr lang="en-US" sz="1200" dirty="0">
                <a:solidFill>
                  <a:schemeClr val="accent4"/>
                </a:solidFill>
              </a:rPr>
              <a:t>answer rate</a:t>
            </a:r>
            <a:endParaRPr lang="en-US" sz="1200" dirty="0"/>
          </a:p>
        </p:txBody>
      </p:sp>
      <p:sp>
        <p:nvSpPr>
          <p:cNvPr id="50" name="rs-3-v"/>
          <p:cNvSpPr txBox="1"/>
          <p:nvPr/>
        </p:nvSpPr>
        <p:spPr>
          <a:xfrm>
            <a:off x="5797296" y="4389120"/>
            <a:ext cx="1554480" cy="640080"/>
          </a:xfrm>
          <a:prstGeom prst="rect">
            <a:avLst/>
          </a:prstGeom>
          <a:noFill/>
          <a:ln/>
        </p:spPr>
        <p:txBody>
          <a:bodyPr wrap="square" lIns="0" tIns="0" rIns="0" bIns="0" rtlCol="0" anchor="b"/>
          <a:lstStyle/>
          <a:p>
            <a:pPr marL="0" indent="0">
              <a:buNone/>
            </a:pPr>
            <a:r>
              <a:rPr lang="en-US" sz="3000" b="1" dirty="0">
                <a:solidFill>
                  <a:srgbClr val="102A43"/>
                </a:solidFill>
                <a:latin typeface="Cambria" pitchFamily="34" charset="0"/>
                <a:ea typeface="Cambria" pitchFamily="34" charset="-122"/>
                <a:cs typeface="Cambria" pitchFamily="34" charset="-120"/>
              </a:rPr>
              <a:t>84 ms</a:t>
            </a:r>
            <a:endParaRPr lang="en-US" sz="3000" dirty="0"/>
          </a:p>
        </p:txBody>
      </p:sp>
      <p:sp>
        <p:nvSpPr>
          <p:cNvPr id="51" name="rs-3-l"/>
          <p:cNvSpPr txBox="1"/>
          <p:nvPr/>
        </p:nvSpPr>
        <p:spPr>
          <a:xfrm>
            <a:off x="5797296" y="5047488"/>
            <a:ext cx="1554480" cy="457200"/>
          </a:xfrm>
          <a:prstGeom prst="rect">
            <a:avLst/>
          </a:prstGeom>
          <a:noFill/>
          <a:ln/>
        </p:spPr>
        <p:txBody>
          <a:bodyPr wrap="square" lIns="0" tIns="0" rIns="0" bIns="0" rtlCol="0" anchor="t"/>
          <a:lstStyle/>
          <a:p>
            <a:pPr marL="0" indent="0">
              <a:buNone/>
            </a:pPr>
            <a:r>
              <a:rPr lang="en-US" sz="1200" dirty="0">
                <a:solidFill>
                  <a:schemeClr val="accent4"/>
                </a:solidFill>
              </a:rPr>
              <a:t>p50 latency</a:t>
            </a:r>
            <a:endParaRPr lang="en-US" sz="1200" dirty="0"/>
          </a:p>
          <a:p>
            <a:pPr marL="0" indent="0">
              <a:buNone/>
            </a:pPr>
            <a:r>
              <a:rPr lang="en-US" sz="1200" dirty="0">
                <a:solidFill>
                  <a:schemeClr val="accent4"/>
                </a:solidFill>
              </a:rPr>
              <a:t>(p95 97.5 ms)</a:t>
            </a:r>
            <a:endParaRPr lang="en-US" sz="1200" dirty="0"/>
          </a:p>
        </p:txBody>
      </p:sp>
      <p:sp>
        <p:nvSpPr>
          <p:cNvPr id="52" name="ex-card"/>
          <p:cNvSpPr/>
          <p:nvPr/>
        </p:nvSpPr>
        <p:spPr>
          <a:xfrm>
            <a:off x="7772400" y="3931920"/>
            <a:ext cx="3867912" cy="2148840"/>
          </a:xfrm>
          <a:prstGeom prst="roundRect">
            <a:avLst>
              <a:gd name="adj" fmla="val 5106"/>
            </a:avLst>
          </a:prstGeom>
          <a:solidFill>
            <a:srgbClr val="102A43"/>
          </a:solidFill>
          <a:ln w="9525">
            <a:solidFill>
              <a:srgbClr val="EEF3F7"/>
            </a:solidFill>
            <a:prstDash val="solid"/>
          </a:ln>
        </p:spPr>
      </p:sp>
      <p:sp>
        <p:nvSpPr>
          <p:cNvPr id="53" name="ex-t"/>
          <p:cNvSpPr txBox="1"/>
          <p:nvPr/>
        </p:nvSpPr>
        <p:spPr>
          <a:xfrm>
            <a:off x="8001000" y="4069080"/>
            <a:ext cx="3474720" cy="1920240"/>
          </a:xfrm>
          <a:prstGeom prst="rect">
            <a:avLst/>
          </a:prstGeom>
          <a:noFill/>
          <a:ln/>
        </p:spPr>
        <p:txBody>
          <a:bodyPr wrap="square" lIns="0" tIns="0" rIns="0" bIns="0" rtlCol="0" anchor="t"/>
          <a:lstStyle/>
          <a:p>
            <a:pPr marL="0" indent="0">
              <a:spcAft>
                <a:spcPts val="600"/>
              </a:spcAft>
              <a:buNone/>
            </a:pPr>
            <a:r>
              <a:rPr lang="en-US" sz="1200" b="1" dirty="0">
                <a:solidFill>
                  <a:srgbClr val="E8A33D"/>
                </a:solidFill>
              </a:rPr>
              <a:t>Live example  ·  ASIN B00E37TR5U</a:t>
            </a:r>
            <a:endParaRPr lang="en-US" sz="1200" dirty="0"/>
          </a:p>
          <a:p>
            <a:pPr marL="0" indent="0">
              <a:spcAft>
                <a:spcPts val="600"/>
              </a:spcAft>
              <a:buNone/>
            </a:pPr>
            <a:r>
              <a:rPr lang="en-US" sz="1300" dirty="0">
                <a:solidFill>
                  <a:schemeClr val="bg1"/>
                </a:solidFill>
              </a:rPr>
              <a:t>Q: “With normal usage, how long does this filter last before replacement is needed?”</a:t>
            </a:r>
            <a:endParaRPr lang="en-US" sz="1200" dirty="0"/>
          </a:p>
          <a:p>
            <a:pPr marL="0" indent="0">
              <a:spcAft>
                <a:spcPts val="600"/>
              </a:spcAft>
              <a:buNone/>
            </a:pPr>
            <a:r>
              <a:rPr lang="en-US" sz="1400" b="1" dirty="0">
                <a:solidFill>
                  <a:schemeClr val="bg1"/>
                </a:solidFill>
              </a:rPr>
              <a:t>A: “this is supposed to be a 6 month filter.”</a:t>
            </a:r>
            <a:endParaRPr lang="en-US" sz="1200" dirty="0"/>
          </a:p>
          <a:p>
            <a:pPr marL="0" indent="0">
              <a:spcAft>
                <a:spcPts val="600"/>
              </a:spcAft>
              <a:buNone/>
            </a:pPr>
            <a:r>
              <a:rPr lang="en-US" sz="1100" dirty="0">
                <a:solidFill>
                  <a:srgbClr val="BFE3E0"/>
                </a:solidFill>
              </a:rPr>
              <a:t>Source: review · P(fully answering) 0.54</a:t>
            </a:r>
            <a:endParaRPr lang="en-US" sz="1200" dirty="0"/>
          </a:p>
        </p:txBody>
      </p:sp>
      <p:sp>
        <p:nvSpPr>
          <p:cNvPr id="13"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r"/>
            <a:fld id="{F7021451-1387-4CA6-816F-3879F97B5CBC}" type="slidenum">
              <a:rPr lang="en-US" b="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tepper-line"/>
          <p:cNvSpPr/>
          <p:nvPr/>
        </p:nvSpPr>
        <p:spPr>
          <a:xfrm>
            <a:off x="731520" y="466344"/>
            <a:ext cx="10732313" cy="0"/>
          </a:xfrm>
          <a:prstGeom prst="line">
            <a:avLst/>
          </a:prstGeom>
          <a:noFill/>
          <a:ln w="19050">
            <a:solidFill>
              <a:srgbClr val="BFE3E0"/>
            </a:solidFill>
            <a:prstDash val="solid"/>
          </a:ln>
        </p:spPr>
      </p:sp>
      <p:sp>
        <p:nvSpPr>
          <p:cNvPr id="3" name="step-1"/>
          <p:cNvSpPr/>
          <p:nvPr/>
        </p:nvSpPr>
        <p:spPr>
          <a:xfrm>
            <a:off x="548640" y="292608"/>
            <a:ext cx="1298448" cy="347472"/>
          </a:xfrm>
          <a:prstGeom prst="roundRect">
            <a:avLst>
              <a:gd name="adj" fmla="val 50000"/>
            </a:avLst>
          </a:prstGeom>
          <a:solidFill>
            <a:schemeClr val="accent5"/>
          </a:solidFill>
          <a:ln w="9525">
            <a:solidFill>
              <a:srgbClr val="EEF3F7"/>
            </a:solidFill>
          </a:ln>
        </p:spPr>
        <p:txBody>
          <a:bodyPr wrap="square" lIns="0" tIns="0" rIns="0" bIns="0" rtlCol="0" anchor="ctr"/>
          <a:lstStyle/>
          <a:p>
            <a:pPr marL="0" indent="0" algn="ctr">
              <a:buNone/>
            </a:pPr>
            <a:r>
              <a:rPr lang="en-US" sz="1000" dirty="0">
                <a:solidFill>
                  <a:schemeClr val="tx2"/>
                </a:solidFill>
              </a:rPr>
              <a:t>1  Data collection</a:t>
            </a:r>
            <a:endParaRPr lang="en-US" sz="1000" dirty="0"/>
          </a:p>
        </p:txBody>
      </p:sp>
      <p:sp>
        <p:nvSpPr>
          <p:cNvPr id="4" name="step-2"/>
          <p:cNvSpPr/>
          <p:nvPr/>
        </p:nvSpPr>
        <p:spPr>
          <a:xfrm>
            <a:off x="1948586" y="292608"/>
            <a:ext cx="1298448" cy="347472"/>
          </a:xfrm>
          <a:prstGeom prst="roundRect">
            <a:avLst>
              <a:gd name="adj" fmla="val 50000"/>
            </a:avLst>
          </a:prstGeom>
          <a:solidFill>
            <a:schemeClr val="accent5"/>
          </a:solidFill>
          <a:ln w="9525">
            <a:solidFill>
              <a:srgbClr val="EEF3F7"/>
            </a:solidFill>
          </a:ln>
        </p:spPr>
        <p:txBody>
          <a:bodyPr wrap="square" lIns="0" tIns="0" rIns="0" bIns="0" rtlCol="0" anchor="ctr"/>
          <a:lstStyle/>
          <a:p>
            <a:pPr marL="0" indent="0" algn="ctr">
              <a:buNone/>
            </a:pPr>
            <a:r>
              <a:rPr lang="en-US" sz="1000" dirty="0">
                <a:solidFill>
                  <a:schemeClr val="tx2"/>
                </a:solidFill>
              </a:rPr>
              <a:t>2  Feature engineering</a:t>
            </a:r>
            <a:endParaRPr lang="en-US" sz="1000" dirty="0"/>
          </a:p>
        </p:txBody>
      </p:sp>
      <p:sp>
        <p:nvSpPr>
          <p:cNvPr id="5" name="step-3"/>
          <p:cNvSpPr/>
          <p:nvPr/>
        </p:nvSpPr>
        <p:spPr>
          <a:xfrm>
            <a:off x="3348533" y="292608"/>
            <a:ext cx="1298448" cy="347472"/>
          </a:xfrm>
          <a:prstGeom prst="roundRect">
            <a:avLst>
              <a:gd name="adj" fmla="val 50000"/>
            </a:avLst>
          </a:prstGeom>
          <a:solidFill>
            <a:schemeClr val="accent5"/>
          </a:solidFill>
          <a:ln w="9525">
            <a:solidFill>
              <a:srgbClr val="EEF3F7"/>
            </a:solidFill>
          </a:ln>
        </p:spPr>
        <p:txBody>
          <a:bodyPr wrap="square" lIns="0" tIns="0" rIns="0" bIns="0" rtlCol="0" anchor="ctr"/>
          <a:lstStyle/>
          <a:p>
            <a:pPr marL="0" indent="0" algn="ctr">
              <a:buNone/>
            </a:pPr>
            <a:r>
              <a:rPr lang="en-US" sz="1000" dirty="0">
                <a:solidFill>
                  <a:schemeClr val="tx2"/>
                </a:solidFill>
              </a:rPr>
              <a:t>3  Feature Store</a:t>
            </a:r>
            <a:endParaRPr lang="en-US" sz="1000" dirty="0"/>
          </a:p>
        </p:txBody>
      </p:sp>
      <p:sp>
        <p:nvSpPr>
          <p:cNvPr id="6" name="step-4"/>
          <p:cNvSpPr/>
          <p:nvPr/>
        </p:nvSpPr>
        <p:spPr>
          <a:xfrm>
            <a:off x="4748479" y="292608"/>
            <a:ext cx="1298448" cy="347472"/>
          </a:xfrm>
          <a:prstGeom prst="roundRect">
            <a:avLst>
              <a:gd name="adj" fmla="val 50000"/>
            </a:avLst>
          </a:prstGeom>
          <a:solidFill>
            <a:schemeClr val="accent5"/>
          </a:solidFill>
          <a:ln w="9525">
            <a:solidFill>
              <a:srgbClr val="EEF3F7"/>
            </a:solidFill>
          </a:ln>
        </p:spPr>
        <p:txBody>
          <a:bodyPr wrap="square" lIns="0" tIns="0" rIns="0" bIns="0" rtlCol="0" anchor="ctr"/>
          <a:lstStyle/>
          <a:p>
            <a:pPr marL="0" indent="0" algn="ctr">
              <a:buNone/>
            </a:pPr>
            <a:r>
              <a:rPr lang="en-US" sz="1000" dirty="0">
                <a:solidFill>
                  <a:schemeClr val="tx2"/>
                </a:solidFill>
              </a:rPr>
              <a:t>4  Model development</a:t>
            </a:r>
            <a:endParaRPr lang="en-US" sz="1000" dirty="0"/>
          </a:p>
        </p:txBody>
      </p:sp>
      <p:sp>
        <p:nvSpPr>
          <p:cNvPr id="7" name="step-5"/>
          <p:cNvSpPr/>
          <p:nvPr/>
        </p:nvSpPr>
        <p:spPr>
          <a:xfrm>
            <a:off x="6148426" y="292608"/>
            <a:ext cx="1298448" cy="347472"/>
          </a:xfrm>
          <a:prstGeom prst="roundRect">
            <a:avLst>
              <a:gd name="adj" fmla="val 50000"/>
            </a:avLst>
          </a:prstGeom>
          <a:solidFill>
            <a:schemeClr val="accent5"/>
          </a:solidFill>
          <a:ln w="9525">
            <a:solidFill>
              <a:srgbClr val="EEF3F7"/>
            </a:solidFill>
          </a:ln>
        </p:spPr>
        <p:txBody>
          <a:bodyPr wrap="square" lIns="0" tIns="0" rIns="0" bIns="0" rtlCol="0" anchor="ctr"/>
          <a:lstStyle/>
          <a:p>
            <a:pPr marL="0" indent="0" algn="ctr">
              <a:buNone/>
            </a:pPr>
            <a:r>
              <a:rPr lang="en-US" sz="1000" dirty="0">
                <a:solidFill>
                  <a:schemeClr val="tx2"/>
                </a:solidFill>
              </a:rPr>
              <a:t>5  Evaluation</a:t>
            </a:r>
            <a:endParaRPr lang="en-US" sz="1000" dirty="0"/>
          </a:p>
        </p:txBody>
      </p:sp>
      <p:sp>
        <p:nvSpPr>
          <p:cNvPr id="8" name="step-6"/>
          <p:cNvSpPr/>
          <p:nvPr/>
        </p:nvSpPr>
        <p:spPr>
          <a:xfrm>
            <a:off x="7548372" y="292608"/>
            <a:ext cx="1298448" cy="347472"/>
          </a:xfrm>
          <a:prstGeom prst="roundRect">
            <a:avLst>
              <a:gd name="adj" fmla="val 50000"/>
            </a:avLst>
          </a:prstGeom>
          <a:solidFill>
            <a:schemeClr val="accent5"/>
          </a:solidFill>
          <a:ln w="9525">
            <a:solidFill>
              <a:srgbClr val="EEF3F7"/>
            </a:solidFill>
          </a:ln>
        </p:spPr>
        <p:txBody>
          <a:bodyPr wrap="square" lIns="0" tIns="0" rIns="0" bIns="0" rtlCol="0" anchor="ctr"/>
          <a:lstStyle/>
          <a:p>
            <a:pPr marL="0" indent="0" algn="ctr">
              <a:buNone/>
            </a:pPr>
            <a:r>
              <a:rPr lang="en-US" sz="1000" dirty="0">
                <a:solidFill>
                  <a:schemeClr val="tx2"/>
                </a:solidFill>
              </a:rPr>
              <a:t>6  Monitoring &amp; CI/CD</a:t>
            </a:r>
            <a:endParaRPr lang="en-US" sz="1000" dirty="0"/>
          </a:p>
        </p:txBody>
      </p:sp>
      <p:sp>
        <p:nvSpPr>
          <p:cNvPr id="9" name="step-7"/>
          <p:cNvSpPr/>
          <p:nvPr/>
        </p:nvSpPr>
        <p:spPr>
          <a:xfrm>
            <a:off x="8948318" y="292608"/>
            <a:ext cx="1298448" cy="347472"/>
          </a:xfrm>
          <a:prstGeom prst="roundRect">
            <a:avLst>
              <a:gd name="adj" fmla="val 50000"/>
            </a:avLst>
          </a:prstGeom>
          <a:solidFill>
            <a:schemeClr val="accent5"/>
          </a:solidFill>
          <a:ln w="9525">
            <a:solidFill>
              <a:srgbClr val="EEF3F7"/>
            </a:solidFill>
          </a:ln>
        </p:spPr>
        <p:txBody>
          <a:bodyPr wrap="square" lIns="0" tIns="0" rIns="0" bIns="0" rtlCol="0" anchor="ctr"/>
          <a:lstStyle/>
          <a:p>
            <a:pPr marL="0" indent="0" algn="ctr">
              <a:buNone/>
            </a:pPr>
            <a:r>
              <a:rPr lang="en-US" sz="1000" dirty="0">
                <a:solidFill>
                  <a:schemeClr val="tx2"/>
                </a:solidFill>
              </a:rPr>
              <a:t>7  Deployment</a:t>
            </a:r>
            <a:endParaRPr lang="en-US" sz="1000" dirty="0"/>
          </a:p>
        </p:txBody>
      </p:sp>
      <p:sp>
        <p:nvSpPr>
          <p:cNvPr id="10" name="step-8"/>
          <p:cNvSpPr/>
          <p:nvPr/>
        </p:nvSpPr>
        <p:spPr>
          <a:xfrm>
            <a:off x="10348265" y="292608"/>
            <a:ext cx="1298448" cy="347472"/>
          </a:xfrm>
          <a:prstGeom prst="roundRect">
            <a:avLst>
              <a:gd name="adj" fmla="val 50000"/>
            </a:avLst>
          </a:prstGeom>
          <a:solidFill>
            <a:schemeClr val="accent5"/>
          </a:solidFill>
          <a:ln w="9525">
            <a:solidFill>
              <a:srgbClr val="EEF3F7"/>
            </a:solidFill>
          </a:ln>
        </p:spPr>
        <p:txBody>
          <a:bodyPr wrap="square" lIns="0" tIns="0" rIns="0" bIns="0" rtlCol="0" anchor="ctr"/>
          <a:lstStyle/>
          <a:p>
            <a:pPr marL="0" indent="0" algn="ctr">
              <a:buNone/>
            </a:pPr>
            <a:r>
              <a:rPr lang="en-US" sz="1000" dirty="0">
                <a:solidFill>
                  <a:schemeClr val="tx2"/>
                </a:solidFill>
              </a:rPr>
              <a:t>8  RAG inference</a:t>
            </a:r>
            <a:endParaRPr lang="en-US" sz="1000" dirty="0"/>
          </a:p>
        </p:txBody>
      </p:sp>
      <p:sp>
        <p:nvSpPr>
          <p:cNvPr id="11" name="Text 1"/>
          <p:cNvSpPr>
            <a:spLocks noGrp="1"/>
          </p:cNvSpPr>
          <p:nvPr>
            <p:ph type="body" idx="101" hasCustomPrompt="1"/>
          </p:nvPr>
        </p:nvSpPr>
        <p:spPr>
          <a:xfrm>
            <a:off x="548640" y="868680"/>
            <a:ext cx="10972800" cy="292608"/>
          </a:xfrm>
          <a:prstGeom prst="rect">
            <a:avLst/>
          </a:prstGeom>
          <a:noFill/>
          <a:ln/>
        </p:spPr>
        <p:txBody>
          <a:bodyPr wrap="square" lIns="0" tIns="0" rIns="0" bIns="0" rtlCol="0" anchor="ctr"/>
          <a:lstStyle/>
          <a:p>
            <a:pPr marL="0" indent="0">
              <a:buNone/>
            </a:pPr>
            <a:r>
              <a:rPr lang="en-US" sz="1200" b="1" dirty="0">
                <a:solidFill>
                  <a:schemeClr val="accent1"/>
                </a:solidFill>
              </a:rPr>
              <a:t>CONCLUSION  ·  What we learned, what comes next, and where the pattern applies</a:t>
            </a:r>
            <a:endParaRPr lang="en-US" sz="1200" dirty="0"/>
          </a:p>
        </p:txBody>
      </p:sp>
      <p:sp>
        <p:nvSpPr>
          <p:cNvPr id="12" name="Text 1"/>
          <p:cNvSpPr>
            <a:spLocks noGrp="1"/>
          </p:cNvSpPr>
          <p:nvPr>
            <p:ph type="title" idx="102" hasCustomPrompt="1"/>
          </p:nvPr>
        </p:nvSpPr>
        <p:spPr>
          <a:xfrm>
            <a:off x="548640" y="1161288"/>
            <a:ext cx="11064240" cy="685800"/>
          </a:xfrm>
          <a:prstGeom prst="rect">
            <a:avLst/>
          </a:prstGeom>
          <a:noFill/>
          <a:ln/>
        </p:spPr>
        <p:txBody>
          <a:bodyPr wrap="square" lIns="0" tIns="0" rIns="0" bIns="0" rtlCol="0" anchor="ctr"/>
          <a:lstStyle/>
          <a:p>
            <a:pPr marL="0" indent="0" algn="l">
              <a:buNone/>
            </a:pPr>
            <a:r>
              <a:rPr lang="en-US" sz="3000" b="1" dirty="0">
                <a:solidFill>
                  <a:schemeClr val="tx2"/>
                </a:solidFill>
                <a:latin typeface="Cambria" pitchFamily="34" charset="0"/>
                <a:ea typeface="Cambria" pitchFamily="34" charset="-122"/>
                <a:cs typeface="Cambria" pitchFamily="34" charset="-120"/>
              </a:rPr>
              <a:t>Learnings, next steps and a transferable pattern</a:t>
            </a:r>
            <a:endParaRPr lang="en-US" sz="3000" dirty="0"/>
          </a:p>
        </p:txBody>
      </p:sp>
      <p:sp>
        <p:nvSpPr>
          <p:cNvPr id="14" name="c-card-0"/>
          <p:cNvSpPr/>
          <p:nvPr/>
        </p:nvSpPr>
        <p:spPr>
          <a:xfrm>
            <a:off x="548640" y="2103120"/>
            <a:ext cx="3520440" cy="3291840"/>
          </a:xfrm>
          <a:prstGeom prst="roundRect">
            <a:avLst>
              <a:gd name="adj" fmla="val 3333"/>
            </a:avLst>
          </a:prstGeom>
          <a:solidFill>
            <a:srgbClr val="EEF3F7"/>
          </a:solidFill>
          <a:ln w="9525">
            <a:solidFill>
              <a:srgbClr val="EEF3F7"/>
            </a:solidFill>
            <a:prstDash val="solid"/>
          </a:ln>
        </p:spPr>
      </p:sp>
      <p:sp>
        <p:nvSpPr>
          <p:cNvPr id="15" name="c-0-circle"/>
          <p:cNvSpPr/>
          <p:nvPr/>
        </p:nvSpPr>
        <p:spPr>
          <a:xfrm>
            <a:off x="777240" y="2286000"/>
            <a:ext cx="594360" cy="594360"/>
          </a:xfrm>
          <a:prstGeom prst="ellipse">
            <a:avLst/>
          </a:prstGeom>
          <a:solidFill>
            <a:srgbClr val="0F7C7A"/>
          </a:solidFill>
          <a:ln/>
        </p:spPr>
      </p:sp>
      <p:pic>
        <p:nvPicPr>
          <p:cNvPr id="16" name="c-0-icon" descr="preencoded.png"/>
          <p:cNvPicPr>
            <a:picLocks noChangeAspect="1"/>
          </p:cNvPicPr>
          <p:nvPr/>
        </p:nvPicPr>
        <p:blipFill>
          <a:blip r:embed="rId3"/>
          <a:stretch>
            <a:fillRect/>
          </a:stretch>
        </p:blipFill>
        <p:spPr>
          <a:xfrm>
            <a:off x="907999" y="2416759"/>
            <a:ext cx="332842" cy="332842"/>
          </a:xfrm>
          <a:prstGeom prst="rect">
            <a:avLst/>
          </a:prstGeom>
        </p:spPr>
      </p:pic>
      <p:sp>
        <p:nvSpPr>
          <p:cNvPr id="17" name="c-t0"/>
          <p:cNvSpPr txBox="1"/>
          <p:nvPr/>
        </p:nvSpPr>
        <p:spPr>
          <a:xfrm>
            <a:off x="1508760" y="2286000"/>
            <a:ext cx="2423160" cy="594360"/>
          </a:xfrm>
          <a:prstGeom prst="rect">
            <a:avLst/>
          </a:prstGeom>
          <a:noFill/>
          <a:ln/>
        </p:spPr>
        <p:txBody>
          <a:bodyPr wrap="square" lIns="0" tIns="0" rIns="0" bIns="0" rtlCol="0" anchor="ctr"/>
          <a:lstStyle/>
          <a:p>
            <a:pPr marL="0" indent="0">
              <a:buNone/>
            </a:pPr>
            <a:r>
              <a:rPr lang="en-US" sz="1800" b="1" dirty="0">
                <a:solidFill>
                  <a:schemeClr val="tx2"/>
                </a:solidFill>
              </a:rPr>
              <a:t>Learnings</a:t>
            </a:r>
            <a:endParaRPr lang="en-US" sz="1800" dirty="0"/>
          </a:p>
        </p:txBody>
      </p:sp>
      <p:sp>
        <p:nvSpPr>
          <p:cNvPr id="18" name="c-l0"/>
          <p:cNvSpPr txBox="1"/>
          <p:nvPr/>
        </p:nvSpPr>
        <p:spPr>
          <a:xfrm>
            <a:off x="777240" y="3063240"/>
            <a:ext cx="3154680" cy="2194560"/>
          </a:xfrm>
          <a:prstGeom prst="rect">
            <a:avLst/>
          </a:prstGeom>
          <a:noFill/>
          <a:ln/>
        </p:spPr>
        <p:txBody>
          <a:bodyPr wrap="square" lIns="0" tIns="0" rIns="0" bIns="0" rtlCol="0" anchor="t"/>
          <a:lstStyle/>
          <a:p>
            <a:pPr marL="342900" indent="-342900">
              <a:spcAft>
                <a:spcPts val="500"/>
              </a:spcAft>
              <a:buSzPct val="100000"/>
              <a:buChar char="•"/>
            </a:pPr>
            <a:r>
              <a:rPr lang="en-US" sz="1300" dirty="0">
                <a:solidFill>
                  <a:schemeClr val="tx1"/>
                </a:solidFill>
              </a:rPr>
              <a:t>Leakage control + one feature contract mattered more than model complexity</a:t>
            </a:r>
            <a:endParaRPr lang="en-US" sz="1300" dirty="0"/>
          </a:p>
          <a:p>
            <a:pPr marL="342900" indent="-342900">
              <a:spcAft>
                <a:spcPts val="500"/>
              </a:spcAft>
              <a:buSzPct val="100000"/>
              <a:buChar char="•"/>
            </a:pPr>
            <a:r>
              <a:rPr lang="en-US" sz="1300" dirty="0">
                <a:solidFill>
                  <a:schemeClr val="tx1"/>
                </a:solidFill>
              </a:rPr>
              <a:t>14-feature RF beat the benchmark: +0.068 macro-F1, +0.024 NDCG</a:t>
            </a:r>
            <a:endParaRPr lang="en-US" sz="1300" dirty="0"/>
          </a:p>
          <a:p>
            <a:pPr marL="342900" indent="-342900">
              <a:spcAft>
                <a:spcPts val="500"/>
              </a:spcAft>
              <a:buSzPct val="100000"/>
              <a:buChar char="•"/>
            </a:pPr>
            <a:r>
              <a:rPr lang="en-US" sz="1300" dirty="0">
                <a:solidFill>
                  <a:schemeClr val="tx1"/>
                </a:solidFill>
              </a:rPr>
              <a:t>Receipt-chained S3 lineage: every stage auditable</a:t>
            </a:r>
            <a:endParaRPr lang="en-US" sz="1300" dirty="0"/>
          </a:p>
          <a:p>
            <a:pPr marL="342900" indent="-342900">
              <a:spcAft>
                <a:spcPts val="500"/>
              </a:spcAft>
              <a:buSzPct val="100000"/>
              <a:buChar char="•"/>
            </a:pPr>
            <a:r>
              <a:rPr lang="en-US" sz="1300" dirty="0">
                <a:solidFill>
                  <a:schemeClr val="tx1"/>
                </a:solidFill>
              </a:rPr>
              <a:t>Extractive answers + abstention: 100% grounded</a:t>
            </a:r>
            <a:endParaRPr lang="en-US" sz="1300" dirty="0"/>
          </a:p>
          <a:p>
            <a:pPr marL="342900" indent="-342900">
              <a:spcAft>
                <a:spcPts val="500"/>
              </a:spcAft>
              <a:buSzPct val="100000"/>
              <a:buChar char="•"/>
            </a:pPr>
            <a:r>
              <a:rPr lang="en-US" sz="1300" dirty="0">
                <a:solidFill>
                  <a:schemeClr val="tx1"/>
                </a:solidFill>
              </a:rPr>
              <a:t>Lab limits met with explicit, recorded fallbacks</a:t>
            </a:r>
            <a:endParaRPr lang="en-US" sz="1300" dirty="0"/>
          </a:p>
        </p:txBody>
      </p:sp>
      <p:sp>
        <p:nvSpPr>
          <p:cNvPr id="19" name="c-card-1"/>
          <p:cNvSpPr/>
          <p:nvPr/>
        </p:nvSpPr>
        <p:spPr>
          <a:xfrm>
            <a:off x="4297680" y="2103120"/>
            <a:ext cx="3520440" cy="3291840"/>
          </a:xfrm>
          <a:prstGeom prst="roundRect">
            <a:avLst>
              <a:gd name="adj" fmla="val 3333"/>
            </a:avLst>
          </a:prstGeom>
          <a:solidFill>
            <a:srgbClr val="EEF3F7"/>
          </a:solidFill>
          <a:ln w="9525">
            <a:solidFill>
              <a:srgbClr val="EEF3F7"/>
            </a:solidFill>
            <a:prstDash val="solid"/>
          </a:ln>
        </p:spPr>
      </p:sp>
      <p:sp>
        <p:nvSpPr>
          <p:cNvPr id="20" name="c-1-circle"/>
          <p:cNvSpPr/>
          <p:nvPr/>
        </p:nvSpPr>
        <p:spPr>
          <a:xfrm>
            <a:off x="4526280" y="2286000"/>
            <a:ext cx="594360" cy="594360"/>
          </a:xfrm>
          <a:prstGeom prst="ellipse">
            <a:avLst/>
          </a:prstGeom>
          <a:solidFill>
            <a:srgbClr val="E8A33D"/>
          </a:solidFill>
          <a:ln/>
        </p:spPr>
      </p:sp>
      <p:pic>
        <p:nvPicPr>
          <p:cNvPr id="21" name="c-1-icon" descr="preencoded.png"/>
          <p:cNvPicPr>
            <a:picLocks noChangeAspect="1"/>
          </p:cNvPicPr>
          <p:nvPr/>
        </p:nvPicPr>
        <p:blipFill>
          <a:blip r:embed="rId4"/>
          <a:stretch>
            <a:fillRect/>
          </a:stretch>
        </p:blipFill>
        <p:spPr>
          <a:xfrm>
            <a:off x="4657039" y="2416759"/>
            <a:ext cx="332842" cy="332842"/>
          </a:xfrm>
          <a:prstGeom prst="rect">
            <a:avLst/>
          </a:prstGeom>
        </p:spPr>
      </p:pic>
      <p:sp>
        <p:nvSpPr>
          <p:cNvPr id="22" name="c-t1"/>
          <p:cNvSpPr txBox="1"/>
          <p:nvPr/>
        </p:nvSpPr>
        <p:spPr>
          <a:xfrm>
            <a:off x="5257800" y="2286000"/>
            <a:ext cx="2423160" cy="594360"/>
          </a:xfrm>
          <a:prstGeom prst="rect">
            <a:avLst/>
          </a:prstGeom>
          <a:noFill/>
          <a:ln/>
        </p:spPr>
        <p:txBody>
          <a:bodyPr wrap="square" lIns="0" tIns="0" rIns="0" bIns="0" rtlCol="0" anchor="ctr"/>
          <a:lstStyle/>
          <a:p>
            <a:pPr marL="0" indent="0">
              <a:buNone/>
            </a:pPr>
            <a:r>
              <a:rPr lang="en-US" sz="1800" b="1" dirty="0">
                <a:solidFill>
                  <a:schemeClr val="tx2"/>
                </a:solidFill>
              </a:rPr>
              <a:t>Next steps</a:t>
            </a:r>
            <a:endParaRPr lang="en-US" sz="1800" dirty="0"/>
          </a:p>
        </p:txBody>
      </p:sp>
      <p:sp>
        <p:nvSpPr>
          <p:cNvPr id="23" name="c-l1"/>
          <p:cNvSpPr txBox="1"/>
          <p:nvPr/>
        </p:nvSpPr>
        <p:spPr>
          <a:xfrm>
            <a:off x="4526280" y="3063240"/>
            <a:ext cx="3154680" cy="2194560"/>
          </a:xfrm>
          <a:prstGeom prst="rect">
            <a:avLst/>
          </a:prstGeom>
          <a:noFill/>
          <a:ln/>
        </p:spPr>
        <p:txBody>
          <a:bodyPr wrap="square" lIns="0" tIns="0" rIns="0" bIns="0" rtlCol="0" anchor="t"/>
          <a:lstStyle/>
          <a:p>
            <a:pPr marL="342900" indent="-342900">
              <a:spcAft>
                <a:spcPts val="500"/>
              </a:spcAft>
              <a:buSzPct val="100000"/>
              <a:buChar char="•"/>
            </a:pPr>
            <a:r>
              <a:rPr lang="en-US" sz="1300" dirty="0">
                <a:solidFill>
                  <a:schemeClr val="tx1"/>
                </a:solidFill>
              </a:rPr>
              <a:t>LightGBM or cross-encoder reranker</a:t>
            </a:r>
            <a:endParaRPr lang="en-US" sz="1300" dirty="0"/>
          </a:p>
          <a:p>
            <a:pPr marL="342900" indent="-342900">
              <a:spcAft>
                <a:spcPts val="500"/>
              </a:spcAft>
              <a:buSzPct val="100000"/>
              <a:buChar char="•"/>
            </a:pPr>
            <a:r>
              <a:rPr lang="en-US" sz="1300" dirty="0">
                <a:solidFill>
                  <a:schemeClr val="tx1"/>
                </a:solidFill>
              </a:rPr>
              <a:t>Hybrid BM25 + dense retrieval</a:t>
            </a:r>
            <a:endParaRPr lang="en-US" sz="1300" dirty="0"/>
          </a:p>
          <a:p>
            <a:pPr marL="342900" indent="-342900">
              <a:spcAft>
                <a:spcPts val="500"/>
              </a:spcAft>
              <a:buSzPct val="100000"/>
              <a:buChar char="•"/>
            </a:pPr>
            <a:r>
              <a:rPr lang="en-US" sz="1300" dirty="0">
                <a:solidFill>
                  <a:schemeClr val="tx1"/>
                </a:solidFill>
              </a:rPr>
              <a:t>Calibrated abstention threshold</a:t>
            </a:r>
            <a:endParaRPr lang="en-US" sz="1300" dirty="0"/>
          </a:p>
          <a:p>
            <a:pPr marL="342900" indent="-342900">
              <a:spcAft>
                <a:spcPts val="500"/>
              </a:spcAft>
              <a:buSzPct val="100000"/>
              <a:buChar char="•"/>
            </a:pPr>
            <a:r>
              <a:rPr lang="en-US" sz="1300" dirty="0">
                <a:solidFill>
                  <a:schemeClr val="tx1"/>
                </a:solidFill>
              </a:rPr>
              <a:t>Embedding and topic-drift monitoring</a:t>
            </a:r>
            <a:endParaRPr lang="en-US" sz="1300" dirty="0"/>
          </a:p>
          <a:p>
            <a:pPr marL="342900" indent="-342900">
              <a:spcAft>
                <a:spcPts val="500"/>
              </a:spcAft>
              <a:buSzPct val="100000"/>
              <a:buChar char="•"/>
            </a:pPr>
            <a:r>
              <a:rPr lang="en-US" sz="1300" dirty="0">
                <a:solidFill>
                  <a:schemeClr val="tx1"/>
                </a:solidFill>
              </a:rPr>
              <a:t>Ground Truth feedback labels, Amplify web UI, autoscaling</a:t>
            </a:r>
            <a:endParaRPr lang="en-US" sz="1300" dirty="0"/>
          </a:p>
        </p:txBody>
      </p:sp>
      <p:sp>
        <p:nvSpPr>
          <p:cNvPr id="24" name="c-card-2"/>
          <p:cNvSpPr/>
          <p:nvPr/>
        </p:nvSpPr>
        <p:spPr>
          <a:xfrm>
            <a:off x="8046720" y="2103120"/>
            <a:ext cx="3520440" cy="3291840"/>
          </a:xfrm>
          <a:prstGeom prst="roundRect">
            <a:avLst>
              <a:gd name="adj" fmla="val 3333"/>
            </a:avLst>
          </a:prstGeom>
          <a:solidFill>
            <a:srgbClr val="EEF3F7"/>
          </a:solidFill>
          <a:ln w="9525">
            <a:solidFill>
              <a:srgbClr val="EEF3F7"/>
            </a:solidFill>
            <a:prstDash val="solid"/>
          </a:ln>
        </p:spPr>
      </p:sp>
      <p:sp>
        <p:nvSpPr>
          <p:cNvPr id="25" name="c-2-circle"/>
          <p:cNvSpPr/>
          <p:nvPr/>
        </p:nvSpPr>
        <p:spPr>
          <a:xfrm>
            <a:off x="8275320" y="2286000"/>
            <a:ext cx="594360" cy="594360"/>
          </a:xfrm>
          <a:prstGeom prst="ellipse">
            <a:avLst/>
          </a:prstGeom>
          <a:solidFill>
            <a:srgbClr val="627D98"/>
          </a:solidFill>
          <a:ln/>
        </p:spPr>
      </p:sp>
      <p:pic>
        <p:nvPicPr>
          <p:cNvPr id="26" name="c-2-icon" descr="preencoded.png"/>
          <p:cNvPicPr>
            <a:picLocks noChangeAspect="1"/>
          </p:cNvPicPr>
          <p:nvPr/>
        </p:nvPicPr>
        <p:blipFill>
          <a:blip r:embed="rId5"/>
          <a:stretch>
            <a:fillRect/>
          </a:stretch>
        </p:blipFill>
        <p:spPr>
          <a:xfrm>
            <a:off x="8406079" y="2416759"/>
            <a:ext cx="332842" cy="332842"/>
          </a:xfrm>
          <a:prstGeom prst="rect">
            <a:avLst/>
          </a:prstGeom>
        </p:spPr>
      </p:pic>
      <p:sp>
        <p:nvSpPr>
          <p:cNvPr id="27" name="c-t2"/>
          <p:cNvSpPr txBox="1"/>
          <p:nvPr/>
        </p:nvSpPr>
        <p:spPr>
          <a:xfrm>
            <a:off x="9006840" y="2286000"/>
            <a:ext cx="2423160" cy="594360"/>
          </a:xfrm>
          <a:prstGeom prst="rect">
            <a:avLst/>
          </a:prstGeom>
          <a:noFill/>
          <a:ln/>
        </p:spPr>
        <p:txBody>
          <a:bodyPr wrap="square" lIns="0" tIns="0" rIns="0" bIns="0" rtlCol="0" anchor="ctr"/>
          <a:lstStyle/>
          <a:p>
            <a:pPr marL="0" indent="0">
              <a:buNone/>
            </a:pPr>
            <a:r>
              <a:rPr lang="en-US" sz="1800" b="1" dirty="0">
                <a:solidFill>
                  <a:schemeClr val="tx2"/>
                </a:solidFill>
              </a:rPr>
              <a:t>Transferable pattern</a:t>
            </a:r>
            <a:endParaRPr lang="en-US" sz="1800" dirty="0"/>
          </a:p>
        </p:txBody>
      </p:sp>
      <p:sp>
        <p:nvSpPr>
          <p:cNvPr id="28" name="c-l2"/>
          <p:cNvSpPr txBox="1"/>
          <p:nvPr/>
        </p:nvSpPr>
        <p:spPr>
          <a:xfrm>
            <a:off x="8275320" y="3063240"/>
            <a:ext cx="3154680" cy="2194560"/>
          </a:xfrm>
          <a:prstGeom prst="rect">
            <a:avLst/>
          </a:prstGeom>
          <a:noFill/>
          <a:ln/>
        </p:spPr>
        <p:txBody>
          <a:bodyPr wrap="square" lIns="0" tIns="0" rIns="0" bIns="0" rtlCol="0" anchor="t"/>
          <a:lstStyle/>
          <a:p>
            <a:pPr marL="342900" indent="-342900">
              <a:spcAft>
                <a:spcPts val="500"/>
              </a:spcAft>
              <a:buSzPct val="100000"/>
              <a:buChar char="•"/>
            </a:pPr>
            <a:r>
              <a:rPr lang="en-US" sz="1300" dirty="0">
                <a:solidFill>
                  <a:schemeClr val="tx1"/>
                </a:solidFill>
              </a:rPr>
              <a:t>Support-ticket deflection</a:t>
            </a:r>
            <a:endParaRPr lang="en-US" sz="1300" dirty="0"/>
          </a:p>
          <a:p>
            <a:pPr marL="342900" indent="-342900">
              <a:spcAft>
                <a:spcPts val="500"/>
              </a:spcAft>
              <a:buSzPct val="100000"/>
              <a:buChar char="•"/>
            </a:pPr>
            <a:r>
              <a:rPr lang="en-US" sz="1300" dirty="0">
                <a:solidFill>
                  <a:schemeClr val="tx1"/>
                </a:solidFill>
              </a:rPr>
              <a:t>Internal knowledge-base search</a:t>
            </a:r>
            <a:endParaRPr lang="en-US" sz="1300" dirty="0"/>
          </a:p>
          <a:p>
            <a:pPr marL="342900" indent="-342900">
              <a:spcAft>
                <a:spcPts val="500"/>
              </a:spcAft>
              <a:buSzPct val="100000"/>
              <a:buChar char="•"/>
            </a:pPr>
            <a:r>
              <a:rPr lang="en-US" sz="1300" dirty="0">
                <a:solidFill>
                  <a:schemeClr val="tx1"/>
                </a:solidFill>
              </a:rPr>
              <a:t>Regulatory and medical-device documentation Q&amp;A</a:t>
            </a:r>
            <a:endParaRPr lang="en-US" sz="1300" dirty="0"/>
          </a:p>
          <a:p>
            <a:pPr marL="342900" indent="-342900">
              <a:spcAft>
                <a:spcPts val="500"/>
              </a:spcAft>
              <a:buSzPct val="100000"/>
              <a:buChar char="•"/>
            </a:pPr>
            <a:r>
              <a:rPr lang="en-US" sz="1300" dirty="0">
                <a:solidFill>
                  <a:schemeClr val="tx1"/>
                </a:solidFill>
              </a:rPr>
              <a:t>Maintenance-log troubleshooting</a:t>
            </a:r>
            <a:endParaRPr lang="en-US" sz="1300" dirty="0"/>
          </a:p>
        </p:txBody>
      </p:sp>
      <p:sp>
        <p:nvSpPr>
          <p:cNvPr id="29" name="pat-h"/>
          <p:cNvSpPr txBox="1"/>
          <p:nvPr/>
        </p:nvSpPr>
        <p:spPr>
          <a:xfrm>
            <a:off x="548640" y="5623560"/>
            <a:ext cx="2011680" cy="365760"/>
          </a:xfrm>
          <a:prstGeom prst="rect">
            <a:avLst/>
          </a:prstGeom>
          <a:noFill/>
          <a:ln/>
        </p:spPr>
        <p:txBody>
          <a:bodyPr wrap="square" lIns="0" tIns="0" rIns="0" bIns="0" rtlCol="0" anchor="ctr"/>
          <a:lstStyle/>
          <a:p>
            <a:pPr marL="0" indent="0">
              <a:buNone/>
            </a:pPr>
            <a:r>
              <a:rPr lang="en-US" sz="1400" b="1" dirty="0">
                <a:solidFill>
                  <a:schemeClr val="tx2"/>
                </a:solidFill>
              </a:rPr>
              <a:t>The reusable pattern</a:t>
            </a:r>
            <a:endParaRPr lang="en-US" sz="1400" dirty="0"/>
          </a:p>
        </p:txBody>
      </p:sp>
      <p:sp>
        <p:nvSpPr>
          <p:cNvPr id="30" name="pat-0"/>
          <p:cNvSpPr/>
          <p:nvPr/>
        </p:nvSpPr>
        <p:spPr>
          <a:xfrm>
            <a:off x="2606040" y="5623560"/>
            <a:ext cx="1600200" cy="365760"/>
          </a:xfrm>
          <a:prstGeom prst="roundRect">
            <a:avLst>
              <a:gd name="adj" fmla="val 42500"/>
            </a:avLst>
          </a:prstGeom>
          <a:solidFill>
            <a:schemeClr val="bg2"/>
          </a:solidFill>
          <a:ln/>
        </p:spPr>
        <p:txBody>
          <a:bodyPr wrap="square" lIns="0" tIns="0" rIns="0" bIns="0" rtlCol="0" anchor="ctr"/>
          <a:lstStyle/>
          <a:p>
            <a:pPr marL="0" indent="0" algn="ctr">
              <a:buNone/>
            </a:pPr>
            <a:r>
              <a:rPr lang="en-US" sz="1200" dirty="0">
                <a:solidFill>
                  <a:schemeClr val="tx2"/>
                </a:solidFill>
              </a:rPr>
              <a:t>Retrieve</a:t>
            </a:r>
            <a:endParaRPr lang="en-US" sz="1200" dirty="0"/>
          </a:p>
        </p:txBody>
      </p:sp>
      <p:sp>
        <p:nvSpPr>
          <p:cNvPr id="31" name="pat-a0"/>
          <p:cNvSpPr/>
          <p:nvPr/>
        </p:nvSpPr>
        <p:spPr>
          <a:xfrm>
            <a:off x="4224528" y="5806440"/>
            <a:ext cx="192024" cy="0"/>
          </a:xfrm>
          <a:prstGeom prst="line">
            <a:avLst/>
          </a:prstGeom>
          <a:noFill/>
          <a:ln w="19050">
            <a:solidFill>
              <a:srgbClr val="0F7C7A"/>
            </a:solidFill>
            <a:prstDash val="solid"/>
            <a:tailEnd type="triangle"/>
          </a:ln>
        </p:spPr>
      </p:sp>
      <p:sp>
        <p:nvSpPr>
          <p:cNvPr id="32" name="pat-1"/>
          <p:cNvSpPr/>
          <p:nvPr/>
        </p:nvSpPr>
        <p:spPr>
          <a:xfrm>
            <a:off x="4434840" y="5623560"/>
            <a:ext cx="1600200" cy="365760"/>
          </a:xfrm>
          <a:prstGeom prst="roundRect">
            <a:avLst>
              <a:gd name="adj" fmla="val 42500"/>
            </a:avLst>
          </a:prstGeom>
          <a:solidFill>
            <a:schemeClr val="bg2"/>
          </a:solidFill>
          <a:ln/>
        </p:spPr>
        <p:txBody>
          <a:bodyPr wrap="square" lIns="0" tIns="0" rIns="0" bIns="0" rtlCol="0" anchor="ctr"/>
          <a:lstStyle/>
          <a:p>
            <a:pPr marL="0" indent="0" algn="ctr">
              <a:buNone/>
            </a:pPr>
            <a:r>
              <a:rPr lang="en-US" sz="1200" dirty="0">
                <a:solidFill>
                  <a:schemeClr val="tx2"/>
                </a:solidFill>
              </a:rPr>
              <a:t>Rerank</a:t>
            </a:r>
            <a:endParaRPr lang="en-US" sz="1200" dirty="0"/>
          </a:p>
        </p:txBody>
      </p:sp>
      <p:sp>
        <p:nvSpPr>
          <p:cNvPr id="33" name="pat-a1"/>
          <p:cNvSpPr/>
          <p:nvPr/>
        </p:nvSpPr>
        <p:spPr>
          <a:xfrm>
            <a:off x="6053328" y="5806440"/>
            <a:ext cx="192024" cy="0"/>
          </a:xfrm>
          <a:prstGeom prst="line">
            <a:avLst/>
          </a:prstGeom>
          <a:noFill/>
          <a:ln w="19050">
            <a:solidFill>
              <a:srgbClr val="0F7C7A"/>
            </a:solidFill>
            <a:prstDash val="solid"/>
            <a:tailEnd type="triangle"/>
          </a:ln>
        </p:spPr>
      </p:sp>
      <p:sp>
        <p:nvSpPr>
          <p:cNvPr id="34" name="pat-2"/>
          <p:cNvSpPr/>
          <p:nvPr/>
        </p:nvSpPr>
        <p:spPr>
          <a:xfrm>
            <a:off x="6263640" y="5623560"/>
            <a:ext cx="1600200" cy="365760"/>
          </a:xfrm>
          <a:prstGeom prst="roundRect">
            <a:avLst>
              <a:gd name="adj" fmla="val 42500"/>
            </a:avLst>
          </a:prstGeom>
          <a:solidFill>
            <a:schemeClr val="accent1"/>
          </a:solidFill>
          <a:ln/>
        </p:spPr>
        <p:txBody>
          <a:bodyPr wrap="square" lIns="0" tIns="0" rIns="0" bIns="0" rtlCol="0" anchor="ctr"/>
          <a:lstStyle/>
          <a:p>
            <a:pPr marL="0" indent="0" algn="ctr">
              <a:buNone/>
            </a:pPr>
            <a:r>
              <a:rPr lang="en-US" sz="1200" dirty="0">
                <a:solidFill>
                  <a:schemeClr val="bg1"/>
                </a:solidFill>
              </a:rPr>
              <a:t>Answer or abstain</a:t>
            </a:r>
            <a:endParaRPr lang="en-US" sz="1200" dirty="0"/>
          </a:p>
        </p:txBody>
      </p:sp>
      <p:sp>
        <p:nvSpPr>
          <p:cNvPr id="35" name="pat-a2"/>
          <p:cNvSpPr/>
          <p:nvPr/>
        </p:nvSpPr>
        <p:spPr>
          <a:xfrm>
            <a:off x="7882128" y="5806440"/>
            <a:ext cx="192024" cy="0"/>
          </a:xfrm>
          <a:prstGeom prst="line">
            <a:avLst/>
          </a:prstGeom>
          <a:noFill/>
          <a:ln w="19050">
            <a:solidFill>
              <a:srgbClr val="0F7C7A"/>
            </a:solidFill>
            <a:prstDash val="solid"/>
            <a:tailEnd type="triangle"/>
          </a:ln>
        </p:spPr>
      </p:sp>
      <p:sp>
        <p:nvSpPr>
          <p:cNvPr id="36" name="pat-3"/>
          <p:cNvSpPr/>
          <p:nvPr/>
        </p:nvSpPr>
        <p:spPr>
          <a:xfrm>
            <a:off x="8092440" y="5623560"/>
            <a:ext cx="1600200" cy="365760"/>
          </a:xfrm>
          <a:prstGeom prst="roundRect">
            <a:avLst>
              <a:gd name="adj" fmla="val 42500"/>
            </a:avLst>
          </a:prstGeom>
          <a:solidFill>
            <a:schemeClr val="bg2"/>
          </a:solidFill>
          <a:ln/>
        </p:spPr>
        <p:txBody>
          <a:bodyPr wrap="square" lIns="0" tIns="0" rIns="0" bIns="0" rtlCol="0" anchor="ctr"/>
          <a:lstStyle/>
          <a:p>
            <a:pPr marL="0" indent="0" algn="ctr">
              <a:buNone/>
            </a:pPr>
            <a:r>
              <a:rPr lang="en-US" sz="1200" dirty="0">
                <a:solidFill>
                  <a:schemeClr val="tx2"/>
                </a:solidFill>
              </a:rPr>
              <a:t>Versioned receipts</a:t>
            </a:r>
            <a:endParaRPr lang="en-US" sz="1200" dirty="0"/>
          </a:p>
        </p:txBody>
      </p:sp>
      <p:sp>
        <p:nvSpPr>
          <p:cNvPr id="37" name="pat-a3"/>
          <p:cNvSpPr/>
          <p:nvPr/>
        </p:nvSpPr>
        <p:spPr>
          <a:xfrm>
            <a:off x="9710928" y="5806440"/>
            <a:ext cx="192024" cy="0"/>
          </a:xfrm>
          <a:prstGeom prst="line">
            <a:avLst/>
          </a:prstGeom>
          <a:noFill/>
          <a:ln w="19050">
            <a:solidFill>
              <a:srgbClr val="0F7C7A"/>
            </a:solidFill>
            <a:prstDash val="solid"/>
            <a:tailEnd type="triangle"/>
          </a:ln>
        </p:spPr>
      </p:sp>
      <p:sp>
        <p:nvSpPr>
          <p:cNvPr id="38" name="pat-4"/>
          <p:cNvSpPr/>
          <p:nvPr/>
        </p:nvSpPr>
        <p:spPr>
          <a:xfrm>
            <a:off x="9921240" y="5623560"/>
            <a:ext cx="1600200" cy="365760"/>
          </a:xfrm>
          <a:prstGeom prst="roundRect">
            <a:avLst>
              <a:gd name="adj" fmla="val 42500"/>
            </a:avLst>
          </a:prstGeom>
          <a:solidFill>
            <a:schemeClr val="bg2"/>
          </a:solidFill>
          <a:ln/>
        </p:spPr>
        <p:txBody>
          <a:bodyPr wrap="square" lIns="0" tIns="0" rIns="0" bIns="0" rtlCol="0" anchor="ctr"/>
          <a:lstStyle/>
          <a:p>
            <a:pPr marL="0" indent="0" algn="ctr">
              <a:buNone/>
            </a:pPr>
            <a:r>
              <a:rPr lang="en-US" sz="1200" dirty="0">
                <a:solidFill>
                  <a:schemeClr val="tx2"/>
                </a:solidFill>
              </a:rPr>
              <a:t>Gated promotion</a:t>
            </a:r>
            <a:endParaRPr lang="en-US" sz="1200" dirty="0"/>
          </a:p>
        </p:txBody>
      </p:sp>
      <p:sp>
        <p:nvSpPr>
          <p:cNvPr id="13"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r"/>
            <a:fld id="{F7021451-1387-4CA6-816F-3879F97B5CBC}" type="slidenum">
              <a:rPr lang="en-US" b="0"/>
              <a:t>12</a:t>
            </a:fld>
            <a:endParaRPr lang="en-US"/>
          </a:p>
        </p:txBody>
      </p:sp>
    </p:spTree>
  </p:cSld>
  <p:clrMapOvr>
    <a:masterClrMapping/>
  </p:clrMapOvr>
</p:sld>
</file>

<file path=ppt/theme/theme1.xml><?xml version="1.0" encoding="utf-8"?>
<a:theme xmlns:a="http://schemas.openxmlformats.org/drawingml/2006/main" name="Product QA MLOps">
  <a:themeElements>
    <a:clrScheme name="Product QA MLOps">
      <a:dk1>
        <a:srgbClr val="1B2430"/>
      </a:dk1>
      <a:lt1>
        <a:srgbClr val="FFFFFF"/>
      </a:lt1>
      <a:dk2>
        <a:srgbClr val="102A43"/>
      </a:dk2>
      <a:lt2>
        <a:srgbClr val="EEF3F7"/>
      </a:lt2>
      <a:accent1>
        <a:srgbClr val="0F7C7A"/>
      </a:accent1>
      <a:accent2>
        <a:srgbClr val="E8A33D"/>
      </a:accent2>
      <a:accent3>
        <a:srgbClr val="C8553D"/>
      </a:accent3>
      <a:accent4>
        <a:srgbClr val="627D98"/>
      </a:accent4>
      <a:accent5>
        <a:srgbClr val="BFE3E0"/>
      </a:accent5>
      <a:accent6>
        <a:srgbClr val="FBE8C8"/>
      </a:accent6>
      <a:hlink>
        <a:srgbClr val="0F7C7A"/>
      </a:hlink>
      <a:folHlink>
        <a:srgbClr val="627D98"/>
      </a:folHlink>
    </a:clrScheme>
    <a:fontScheme name="Product QA MLOps">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12</TotalTime>
  <Words>3633</Words>
  <Application>Microsoft Office PowerPoint</Application>
  <PresentationFormat>Widescreen</PresentationFormat>
  <Paragraphs>428</Paragraphs>
  <Slides>12</Slides>
  <Notes>12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12</vt:i4>
      </vt:variant>
    </vt:vector>
  </HeadingPairs>
  <TitlesOfParts>
    <vt:vector size="17" baseType="lpstr">
      <vt:lpstr>Arial</vt:lpstr>
      <vt:lpstr>Calibri</vt:lpstr>
      <vt:lpstr>Cambria</vt:lpstr>
      <vt:lpstr>Courier New</vt:lpstr>
      <vt:lpstr>Product QA MLOps</vt:lpstr>
      <vt:lpstr>PowerPoint Presentation</vt:lpstr>
      <vt:lpstr>Problem: shoppers need fast, trustworthy product answers</vt:lpstr>
      <vt:lpstr>End-to-end flow: from raw data to grounded answers</vt:lpstr>
      <vt:lpstr>Data collection: ePQA into a versioned S3 data lake</vt:lpstr>
      <vt:lpstr>Feature engineering: cheap, leakage-safe ranking signals</vt:lpstr>
      <vt:lpstr>Feature Store and splits: reusable features, no leakage</vt:lpstr>
      <vt:lpstr>Model development: a benchmark and a ranker on SageMaker</vt:lpstr>
      <vt:lpstr>Evaluation: the ranker beats the benchmark on every metric</vt:lpstr>
      <vt:lpstr>Monitoring and CI/CD: drift checks, gated retraining</vt:lpstr>
      <vt:lpstr>Deployment: batch-first, governed, torn down after tests</vt:lpstr>
      <vt:lpstr>RAG inference: retrieve, rerank, then answer or abstain</vt:lpstr>
      <vt:lpstr>Learnings, next steps and a transferable pattern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Retrieval-Augmented Product QA on AWS SageMaker</dc:title>
  <dc:subject>PptxGenJS Presentation</dc:subject>
  <dc:creator>AAI-540 Group 8</dc:creator>
  <cp:lastModifiedBy>Raminder Singh</cp:lastModifiedBy>
  <cp:revision>3</cp:revision>
  <dcterms:created xsi:type="dcterms:W3CDTF">2026-10-18T10:58:53Z</dcterms:created>
  <dcterms:modified xsi:type="dcterms:W3CDTF">2026-10-18T11:43:48Z</dcterms:modified>
</cp:coreProperties>
</file>